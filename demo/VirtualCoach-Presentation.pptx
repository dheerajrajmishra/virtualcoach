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16952" y="3200400"/>
            <a:ext cx="6400800" cy="640080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22876" y="59436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4F46E5">
              <a:alpha val="18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22876" y="594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00000"/>
                </a:solidFill>
              </a:rPr>
              <a:t>● LIVE PLATFORM DEMO · MAY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894076" y="10058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800" b="1" spc="-200" kern="0" dirty="0">
                <a:solidFill>
                  <a:srgbClr val="FFFFFF"/>
                </a:solidFill>
              </a:rPr>
              <a:t>Virtual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6140196" y="10058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spc="-200" kern="0" dirty="0">
                <a:solidFill>
                  <a:srgbClr val="818CF8"/>
                </a:solidFill>
                <a:effectLst>
                  <a:glow rad="152400">
                    <a:srgbClr val="6366F1">
                      <a:alpha val="40000"/>
                    </a:srgbClr>
                  </a:glow>
                </a:effectLst>
              </a:rPr>
              <a:t>Coach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2286000" y="237744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AI-powered multilingual sales training — from PowerPoint upload to scored quiz, in minutes.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3063240"/>
            <a:ext cx="155448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1363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</a:rPr>
              <a:t>12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3538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Trainings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3063240"/>
            <a:ext cx="155448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1363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65%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89120" y="3538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Avg Score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3063240"/>
            <a:ext cx="155448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1363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</a:rPr>
              <a:t>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3538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Languages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3063240"/>
            <a:ext cx="155448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1363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847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046720" y="3538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Learners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416052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16052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🖥️  CMS Portal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99232" y="416052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9232" y="416052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📱  Mobile App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75504" y="416052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416052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🧠  GPT-4o Eval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51776" y="416052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51776" y="416052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💬  RAG Chatbot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28048" y="416052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28048" y="416052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🌐  6 Languages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64465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Samsung GenAI Lab  ·  genailab.gem3@samsung.com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16952" y="3200400"/>
            <a:ext cx="6400800" cy="640080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016252" cy="256032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0162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00000"/>
                </a:solidFill>
              </a:rPr>
              <a:t>SYSTEM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594360"/>
            <a:ext cx="9994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</a:rPr>
              <a:t>Two apps. One shared AI brain.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Content managers build on the CMS. Learners engage on mobile. Both share the same SQL Server database.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566160" cy="4480560"/>
          </a:xfrm>
          <a:prstGeom prst="roundRect">
            <a:avLst>
              <a:gd name="adj" fmla="val 5128"/>
            </a:avLst>
          </a:prstGeom>
          <a:solidFill>
            <a:srgbClr val="4338CA">
              <a:alpha val="12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28800"/>
            <a:ext cx="3566160" cy="347472"/>
          </a:xfrm>
          <a:prstGeom prst="rect">
            <a:avLst/>
          </a:prstGeom>
          <a:solidFill>
            <a:srgbClr val="4F46E5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" y="184708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🖥️  CMS Portal  ·  :3000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" y="2286000"/>
            <a:ext cx="33101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85216" y="2414016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Upload PPTX + Excel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" y="2761488"/>
            <a:ext cx="33101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85216" y="2889504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614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Ingestion Pipeline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" y="3236976"/>
            <a:ext cx="33101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" y="3364992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3697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Training &amp; Assignment Mgmt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" y="3712464"/>
            <a:ext cx="33101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85216" y="384048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1246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Dashboard Analytics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" y="4187952"/>
            <a:ext cx="33101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85216" y="4315968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879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Missed FAQ Review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" y="6035040"/>
            <a:ext cx="3346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Spring Boot :8080  ·  Next.js :3000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98848" y="1828800"/>
            <a:ext cx="3108960" cy="4480560"/>
          </a:xfrm>
          <a:prstGeom prst="roundRect">
            <a:avLst>
              <a:gd name="adj" fmla="val 5882"/>
            </a:avLst>
          </a:prstGeom>
          <a:solidFill>
            <a:srgbClr val="5B21B6">
              <a:alpha val="12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98848" y="1828800"/>
            <a:ext cx="3108960" cy="347472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26864" y="184708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⚡  AI Services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26864" y="2286000"/>
            <a:ext cx="28529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18304" y="241401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GPT-4o (Eval + RAG)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26864" y="2761488"/>
            <a:ext cx="28529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18304" y="288950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27614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Embeddings 3-small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26864" y="3236976"/>
            <a:ext cx="28529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18304" y="336499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323697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TTS Audio Engine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26864" y="3712464"/>
            <a:ext cx="28529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18304" y="384048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864608" y="371246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Azure STT Transcription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08576" y="6035040"/>
            <a:ext cx="2889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Azure OpenAI  ·  GCS  ·  ElevenLabs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772400" y="1828800"/>
            <a:ext cx="3566160" cy="4480560"/>
          </a:xfrm>
          <a:prstGeom prst="roundRect">
            <a:avLst>
              <a:gd name="adj" fmla="val 5128"/>
            </a:avLst>
          </a:prstGeom>
          <a:solidFill>
            <a:srgbClr val="0C4A6E">
              <a:alpha val="12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2400" y="1828800"/>
            <a:ext cx="3566160" cy="347472"/>
          </a:xfrm>
          <a:prstGeom prst="rect">
            <a:avLst/>
          </a:prstGeom>
          <a:solidFill>
            <a:srgbClr val="0EA5E9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900416" y="184708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</a:rPr>
              <a:t>📱  Mobile App  ·  :8083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900416" y="2286000"/>
            <a:ext cx="33101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991856" y="2414016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8" name="Text 46"/>
          <p:cNvSpPr/>
          <p:nvPr/>
        </p:nvSpPr>
        <p:spPr>
          <a:xfrm>
            <a:off x="813816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Slide Player + Audio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900416" y="2761488"/>
            <a:ext cx="33101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991856" y="2889504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1" name="Text 49"/>
          <p:cNvSpPr/>
          <p:nvPr/>
        </p:nvSpPr>
        <p:spPr>
          <a:xfrm>
            <a:off x="8138160" y="27614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AI Quiz (text + voice)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900416" y="3236976"/>
            <a:ext cx="33101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991856" y="3364992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4" name="Text 52"/>
          <p:cNvSpPr/>
          <p:nvPr/>
        </p:nvSpPr>
        <p:spPr>
          <a:xfrm>
            <a:off x="8138160" y="323697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FAQ Chatbot (RAG)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900416" y="3712464"/>
            <a:ext cx="33101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991856" y="384048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7" name="Text 55"/>
          <p:cNvSpPr/>
          <p:nvPr/>
        </p:nvSpPr>
        <p:spPr>
          <a:xfrm>
            <a:off x="8138160" y="371246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Progress Tracking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900416" y="4187952"/>
            <a:ext cx="331012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991856" y="4315968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0" name="Text 58"/>
          <p:cNvSpPr/>
          <p:nvPr/>
        </p:nvSpPr>
        <p:spPr>
          <a:xfrm>
            <a:off x="8138160" y="41879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6 Language Switcher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882128" y="6035040"/>
            <a:ext cx="3346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Spring Boot :8081  ·  Expo RN :8083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977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⇄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72694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⇄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08176" cy="256032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00000"/>
                </a:solidFill>
              </a:rPr>
              <a:t>CMS · STEP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0F172A"/>
                </a:solidFill>
              </a:rPr>
              <a:t>Upload &amp; Configure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Drop a PowerPoint deck and an Excel data sheet. Select languages, then launch the ingestion pipeline with a single click.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2029968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2996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📊  PPTX → slides auto-extracted via Apache POI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📋  Excel → FAQ rows + quiz questions parsed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99232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🌐  6 locales: EN / HI / TA / TE / MR / BN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483864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83864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🚀  One click starts the full ingestion 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58384" y="27432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18288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82880"/>
            <a:ext cx="649224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344668" y="2651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0388" y="2651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5436108" y="2651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Shape 18"/>
          <p:cNvSpPr/>
          <p:nvPr/>
        </p:nvSpPr>
        <p:spPr>
          <a:xfrm>
            <a:off x="5852160" y="237744"/>
            <a:ext cx="5806440" cy="18288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5897880" y="246888"/>
            <a:ext cx="5715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localhost:3000/upload-training</a:t>
            </a:r>
            <a:endParaRPr lang="en-US" sz="7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475488"/>
            <a:ext cx="6492240" cy="409011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450592" cy="256032"/>
          </a:xfrm>
          <a:prstGeom prst="roundRect">
            <a:avLst>
              <a:gd name="adj" fmla="val 50000"/>
            </a:avLst>
          </a:prstGeom>
          <a:solidFill>
            <a:srgbClr val="A1620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F59E0B"/>
                </a:solidFill>
              </a:rPr>
              <a:t>CMS · INGESTION PIPELINE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0F172A"/>
                </a:solidFill>
              </a:rPr>
              <a:t>Real-time Processing Monitor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Watch each training move through the AI synthesis pipeline. Five stages: Ingesting → Parsing → Translating → Voice Gen → Live.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2029968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2996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📥  Ingesting — slides parsed from PPTX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🔤  Parsing — FAQ + quiz rows extracted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99232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🌐  Translating — content localised per language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483864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83864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🎵  Voice Gen — TTS audio per locale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968496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68496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✅  Live — training published &amp; assigned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58384" y="27432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18288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82880"/>
            <a:ext cx="649224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4668" y="2651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0388" y="2651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36108" y="2651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237744"/>
            <a:ext cx="5806440" cy="18288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246888"/>
            <a:ext cx="5715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localhost:3000/processing</a:t>
            </a:r>
            <a:endParaRPr lang="en-US" sz="7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475488"/>
            <a:ext cx="6492240" cy="409011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189988" cy="256032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21899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00000"/>
                </a:solidFill>
              </a:rPr>
              <a:t>CMS · CONTENT LIBRARY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0F172A"/>
                </a:solidFill>
              </a:rPr>
              <a:t>Trainings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Full inventory of training modules with status, locale badges, learner progress counts, and quick-action buttons.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2029968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2996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🟢  PUBLISHED — live and assignable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🔴  ERROR — pipeline failed, one-click re-run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99232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🟡  READY — processed, not yet published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483864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83864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🌐  Locale flags show which languages are live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968496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68496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👤  Assign User button inline per training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58384" y="27432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18288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82880"/>
            <a:ext cx="649224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4668" y="2651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0388" y="2651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36108" y="2651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237744"/>
            <a:ext cx="5806440" cy="18288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246888"/>
            <a:ext cx="5715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localhost:3000/trainings</a:t>
            </a:r>
            <a:endParaRPr lang="en-US" sz="7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475488"/>
            <a:ext cx="6492240" cy="409011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450592" cy="256032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00000"/>
                </a:solidFill>
              </a:rPr>
              <a:t>CMS · DASHBOARD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0F172A"/>
                </a:solidFill>
              </a:rPr>
              <a:t>Platform Health at a Glance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12 trainings · 5 published · Learner queries · Actionable insights — all on one overview screen.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2029968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2996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📊  12 total trainings, 5 published &amp; live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👥  5 assignments tracked with 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99232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❓  5 total FAQ gaps, 5 unreviewed queries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483864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83864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⚠️  Actionable insights — 3 failed modules flagged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968496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68496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📅  Recent activity feed at bottom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58384" y="27432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18288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82880"/>
            <a:ext cx="649224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4668" y="2651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0388" y="2651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36108" y="2651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237744"/>
            <a:ext cx="5806440" cy="18288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246888"/>
            <a:ext cx="5715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localhost:3000/dashboard</a:t>
            </a:r>
            <a:endParaRPr lang="en-US" sz="7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475488"/>
            <a:ext cx="6492240" cy="409011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711196" cy="256032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27111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00000"/>
                </a:solidFill>
              </a:rPr>
              <a:t>CMS · DASHBOARD → TRAININGS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0F172A"/>
                </a:solidFill>
              </a:rPr>
              <a:t>All Trainings in One Table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Filter by READY / PROCESSING / ERROR / DRAFT. See locale availability, publish date, and status at a glance.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2029968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2996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🟢  READY rows are live on the mobile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🔴  ERROR rows show the failure reason inline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99232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🌐  EN / HI / BN locale chips per training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483864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83864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📅  Published and created dates tracked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968496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68496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🔢  Slide count per training visible at a glance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58384" y="27432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18288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82880"/>
            <a:ext cx="649224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4668" y="2651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0388" y="2651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36108" y="2651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237744"/>
            <a:ext cx="5806440" cy="18288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246888"/>
            <a:ext cx="5715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localhost:3000/dashboard → Trainings</a:t>
            </a:r>
            <a:endParaRPr lang="en-US" sz="7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475488"/>
            <a:ext cx="6492240" cy="409011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884932" cy="256032"/>
          </a:xfrm>
          <a:prstGeom prst="roundRect">
            <a:avLst>
              <a:gd name="adj" fmla="val 50000"/>
            </a:avLst>
          </a:prstGeom>
          <a:solidFill>
            <a:srgbClr val="991B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28849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FCA5A5"/>
                </a:solidFill>
              </a:rPr>
              <a:t>CMS · DASHBOARD → MISSED FAQS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0F172A"/>
                </a:solidFill>
              </a:rPr>
              <a:t>Closed Feedback Loop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Every question the AI couldn't answer is logged here. Review, then add to Excel to enrich future training content.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2029968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2996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❓  Most-asked gaps surfaced at the top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🌐  Questions shown in original locale (HI, EN…)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99232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📌  Slide number + training linked per question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483864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83864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✅  Mark Reviewed to clear the admin queue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58384" y="27432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18288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82880"/>
            <a:ext cx="649224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344668" y="2651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0388" y="2651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5436108" y="2651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Shape 18"/>
          <p:cNvSpPr/>
          <p:nvPr/>
        </p:nvSpPr>
        <p:spPr>
          <a:xfrm>
            <a:off x="5852160" y="237744"/>
            <a:ext cx="5806440" cy="18288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5897880" y="246888"/>
            <a:ext cx="5715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localhost:3000/dashboard → Missed FAQs</a:t>
            </a:r>
            <a:endParaRPr lang="en-US" sz="7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475488"/>
            <a:ext cx="6492240" cy="409011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971800" cy="256032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6EE7B7"/>
                </a:solidFill>
              </a:rPr>
              <a:t>CMS · DASHBOARD → QUIZ ANSWERS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0F172A"/>
                </a:solidFill>
              </a:rPr>
              <a:t>AI-Scored Quiz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4 submissions · 65% avg score · GPT-4o evaluates free-text answers against a rubric. Pass / Excellent thresholds enforced.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2029968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2996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📊  Score bars per training module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🏅  Pass / Excellent / Below 60% thresholds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99232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👤  Per-learner score table with evaluation 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483864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83864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🤖  Evaluated by GPT-4o, not manual grading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968496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68496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🔢  8/10 scores with 80% pass rate shown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58384" y="27432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18288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82880"/>
            <a:ext cx="649224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4668" y="2651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0388" y="2651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36108" y="2651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237744"/>
            <a:ext cx="5806440" cy="18288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246888"/>
            <a:ext cx="5715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localhost:3000/dashboard → Quiz Answers</a:t>
            </a:r>
            <a:endParaRPr lang="en-US" sz="7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475488"/>
            <a:ext cx="6492240" cy="409011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42516" cy="256032"/>
          </a:xfrm>
          <a:prstGeom prst="roundRect">
            <a:avLst>
              <a:gd name="adj" fmla="val 50000"/>
            </a:avLst>
          </a:prstGeom>
          <a:solidFill>
            <a:srgbClr val="0C4A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1842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7DD3FC"/>
                </a:solidFill>
              </a:rPr>
              <a:t>CMS · ASSIGNMENTS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0F172A"/>
                </a:solidFill>
              </a:rPr>
              <a:t>Assign &amp; Track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Allocate any training to any learner with a deadline. Track status across the entire cohort from a single screen.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2029968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2996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👥  5 total assigned, sorted by deadline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📅  Due dates with urgency countdown shown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99232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🔍  Filter by product, status, or learner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483864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83864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⚡  New Assignment modal — one click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968496"/>
            <a:ext cx="46634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68496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📊  Completion rate tracked at top of page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58384" y="27432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182880"/>
            <a:ext cx="6492240" cy="4382719"/>
          </a:xfrm>
          <a:prstGeom prst="roundRect">
            <a:avLst>
              <a:gd name="adj" fmla="val 313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82880"/>
            <a:ext cx="649224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4668" y="2651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0388" y="2651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36108" y="2651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237744"/>
            <a:ext cx="5806440" cy="18288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246888"/>
            <a:ext cx="5715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localhost:3000/assignments</a:t>
            </a:r>
            <a:endParaRPr lang="en-US" sz="7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475488"/>
            <a:ext cx="6492240" cy="409011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16952" y="3200400"/>
            <a:ext cx="6400800" cy="640080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537460" cy="256032"/>
          </a:xfrm>
          <a:prstGeom prst="roundRect">
            <a:avLst>
              <a:gd name="adj" fmla="val 50000"/>
            </a:avLst>
          </a:prstGeom>
          <a:solidFill>
            <a:srgbClr val="0C4A6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5374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EA5E9"/>
                </a:solidFill>
              </a:rPr>
              <a:t>MOBILE APP · LEARNER HOME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FFFFFF"/>
                </a:solidFill>
              </a:rPr>
              <a:t>Personalised Training Feed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Smart-sorted assignments — In Progress first, then by deadline.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3/4 completed · 75% overall done.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47088"/>
            <a:ext cx="2286000" cy="5193792"/>
          </a:xfrm>
          <a:prstGeom prst="roundRect">
            <a:avLst>
              <a:gd name="adj" fmla="val 20000"/>
            </a:avLst>
          </a:prstGeom>
          <a:solidFill>
            <a:srgbClr val="000000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2286000" cy="5193792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865376"/>
            <a:ext cx="2157984" cy="466124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371600" y="1783080"/>
            <a:ext cx="457200" cy="82296"/>
          </a:xfrm>
          <a:prstGeom prst="roundRect">
            <a:avLst>
              <a:gd name="adj" fmla="val 55556"/>
            </a:avLst>
          </a:prstGeom>
          <a:solidFill>
            <a:srgbClr val="0F172A"/>
          </a:solidFill>
          <a:ln/>
        </p:spPr>
      </p:sp>
      <p:sp>
        <p:nvSpPr>
          <p:cNvPr id="12" name="Shape 9"/>
          <p:cNvSpPr/>
          <p:nvPr/>
        </p:nvSpPr>
        <p:spPr>
          <a:xfrm>
            <a:off x="3017520" y="1737360"/>
            <a:ext cx="402336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17520" y="1737360"/>
            <a:ext cx="36576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1"/>
          <p:cNvSpPr/>
          <p:nvPr/>
        </p:nvSpPr>
        <p:spPr>
          <a:xfrm>
            <a:off x="3127248" y="18013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Smart Sorting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127248" y="20116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</a:rPr>
              <a:t>In Progress → nearest deadline → Not Started → Completed. Urgent items always surface first.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017520" y="2743200"/>
            <a:ext cx="402336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017520" y="2743200"/>
            <a:ext cx="36576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5"/>
          <p:cNvSpPr/>
          <p:nvPr/>
        </p:nvSpPr>
        <p:spPr>
          <a:xfrm>
            <a:off x="3127248" y="28072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Resume in One Tap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127248" y="30175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</a:rPr>
              <a:t>Backend persists slide index. Learner resumes exactly where they left off across sessions.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017520" y="3749040"/>
            <a:ext cx="402336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17520" y="3749040"/>
            <a:ext cx="36576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3127248" y="3813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Tab Filters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127248" y="40233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</a:rPr>
              <a:t>All (4) · Not Started · In Progress (1) · Completed (3). Instant filter without reload.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017520" y="4754880"/>
            <a:ext cx="402336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017520" y="4754880"/>
            <a:ext cx="36576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3127248" y="48188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Multi-locale Chips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127248" y="50292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</a:rPr>
              <a:t>EN · HI · BN locale availability shown per card. Switch language inside the player.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16952" y="3200400"/>
            <a:ext cx="6400800" cy="640080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711196" cy="256032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7111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6EE7B7"/>
                </a:solidFill>
              </a:rPr>
              <a:t>MOBILE APP · TRAINING CARDS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FFFFF"/>
                </a:solidFill>
              </a:rPr>
              <a:t>Completion &amp; Progress Tracking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Real-time progress synced from backend — survives app restarts and device switches.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47088"/>
            <a:ext cx="2286000" cy="5193792"/>
          </a:xfrm>
          <a:prstGeom prst="roundRect">
            <a:avLst>
              <a:gd name="adj" fmla="val 20000"/>
            </a:avLst>
          </a:prstGeom>
          <a:solidFill>
            <a:srgbClr val="000000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2286000" cy="5193792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865376"/>
            <a:ext cx="2157984" cy="466124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371600" y="1783080"/>
            <a:ext cx="457200" cy="82296"/>
          </a:xfrm>
          <a:prstGeom prst="roundRect">
            <a:avLst>
              <a:gd name="adj" fmla="val 55556"/>
            </a:avLst>
          </a:prstGeom>
          <a:solidFill>
            <a:srgbClr val="0F172A"/>
          </a:solidFill>
          <a:ln/>
        </p:spPr>
      </p:sp>
      <p:sp>
        <p:nvSpPr>
          <p:cNvPr id="12" name="Shape 9"/>
          <p:cNvSpPr/>
          <p:nvPr/>
        </p:nvSpPr>
        <p:spPr>
          <a:xfrm>
            <a:off x="3017520" y="1737360"/>
            <a:ext cx="402336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17520" y="1737360"/>
            <a:ext cx="36576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3127248" y="18013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 Progress — Helpdesk Training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127248" y="20116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</a:rPr>
              <a:t>17% · Slide 1 of 6 · Due in 3 days. Resume button takes learner straight to current slide.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017520" y="2743200"/>
            <a:ext cx="402336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017520" y="2743200"/>
            <a:ext cx="36576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3127248" y="28072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Completed — Product Launch TV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127248" y="30175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</a:rPr>
              <a:t>100% · All 6 slides done · Completed May 13, 2026. Review mode available.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017520" y="3749040"/>
            <a:ext cx="402336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17520" y="3749040"/>
            <a:ext cx="36576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3127248" y="3813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Completed — Product Launch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127248" y="40233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</a:rPr>
              <a:t>100% · All 6 slides done · EN · HI · BN locales available.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017520" y="4754880"/>
            <a:ext cx="402336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017520" y="4754880"/>
            <a:ext cx="36576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3"/>
          <p:cNvSpPr/>
          <p:nvPr/>
        </p:nvSpPr>
        <p:spPr>
          <a:xfrm>
            <a:off x="3127248" y="48188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Progress Persistence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127248" y="50292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</a:rPr>
              <a:t>Progress ID = userId + "_" + trainingId. Stored in SQL Server via mobile backend.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16952" y="3200400"/>
            <a:ext cx="6400800" cy="640080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189988" cy="256032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1899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00000"/>
                </a:solidFill>
              </a:rPr>
              <a:t>PLATFORM CAPABILITIES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54864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</a:rPr>
              <a:t>Everything in one platform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611880" cy="1920240"/>
          </a:xfrm>
          <a:prstGeom prst="roundRect">
            <a:avLst>
              <a:gd name="adj" fmla="val 9524"/>
            </a:avLst>
          </a:prstGeom>
          <a:solidFill>
            <a:srgbClr val="1E293B">
              <a:alpha val="12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600200"/>
            <a:ext cx="566928" cy="566928"/>
          </a:xfrm>
          <a:prstGeom prst="ellipse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163677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Content Ingestion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" y="2057400"/>
            <a:ext cx="32826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PPTX + Excel → slides, FAQs, quizzes. Fully automated. Apache POI extraction, parallel embedding.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70248" y="1417320"/>
            <a:ext cx="3611880" cy="1920240"/>
          </a:xfrm>
          <a:prstGeom prst="roundRect">
            <a:avLst>
              <a:gd name="adj" fmla="val 9524"/>
            </a:avLst>
          </a:prstGeom>
          <a:solidFill>
            <a:srgbClr val="1E293B">
              <a:alpha val="12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600200"/>
            <a:ext cx="566928" cy="566928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🎵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93208" y="163677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Multilingual Audio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34840" y="2057400"/>
            <a:ext cx="32826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6 languages auto-generated: EN, HI, TA, TE, MR, BN. Distinct AI voice per locale. Zero manual recording.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29016" y="1417320"/>
            <a:ext cx="3611880" cy="1920240"/>
          </a:xfrm>
          <a:prstGeom prst="roundRect">
            <a:avLst>
              <a:gd name="adj" fmla="val 9524"/>
            </a:avLst>
          </a:prstGeom>
          <a:solidFill>
            <a:srgbClr val="1E293B">
              <a:alpha val="12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3608" y="1600200"/>
            <a:ext cx="566928" cy="566928"/>
          </a:xfrm>
          <a:prstGeom prst="ellipse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93608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51976" y="163677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 Quiz Evaluation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93608" y="2057400"/>
            <a:ext cx="32826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GPT-4o scores free-text and voice answers against rubrics. Pass/Excellent thresholds. Per-learner feedback.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611880"/>
            <a:ext cx="3611880" cy="1920240"/>
          </a:xfrm>
          <a:prstGeom prst="roundRect">
            <a:avLst>
              <a:gd name="adj" fmla="val 9524"/>
            </a:avLst>
          </a:prstGeom>
          <a:solidFill>
            <a:srgbClr val="1E293B">
              <a:alpha val="12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" y="3794760"/>
            <a:ext cx="566928" cy="566928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3794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34440" y="383133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RAG FAQ Chatbot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6072" y="4251960"/>
            <a:ext cx="32826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Cosine similarity search over embedded FAQs. GPT-4o grounded answers. Unanswered questions logged.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70248" y="3611880"/>
            <a:ext cx="3611880" cy="1920240"/>
          </a:xfrm>
          <a:prstGeom prst="roundRect">
            <a:avLst>
              <a:gd name="adj" fmla="val 9524"/>
            </a:avLst>
          </a:prstGeom>
          <a:solidFill>
            <a:srgbClr val="1E293B">
              <a:alpha val="12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3794760"/>
            <a:ext cx="566928" cy="566928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434840" y="3794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093208" y="383133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Admin Analytics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434840" y="4251960"/>
            <a:ext cx="32826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Score distributions, completion rates, missed FAQ queue, assignment tracking — all in the CMS dashboard.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29016" y="3611880"/>
            <a:ext cx="3611880" cy="1920240"/>
          </a:xfrm>
          <a:prstGeom prst="roundRect">
            <a:avLst>
              <a:gd name="adj" fmla="val 9524"/>
            </a:avLst>
          </a:prstGeom>
          <a:solidFill>
            <a:srgbClr val="1E293B">
              <a:alpha val="12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93608" y="3794760"/>
            <a:ext cx="566928" cy="566928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93608" y="3794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951976" y="383133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Mobile Experience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93608" y="4251960"/>
            <a:ext cx="32826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Expo React Native. Slide player, audio switcher, AI chat, quiz modal. Progress persists across sessions.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16952" y="3200400"/>
            <a:ext cx="6400800" cy="640080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51276" y="914400"/>
            <a:ext cx="5486400" cy="5486400"/>
          </a:xfrm>
          <a:prstGeom prst="ellipse">
            <a:avLst/>
          </a:prstGeom>
          <a:solidFill>
            <a:srgbClr val="4F46E5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40080"/>
            <a:ext cx="10360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18CF8"/>
                </a:solidFill>
              </a:rPr>
              <a:t>VirtualCoach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spc="-150" kern="0" dirty="0">
                <a:solidFill>
                  <a:srgbClr val="FFFFFF"/>
                </a:solidFill>
              </a:rPr>
              <a:t>Train smarter.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spc="-150" kern="0" dirty="0">
                <a:solidFill>
                  <a:srgbClr val="818CF8"/>
                </a:solidFill>
              </a:rPr>
              <a:t>Sell better.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2286000" y="2834640"/>
            <a:ext cx="7616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Full-stack AI training platform — from PowerPoint upload to multilingual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interactive learning with measurable, AI-scored outcomes.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3749040"/>
            <a:ext cx="2788920" cy="347472"/>
          </a:xfrm>
          <a:prstGeom prst="roundRect">
            <a:avLst>
              <a:gd name="adj" fmla="val 3157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74904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📧  genailab.gem3@samsung.com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3749040"/>
            <a:ext cx="2788920" cy="347472"/>
          </a:xfrm>
          <a:prstGeom prst="roundRect">
            <a:avLst>
              <a:gd name="adj" fmla="val 3157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374904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🖥️  CMS: localhost:3000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0" y="3749040"/>
            <a:ext cx="2788920" cy="347472"/>
          </a:xfrm>
          <a:prstGeom prst="roundRect">
            <a:avLst>
              <a:gd name="adj" fmla="val 3157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374904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📱  Mobile: localhost:8083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691640" cy="256032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434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Spring Boot 3.3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14600" y="4343400"/>
            <a:ext cx="1691640" cy="256032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43434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Next.js 16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89120" y="4343400"/>
            <a:ext cx="1691640" cy="256032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43434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React Native Expo 54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4343400"/>
            <a:ext cx="1691640" cy="256032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43434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Azure GPT-4o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138160" y="4343400"/>
            <a:ext cx="1691640" cy="256032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43434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SQL Server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012680" y="4343400"/>
            <a:ext cx="1691640" cy="256032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12680" y="43434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RAG + Embeddings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83112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Samsung GenAI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VirtualCoach — AI-Powered Sales Training Platform</dc:title>
  <dc:subject>VirtualCoach Platform Presentation</dc:subject>
  <dc:creator>VirtualCoach</dc:creator>
  <cp:lastModifiedBy>VirtualCoach</cp:lastModifiedBy>
  <cp:revision>1</cp:revision>
  <dcterms:created xsi:type="dcterms:W3CDTF">2026-05-13T10:42:53Z</dcterms:created>
  <dcterms:modified xsi:type="dcterms:W3CDTF">2026-05-13T10:42:53Z</dcterms:modified>
</cp:coreProperties>
</file>