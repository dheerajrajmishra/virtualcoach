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5143500"/>
          </a:xfrm>
          <a:prstGeom prst="rect">
            <a:avLst/>
          </a:prstGeom>
          <a:solidFill>
            <a:srgbClr val="1428A0"/>
          </a:solidFill>
          <a:ln w="12700">
            <a:solidFill>
              <a:srgbClr val="1428A0"/>
            </a:solidFill>
            <a:prstDash val="solid"/>
          </a:ln>
        </p:spPr>
      </p:sp>
      <p:sp>
        <p:nvSpPr>
          <p:cNvPr id="3" name="Shape 1"/>
          <p:cNvSpPr/>
          <p:nvPr/>
        </p:nvSpPr>
        <p:spPr>
          <a:xfrm>
            <a:off x="3611880" y="0"/>
            <a:ext cx="54864" cy="5143500"/>
          </a:xfrm>
          <a:prstGeom prst="rect">
            <a:avLst/>
          </a:prstGeom>
          <a:solidFill>
            <a:srgbClr val="0078D4"/>
          </a:solidFill>
          <a:ln w="12700">
            <a:solidFill>
              <a:srgbClr val="0078D4"/>
            </a:solidFill>
            <a:prstDash val="solid"/>
          </a:ln>
        </p:spPr>
      </p:sp>
      <p:sp>
        <p:nvSpPr>
          <p:cNvPr id="4" name="Text 2"/>
          <p:cNvSpPr/>
          <p:nvPr/>
        </p:nvSpPr>
        <p:spPr>
          <a:xfrm>
            <a:off x="411480" y="411480"/>
            <a:ext cx="2834640" cy="320040"/>
          </a:xfrm>
          <a:prstGeom prst="rect">
            <a:avLst/>
          </a:prstGeom>
          <a:noFill/>
          <a:ln/>
        </p:spPr>
        <p:txBody>
          <a:bodyPr wrap="square" lIns="0" tIns="0" rIns="0" bIns="0" rtlCol="0" anchor="ctr"/>
          <a:lstStyle/>
          <a:p>
            <a:pPr indent="0" marL="0">
              <a:buNone/>
            </a:pPr>
            <a:r>
              <a:rPr lang="en-US" sz="1400" b="1" spc="600" kern="0" dirty="0">
                <a:solidFill>
                  <a:srgbClr val="FFFFFF"/>
                </a:solidFill>
              </a:rPr>
              <a:t>SAMSUNG</a:t>
            </a:r>
            <a:endParaRPr lang="en-US" sz="1400" dirty="0"/>
          </a:p>
        </p:txBody>
      </p:sp>
      <p:sp>
        <p:nvSpPr>
          <p:cNvPr id="5" name="Shape 3"/>
          <p:cNvSpPr/>
          <p:nvPr/>
        </p:nvSpPr>
        <p:spPr>
          <a:xfrm>
            <a:off x="411480" y="804672"/>
            <a:ext cx="457200" cy="36576"/>
          </a:xfrm>
          <a:prstGeom prst="rect">
            <a:avLst/>
          </a:prstGeom>
          <a:solidFill>
            <a:srgbClr val="0078D4"/>
          </a:solidFill>
          <a:ln w="12700">
            <a:solidFill>
              <a:srgbClr val="0078D4"/>
            </a:solidFill>
            <a:prstDash val="solid"/>
          </a:ln>
        </p:spPr>
      </p:sp>
      <p:sp>
        <p:nvSpPr>
          <p:cNvPr id="6" name="Text 4"/>
          <p:cNvSpPr/>
          <p:nvPr/>
        </p:nvSpPr>
        <p:spPr>
          <a:xfrm>
            <a:off x="411480" y="1005840"/>
            <a:ext cx="2926080" cy="1463040"/>
          </a:xfrm>
          <a:prstGeom prst="rect">
            <a:avLst/>
          </a:prstGeom>
          <a:noFill/>
          <a:ln/>
        </p:spPr>
        <p:txBody>
          <a:bodyPr wrap="square" lIns="0" tIns="0" rIns="0" bIns="0" rtlCol="0" anchor="t"/>
          <a:lstStyle/>
          <a:p>
            <a:pPr algn="l" indent="0" marL="0">
              <a:buNone/>
            </a:pPr>
            <a:r>
              <a:rPr lang="en-US" sz="3600" b="1" dirty="0">
                <a:solidFill>
                  <a:srgbClr val="FFFFFF"/>
                </a:solidFill>
              </a:rPr>
              <a:t>Project</a:t>
            </a:r>
            <a:endParaRPr lang="en-US" sz="3600" dirty="0"/>
          </a:p>
          <a:p>
            <a:pPr algn="l" indent="0" marL="0">
              <a:buNone/>
            </a:pPr>
            <a:r>
              <a:rPr lang="en-US" sz="3600" b="1" dirty="0">
                <a:solidFill>
                  <a:srgbClr val="FFFFFF"/>
                </a:solidFill>
              </a:rPr>
              <a:t>CLARITY</a:t>
            </a:r>
            <a:endParaRPr lang="en-US" sz="3600" dirty="0"/>
          </a:p>
        </p:txBody>
      </p:sp>
      <p:sp>
        <p:nvSpPr>
          <p:cNvPr id="7" name="Text 5"/>
          <p:cNvSpPr/>
          <p:nvPr/>
        </p:nvSpPr>
        <p:spPr>
          <a:xfrm>
            <a:off x="411480" y="2606040"/>
            <a:ext cx="2926080" cy="777240"/>
          </a:xfrm>
          <a:prstGeom prst="rect">
            <a:avLst/>
          </a:prstGeom>
          <a:noFill/>
          <a:ln/>
        </p:spPr>
        <p:txBody>
          <a:bodyPr wrap="square" lIns="0" tIns="0" rIns="0" bIns="0" rtlCol="0" anchor="ctr"/>
          <a:lstStyle/>
          <a:p>
            <a:pPr algn="l" indent="0" marL="0">
              <a:buNone/>
            </a:pPr>
            <a:r>
              <a:rPr lang="en-US" sz="1400" dirty="0">
                <a:solidFill>
                  <a:srgbClr val="B8C4E8"/>
                </a:solidFill>
              </a:rPr>
              <a:t>AI-Powered OCR &amp;</a:t>
            </a:r>
            <a:endParaRPr lang="en-US" sz="1400" dirty="0"/>
          </a:p>
          <a:p>
            <a:pPr algn="l" indent="0" marL="0">
              <a:buNone/>
            </a:pPr>
            <a:r>
              <a:rPr lang="en-US" sz="1400" dirty="0">
                <a:solidFill>
                  <a:srgbClr val="B8C4E8"/>
                </a:solidFill>
              </a:rPr>
              <a:t>Image Analytics Platform</a:t>
            </a:r>
            <a:endParaRPr lang="en-US" sz="1400" dirty="0"/>
          </a:p>
        </p:txBody>
      </p:sp>
      <p:sp>
        <p:nvSpPr>
          <p:cNvPr id="8" name="Shape 6"/>
          <p:cNvSpPr/>
          <p:nvPr/>
        </p:nvSpPr>
        <p:spPr>
          <a:xfrm>
            <a:off x="411480" y="3493008"/>
            <a:ext cx="2286000" cy="27432"/>
          </a:xfrm>
          <a:prstGeom prst="rect">
            <a:avLst/>
          </a:prstGeom>
          <a:solidFill>
            <a:srgbClr val="3A52B8"/>
          </a:solidFill>
          <a:ln w="12700">
            <a:solidFill>
              <a:srgbClr val="3A52B8"/>
            </a:solidFill>
            <a:prstDash val="solid"/>
          </a:ln>
        </p:spPr>
      </p:sp>
      <p:sp>
        <p:nvSpPr>
          <p:cNvPr id="9" name="Text 7"/>
          <p:cNvSpPr/>
          <p:nvPr/>
        </p:nvSpPr>
        <p:spPr>
          <a:xfrm>
            <a:off x="411480" y="3639312"/>
            <a:ext cx="2926080" cy="685800"/>
          </a:xfrm>
          <a:prstGeom prst="rect">
            <a:avLst/>
          </a:prstGeom>
          <a:noFill/>
          <a:ln/>
        </p:spPr>
        <p:txBody>
          <a:bodyPr wrap="square" lIns="0" tIns="0" rIns="0" bIns="0" rtlCol="0" anchor="ctr"/>
          <a:lstStyle/>
          <a:p>
            <a:pPr algn="l" indent="0" marL="0">
              <a:buNone/>
            </a:pPr>
            <a:r>
              <a:rPr lang="en-US" sz="1050" dirty="0">
                <a:solidFill>
                  <a:srgbClr val="8899CC"/>
                </a:solidFill>
              </a:rPr>
              <a:t>Automated Warranty Claim Review</a:t>
            </a:r>
            <a:endParaRPr lang="en-US" sz="1050" dirty="0"/>
          </a:p>
          <a:p>
            <a:pPr algn="l" indent="0" marL="0">
              <a:buNone/>
            </a:pPr>
            <a:r>
              <a:rPr lang="en-US" sz="1050" dirty="0">
                <a:solidFill>
                  <a:srgbClr val="8899CC"/>
                </a:solidFill>
              </a:rPr>
              <a:t>for Samsung India Service Operations</a:t>
            </a:r>
            <a:endParaRPr lang="en-US" sz="1050" dirty="0"/>
          </a:p>
        </p:txBody>
      </p:sp>
      <p:sp>
        <p:nvSpPr>
          <p:cNvPr id="10" name="Text 8"/>
          <p:cNvSpPr/>
          <p:nvPr/>
        </p:nvSpPr>
        <p:spPr>
          <a:xfrm>
            <a:off x="411480" y="4663440"/>
            <a:ext cx="2926080" cy="256032"/>
          </a:xfrm>
          <a:prstGeom prst="rect">
            <a:avLst/>
          </a:prstGeom>
          <a:noFill/>
          <a:ln/>
        </p:spPr>
        <p:txBody>
          <a:bodyPr wrap="square" lIns="0" tIns="0" rIns="0" bIns="0" rtlCol="0" anchor="ctr"/>
          <a:lstStyle/>
          <a:p>
            <a:pPr algn="l" indent="0" marL="0">
              <a:buNone/>
            </a:pPr>
            <a:r>
              <a:rPr lang="en-US" sz="850" dirty="0">
                <a:solidFill>
                  <a:srgbClr val="667799"/>
                </a:solidFill>
              </a:rPr>
              <a:t>May 2025  ·  Confidential  ·  CTO Briefing</a:t>
            </a:r>
            <a:endParaRPr lang="en-US" sz="850" dirty="0"/>
          </a:p>
        </p:txBody>
      </p:sp>
      <p:sp>
        <p:nvSpPr>
          <p:cNvPr id="11" name="Text 9"/>
          <p:cNvSpPr/>
          <p:nvPr/>
        </p:nvSpPr>
        <p:spPr>
          <a:xfrm>
            <a:off x="3931920" y="384048"/>
            <a:ext cx="4937760" cy="320040"/>
          </a:xfrm>
          <a:prstGeom prst="rect">
            <a:avLst/>
          </a:prstGeom>
          <a:noFill/>
          <a:ln/>
        </p:spPr>
        <p:txBody>
          <a:bodyPr wrap="square" lIns="0" tIns="0" rIns="0" bIns="0" rtlCol="0" anchor="ctr"/>
          <a:lstStyle/>
          <a:p>
            <a:pPr algn="l" indent="0" marL="0">
              <a:buNone/>
            </a:pPr>
            <a:r>
              <a:rPr lang="en-US" sz="1100" dirty="0">
                <a:solidFill>
                  <a:srgbClr val="4A5568"/>
                </a:solidFill>
              </a:rPr>
              <a:t>Proposal for Senior Technology Leadership</a:t>
            </a:r>
            <a:endParaRPr lang="en-US" sz="1100" dirty="0"/>
          </a:p>
        </p:txBody>
      </p:sp>
      <p:sp>
        <p:nvSpPr>
          <p:cNvPr id="12" name="Text 10"/>
          <p:cNvSpPr/>
          <p:nvPr/>
        </p:nvSpPr>
        <p:spPr>
          <a:xfrm>
            <a:off x="3931920" y="749808"/>
            <a:ext cx="4937760" cy="502920"/>
          </a:xfrm>
          <a:prstGeom prst="rect">
            <a:avLst/>
          </a:prstGeom>
          <a:noFill/>
          <a:ln/>
        </p:spPr>
        <p:txBody>
          <a:bodyPr wrap="square" lIns="0" tIns="0" rIns="0" bIns="0" rtlCol="0" anchor="ctr"/>
          <a:lstStyle/>
          <a:p>
            <a:pPr algn="l" indent="0" marL="0">
              <a:buNone/>
            </a:pPr>
            <a:r>
              <a:rPr lang="en-US" sz="2200" b="1" dirty="0">
                <a:solidFill>
                  <a:srgbClr val="1A202C"/>
                </a:solidFill>
              </a:rPr>
              <a:t>Warranty Claim Automation at Scale</a:t>
            </a:r>
            <a:endParaRPr lang="en-US" sz="2200" dirty="0"/>
          </a:p>
        </p:txBody>
      </p:sp>
      <p:sp>
        <p:nvSpPr>
          <p:cNvPr id="13" name="Shape 11"/>
          <p:cNvSpPr/>
          <p:nvPr/>
        </p:nvSpPr>
        <p:spPr>
          <a:xfrm>
            <a:off x="3931920" y="1353312"/>
            <a:ext cx="4846320" cy="22860"/>
          </a:xfrm>
          <a:prstGeom prst="rect">
            <a:avLst/>
          </a:prstGeom>
          <a:solidFill>
            <a:srgbClr val="D1D9E6"/>
          </a:solidFill>
          <a:ln w="12700">
            <a:solidFill>
              <a:srgbClr val="D1D9E6"/>
            </a:solidFill>
            <a:prstDash val="solid"/>
          </a:ln>
        </p:spPr>
      </p:sp>
      <p:sp>
        <p:nvSpPr>
          <p:cNvPr id="14" name="Shape 12"/>
          <p:cNvSpPr/>
          <p:nvPr/>
        </p:nvSpPr>
        <p:spPr>
          <a:xfrm>
            <a:off x="3931920" y="1508760"/>
            <a:ext cx="2286000" cy="1508760"/>
          </a:xfrm>
          <a:prstGeom prst="rect">
            <a:avLst/>
          </a:prstGeom>
          <a:solidFill>
            <a:srgbClr val="F8F9FC"/>
          </a:solidFill>
          <a:ln w="12700">
            <a:solidFill>
              <a:srgbClr val="D1D9E6"/>
            </a:solidFill>
            <a:prstDash val="solid"/>
          </a:ln>
          <a:effectLst>
            <a:outerShdw sx="100000" sy="100000" kx="0" ky="0" algn="bl" rotWithShape="0" blurRad="127000" dist="38100" dir="8100000">
              <a:srgbClr val="000000">
                <a:alpha val="10000"/>
              </a:srgbClr>
            </a:outerShdw>
          </a:effectLst>
        </p:spPr>
      </p:sp>
      <p:sp>
        <p:nvSpPr>
          <p:cNvPr id="15" name="Shape 13"/>
          <p:cNvSpPr/>
          <p:nvPr/>
        </p:nvSpPr>
        <p:spPr>
          <a:xfrm>
            <a:off x="3931920" y="1508760"/>
            <a:ext cx="2286000" cy="45720"/>
          </a:xfrm>
          <a:prstGeom prst="rect">
            <a:avLst/>
          </a:prstGeom>
          <a:solidFill>
            <a:srgbClr val="1428A0"/>
          </a:solidFill>
          <a:ln w="12700">
            <a:solidFill>
              <a:srgbClr val="1428A0"/>
            </a:solidFill>
            <a:prstDash val="solid"/>
          </a:ln>
        </p:spPr>
      </p:sp>
      <p:sp>
        <p:nvSpPr>
          <p:cNvPr id="16" name="Text 14"/>
          <p:cNvSpPr/>
          <p:nvPr/>
        </p:nvSpPr>
        <p:spPr>
          <a:xfrm>
            <a:off x="3931920" y="1709928"/>
            <a:ext cx="2286000" cy="594360"/>
          </a:xfrm>
          <a:prstGeom prst="rect">
            <a:avLst/>
          </a:prstGeom>
          <a:noFill/>
          <a:ln/>
        </p:spPr>
        <p:txBody>
          <a:bodyPr wrap="square" lIns="0" tIns="0" rIns="0" bIns="0" rtlCol="0" anchor="ctr"/>
          <a:lstStyle/>
          <a:p>
            <a:pPr algn="ctr" indent="0" marL="0">
              <a:buNone/>
            </a:pPr>
            <a:r>
              <a:rPr lang="en-US" sz="2600" b="1" dirty="0">
                <a:solidFill>
                  <a:srgbClr val="1428A0"/>
                </a:solidFill>
              </a:rPr>
              <a:t>₹75L</a:t>
            </a:r>
            <a:endParaRPr lang="en-US" sz="2600" dirty="0"/>
          </a:p>
        </p:txBody>
      </p:sp>
      <p:sp>
        <p:nvSpPr>
          <p:cNvPr id="17" name="Text 15"/>
          <p:cNvSpPr/>
          <p:nvPr/>
        </p:nvSpPr>
        <p:spPr>
          <a:xfrm>
            <a:off x="3931920" y="2313432"/>
            <a:ext cx="2286000" cy="256032"/>
          </a:xfrm>
          <a:prstGeom prst="rect">
            <a:avLst/>
          </a:prstGeom>
          <a:noFill/>
          <a:ln/>
        </p:spPr>
        <p:txBody>
          <a:bodyPr wrap="square" lIns="0" tIns="0" rIns="0" bIns="0" rtlCol="0" anchor="ctr"/>
          <a:lstStyle/>
          <a:p>
            <a:pPr algn="ctr" indent="0" marL="0">
              <a:buNone/>
            </a:pPr>
            <a:r>
              <a:rPr lang="en-US" sz="1100" b="1" dirty="0">
                <a:solidFill>
                  <a:srgbClr val="1A202C"/>
                </a:solidFill>
              </a:rPr>
              <a:t>Annual Investment</a:t>
            </a:r>
            <a:endParaRPr lang="en-US" sz="1100" dirty="0"/>
          </a:p>
        </p:txBody>
      </p:sp>
      <p:sp>
        <p:nvSpPr>
          <p:cNvPr id="18" name="Text 16"/>
          <p:cNvSpPr/>
          <p:nvPr/>
        </p:nvSpPr>
        <p:spPr>
          <a:xfrm>
            <a:off x="3931920" y="2606040"/>
            <a:ext cx="2286000" cy="256032"/>
          </a:xfrm>
          <a:prstGeom prst="rect">
            <a:avLst/>
          </a:prstGeom>
          <a:noFill/>
          <a:ln/>
        </p:spPr>
        <p:txBody>
          <a:bodyPr wrap="square" lIns="0" tIns="0" rIns="0" bIns="0" rtlCol="0" anchor="ctr"/>
          <a:lstStyle/>
          <a:p>
            <a:pPr algn="ctr" indent="0" marL="0">
              <a:buNone/>
            </a:pPr>
            <a:r>
              <a:rPr lang="en-US" sz="900" dirty="0">
                <a:solidFill>
                  <a:srgbClr val="8A94A8"/>
                </a:solidFill>
              </a:rPr>
              <a:t>Per Annum</a:t>
            </a:r>
            <a:endParaRPr lang="en-US" sz="900" dirty="0"/>
          </a:p>
        </p:txBody>
      </p:sp>
      <p:sp>
        <p:nvSpPr>
          <p:cNvPr id="19" name="Shape 17"/>
          <p:cNvSpPr/>
          <p:nvPr/>
        </p:nvSpPr>
        <p:spPr>
          <a:xfrm>
            <a:off x="6400800" y="1508760"/>
            <a:ext cx="2286000" cy="1508760"/>
          </a:xfrm>
          <a:prstGeom prst="rect">
            <a:avLst/>
          </a:prstGeom>
          <a:solidFill>
            <a:srgbClr val="F8F9FC"/>
          </a:solidFill>
          <a:ln w="12700">
            <a:solidFill>
              <a:srgbClr val="D1D9E6"/>
            </a:solidFill>
            <a:prstDash val="solid"/>
          </a:ln>
          <a:effectLst>
            <a:outerShdw sx="100000" sy="100000" kx="0" ky="0" algn="bl" rotWithShape="0" blurRad="127000" dist="38100" dir="8100000">
              <a:srgbClr val="000000">
                <a:alpha val="10000"/>
              </a:srgbClr>
            </a:outerShdw>
          </a:effectLst>
        </p:spPr>
      </p:sp>
      <p:sp>
        <p:nvSpPr>
          <p:cNvPr id="20" name="Shape 18"/>
          <p:cNvSpPr/>
          <p:nvPr/>
        </p:nvSpPr>
        <p:spPr>
          <a:xfrm>
            <a:off x="6400800" y="1508760"/>
            <a:ext cx="2286000" cy="45720"/>
          </a:xfrm>
          <a:prstGeom prst="rect">
            <a:avLst/>
          </a:prstGeom>
          <a:solidFill>
            <a:srgbClr val="0078D4"/>
          </a:solidFill>
          <a:ln w="12700">
            <a:solidFill>
              <a:srgbClr val="0078D4"/>
            </a:solidFill>
            <a:prstDash val="solid"/>
          </a:ln>
        </p:spPr>
      </p:sp>
      <p:sp>
        <p:nvSpPr>
          <p:cNvPr id="21" name="Text 19"/>
          <p:cNvSpPr/>
          <p:nvPr/>
        </p:nvSpPr>
        <p:spPr>
          <a:xfrm>
            <a:off x="6400800" y="1709928"/>
            <a:ext cx="2286000" cy="594360"/>
          </a:xfrm>
          <a:prstGeom prst="rect">
            <a:avLst/>
          </a:prstGeom>
          <a:noFill/>
          <a:ln/>
        </p:spPr>
        <p:txBody>
          <a:bodyPr wrap="square" lIns="0" tIns="0" rIns="0" bIns="0" rtlCol="0" anchor="ctr"/>
          <a:lstStyle/>
          <a:p>
            <a:pPr algn="ctr" indent="0" marL="0">
              <a:buNone/>
            </a:pPr>
            <a:r>
              <a:rPr lang="en-US" sz="2600" b="1" dirty="0">
                <a:solidFill>
                  <a:srgbClr val="0078D4"/>
                </a:solidFill>
              </a:rPr>
              <a:t>9 Lakh+</a:t>
            </a:r>
            <a:endParaRPr lang="en-US" sz="2600" dirty="0"/>
          </a:p>
        </p:txBody>
      </p:sp>
      <p:sp>
        <p:nvSpPr>
          <p:cNvPr id="22" name="Text 20"/>
          <p:cNvSpPr/>
          <p:nvPr/>
        </p:nvSpPr>
        <p:spPr>
          <a:xfrm>
            <a:off x="6400800" y="2313432"/>
            <a:ext cx="2286000" cy="256032"/>
          </a:xfrm>
          <a:prstGeom prst="rect">
            <a:avLst/>
          </a:prstGeom>
          <a:noFill/>
          <a:ln/>
        </p:spPr>
        <p:txBody>
          <a:bodyPr wrap="square" lIns="0" tIns="0" rIns="0" bIns="0" rtlCol="0" anchor="ctr"/>
          <a:lstStyle/>
          <a:p>
            <a:pPr algn="ctr" indent="0" marL="0">
              <a:buNone/>
            </a:pPr>
            <a:r>
              <a:rPr lang="en-US" sz="1100" b="1" dirty="0">
                <a:solidFill>
                  <a:srgbClr val="1A202C"/>
                </a:solidFill>
              </a:rPr>
              <a:t>Claims / Month</a:t>
            </a:r>
            <a:endParaRPr lang="en-US" sz="1100" dirty="0"/>
          </a:p>
        </p:txBody>
      </p:sp>
      <p:sp>
        <p:nvSpPr>
          <p:cNvPr id="23" name="Text 21"/>
          <p:cNvSpPr/>
          <p:nvPr/>
        </p:nvSpPr>
        <p:spPr>
          <a:xfrm>
            <a:off x="6400800" y="2606040"/>
            <a:ext cx="2286000" cy="256032"/>
          </a:xfrm>
          <a:prstGeom prst="rect">
            <a:avLst/>
          </a:prstGeom>
          <a:noFill/>
          <a:ln/>
        </p:spPr>
        <p:txBody>
          <a:bodyPr wrap="square" lIns="0" tIns="0" rIns="0" bIns="0" rtlCol="0" anchor="ctr"/>
          <a:lstStyle/>
          <a:p>
            <a:pPr algn="ctr" indent="0" marL="0">
              <a:buNone/>
            </a:pPr>
            <a:r>
              <a:rPr lang="en-US" sz="900" dirty="0">
                <a:solidFill>
                  <a:srgbClr val="8A94A8"/>
                </a:solidFill>
              </a:rPr>
              <a:t>Processed</a:t>
            </a:r>
            <a:endParaRPr lang="en-US" sz="900" dirty="0"/>
          </a:p>
        </p:txBody>
      </p:sp>
      <p:sp>
        <p:nvSpPr>
          <p:cNvPr id="24" name="Shape 22"/>
          <p:cNvSpPr/>
          <p:nvPr/>
        </p:nvSpPr>
        <p:spPr>
          <a:xfrm>
            <a:off x="3931920" y="3200400"/>
            <a:ext cx="2286000" cy="1508760"/>
          </a:xfrm>
          <a:prstGeom prst="rect">
            <a:avLst/>
          </a:prstGeom>
          <a:solidFill>
            <a:srgbClr val="F8F9FC"/>
          </a:solidFill>
          <a:ln w="12700">
            <a:solidFill>
              <a:srgbClr val="D1D9E6"/>
            </a:solidFill>
            <a:prstDash val="solid"/>
          </a:ln>
          <a:effectLst>
            <a:outerShdw sx="100000" sy="100000" kx="0" ky="0" algn="bl" rotWithShape="0" blurRad="127000" dist="38100" dir="8100000">
              <a:srgbClr val="000000">
                <a:alpha val="10000"/>
              </a:srgbClr>
            </a:outerShdw>
          </a:effectLst>
        </p:spPr>
      </p:sp>
      <p:sp>
        <p:nvSpPr>
          <p:cNvPr id="25" name="Shape 23"/>
          <p:cNvSpPr/>
          <p:nvPr/>
        </p:nvSpPr>
        <p:spPr>
          <a:xfrm>
            <a:off x="3931920" y="3200400"/>
            <a:ext cx="2286000" cy="45720"/>
          </a:xfrm>
          <a:prstGeom prst="rect">
            <a:avLst/>
          </a:prstGeom>
          <a:solidFill>
            <a:srgbClr val="0F7B6C"/>
          </a:solidFill>
          <a:ln w="12700">
            <a:solidFill>
              <a:srgbClr val="0F7B6C"/>
            </a:solidFill>
            <a:prstDash val="solid"/>
          </a:ln>
        </p:spPr>
      </p:sp>
      <p:sp>
        <p:nvSpPr>
          <p:cNvPr id="26" name="Text 24"/>
          <p:cNvSpPr/>
          <p:nvPr/>
        </p:nvSpPr>
        <p:spPr>
          <a:xfrm>
            <a:off x="3931920" y="3401568"/>
            <a:ext cx="2286000" cy="594360"/>
          </a:xfrm>
          <a:prstGeom prst="rect">
            <a:avLst/>
          </a:prstGeom>
          <a:noFill/>
          <a:ln/>
        </p:spPr>
        <p:txBody>
          <a:bodyPr wrap="square" lIns="0" tIns="0" rIns="0" bIns="0" rtlCol="0" anchor="ctr"/>
          <a:lstStyle/>
          <a:p>
            <a:pPr algn="ctr" indent="0" marL="0">
              <a:buNone/>
            </a:pPr>
            <a:r>
              <a:rPr lang="en-US" sz="2600" b="1" dirty="0">
                <a:solidFill>
                  <a:srgbClr val="0F7B6C"/>
                </a:solidFill>
              </a:rPr>
              <a:t>5 Types</a:t>
            </a:r>
            <a:endParaRPr lang="en-US" sz="2600" dirty="0"/>
          </a:p>
        </p:txBody>
      </p:sp>
      <p:sp>
        <p:nvSpPr>
          <p:cNvPr id="27" name="Text 25"/>
          <p:cNvSpPr/>
          <p:nvPr/>
        </p:nvSpPr>
        <p:spPr>
          <a:xfrm>
            <a:off x="3931920" y="4005072"/>
            <a:ext cx="2286000" cy="256032"/>
          </a:xfrm>
          <a:prstGeom prst="rect">
            <a:avLst/>
          </a:prstGeom>
          <a:noFill/>
          <a:ln/>
        </p:spPr>
        <p:txBody>
          <a:bodyPr wrap="square" lIns="0" tIns="0" rIns="0" bIns="0" rtlCol="0" anchor="ctr"/>
          <a:lstStyle/>
          <a:p>
            <a:pPr algn="ctr" indent="0" marL="0">
              <a:buNone/>
            </a:pPr>
            <a:r>
              <a:rPr lang="en-US" sz="1100" b="1" dirty="0">
                <a:solidFill>
                  <a:srgbClr val="1A202C"/>
                </a:solidFill>
              </a:rPr>
              <a:t>Claim Categories</a:t>
            </a:r>
            <a:endParaRPr lang="en-US" sz="1100" dirty="0"/>
          </a:p>
        </p:txBody>
      </p:sp>
      <p:sp>
        <p:nvSpPr>
          <p:cNvPr id="28" name="Text 26"/>
          <p:cNvSpPr/>
          <p:nvPr/>
        </p:nvSpPr>
        <p:spPr>
          <a:xfrm>
            <a:off x="3931920" y="4297680"/>
            <a:ext cx="2286000" cy="256032"/>
          </a:xfrm>
          <a:prstGeom prst="rect">
            <a:avLst/>
          </a:prstGeom>
          <a:noFill/>
          <a:ln/>
        </p:spPr>
        <p:txBody>
          <a:bodyPr wrap="square" lIns="0" tIns="0" rIns="0" bIns="0" rtlCol="0" anchor="ctr"/>
          <a:lstStyle/>
          <a:p>
            <a:pPr algn="ctr" indent="0" marL="0">
              <a:buNone/>
            </a:pPr>
            <a:r>
              <a:rPr lang="en-US" sz="900" dirty="0">
                <a:solidFill>
                  <a:srgbClr val="8A94A8"/>
                </a:solidFill>
              </a:rPr>
              <a:t>Covered</a:t>
            </a:r>
            <a:endParaRPr lang="en-US" sz="900" dirty="0"/>
          </a:p>
        </p:txBody>
      </p:sp>
      <p:sp>
        <p:nvSpPr>
          <p:cNvPr id="29" name="Shape 27"/>
          <p:cNvSpPr/>
          <p:nvPr/>
        </p:nvSpPr>
        <p:spPr>
          <a:xfrm>
            <a:off x="6400800" y="3200400"/>
            <a:ext cx="2286000" cy="1508760"/>
          </a:xfrm>
          <a:prstGeom prst="rect">
            <a:avLst/>
          </a:prstGeom>
          <a:solidFill>
            <a:srgbClr val="F8F9FC"/>
          </a:solidFill>
          <a:ln w="12700">
            <a:solidFill>
              <a:srgbClr val="D1D9E6"/>
            </a:solidFill>
            <a:prstDash val="solid"/>
          </a:ln>
          <a:effectLst>
            <a:outerShdw sx="100000" sy="100000" kx="0" ky="0" algn="bl" rotWithShape="0" blurRad="127000" dist="38100" dir="8100000">
              <a:srgbClr val="000000">
                <a:alpha val="10000"/>
              </a:srgbClr>
            </a:outerShdw>
          </a:effectLst>
        </p:spPr>
      </p:sp>
      <p:sp>
        <p:nvSpPr>
          <p:cNvPr id="30" name="Shape 28"/>
          <p:cNvSpPr/>
          <p:nvPr/>
        </p:nvSpPr>
        <p:spPr>
          <a:xfrm>
            <a:off x="6400800" y="3200400"/>
            <a:ext cx="2286000" cy="45720"/>
          </a:xfrm>
          <a:prstGeom prst="rect">
            <a:avLst/>
          </a:prstGeom>
          <a:solidFill>
            <a:srgbClr val="C05800"/>
          </a:solidFill>
          <a:ln w="12700">
            <a:solidFill>
              <a:srgbClr val="C05800"/>
            </a:solidFill>
            <a:prstDash val="solid"/>
          </a:ln>
        </p:spPr>
      </p:sp>
      <p:sp>
        <p:nvSpPr>
          <p:cNvPr id="31" name="Text 29"/>
          <p:cNvSpPr/>
          <p:nvPr/>
        </p:nvSpPr>
        <p:spPr>
          <a:xfrm>
            <a:off x="6400800" y="3401568"/>
            <a:ext cx="2286000" cy="594360"/>
          </a:xfrm>
          <a:prstGeom prst="rect">
            <a:avLst/>
          </a:prstGeom>
          <a:noFill/>
          <a:ln/>
        </p:spPr>
        <p:txBody>
          <a:bodyPr wrap="square" lIns="0" tIns="0" rIns="0" bIns="0" rtlCol="0" anchor="ctr"/>
          <a:lstStyle/>
          <a:p>
            <a:pPr algn="ctr" indent="0" marL="0">
              <a:buNone/>
            </a:pPr>
            <a:r>
              <a:rPr lang="en-US" sz="2600" b="1" dirty="0">
                <a:solidFill>
                  <a:srgbClr val="C05800"/>
                </a:solidFill>
              </a:rPr>
              <a:t>In-House</a:t>
            </a:r>
            <a:endParaRPr lang="en-US" sz="2600" dirty="0"/>
          </a:p>
        </p:txBody>
      </p:sp>
      <p:sp>
        <p:nvSpPr>
          <p:cNvPr id="32" name="Text 30"/>
          <p:cNvSpPr/>
          <p:nvPr/>
        </p:nvSpPr>
        <p:spPr>
          <a:xfrm>
            <a:off x="6400800" y="4005072"/>
            <a:ext cx="2286000" cy="256032"/>
          </a:xfrm>
          <a:prstGeom prst="rect">
            <a:avLst/>
          </a:prstGeom>
          <a:noFill/>
          <a:ln/>
        </p:spPr>
        <p:txBody>
          <a:bodyPr wrap="square" lIns="0" tIns="0" rIns="0" bIns="0" rtlCol="0" anchor="ctr"/>
          <a:lstStyle/>
          <a:p>
            <a:pPr algn="ctr" indent="0" marL="0">
              <a:buNone/>
            </a:pPr>
            <a:r>
              <a:rPr lang="en-US" sz="1100" b="1" dirty="0">
                <a:solidFill>
                  <a:srgbClr val="1A202C"/>
                </a:solidFill>
              </a:rPr>
              <a:t>LLM &amp; OCR</a:t>
            </a:r>
            <a:endParaRPr lang="en-US" sz="1100" dirty="0"/>
          </a:p>
        </p:txBody>
      </p:sp>
      <p:sp>
        <p:nvSpPr>
          <p:cNvPr id="33" name="Text 31"/>
          <p:cNvSpPr/>
          <p:nvPr/>
        </p:nvSpPr>
        <p:spPr>
          <a:xfrm>
            <a:off x="6400800" y="4297680"/>
            <a:ext cx="2286000" cy="256032"/>
          </a:xfrm>
          <a:prstGeom prst="rect">
            <a:avLst/>
          </a:prstGeom>
          <a:noFill/>
          <a:ln/>
        </p:spPr>
        <p:txBody>
          <a:bodyPr wrap="square" lIns="0" tIns="0" rIns="0" bIns="0" rtlCol="0" anchor="ctr"/>
          <a:lstStyle/>
          <a:p>
            <a:pPr algn="ctr" indent="0" marL="0">
              <a:buNone/>
            </a:pPr>
            <a:r>
              <a:rPr lang="en-US" sz="900" dirty="0">
                <a:solidFill>
                  <a:srgbClr val="8A94A8"/>
                </a:solidFill>
              </a:rPr>
              <a:t>Samsung Cloud GPU</a:t>
            </a:r>
            <a:endParaRPr lang="en-US" sz="900" dirty="0"/>
          </a:p>
        </p:txBody>
      </p:sp>
      <p:sp>
        <p:nvSpPr>
          <p:cNvPr id="34" name="Shape 32"/>
          <p:cNvSpPr/>
          <p:nvPr/>
        </p:nvSpPr>
        <p:spPr>
          <a:xfrm>
            <a:off x="3931920" y="4828032"/>
            <a:ext cx="5074920" cy="182880"/>
          </a:xfrm>
          <a:prstGeom prst="rect">
            <a:avLst/>
          </a:prstGeom>
          <a:solidFill>
            <a:srgbClr val="EDF0F7"/>
          </a:solidFill>
          <a:ln w="12700">
            <a:solidFill>
              <a:srgbClr val="EDF0F7"/>
            </a:solidFill>
            <a:prstDash val="solid"/>
          </a:ln>
        </p:spPr>
      </p:sp>
      <p:sp>
        <p:nvSpPr>
          <p:cNvPr id="35" name="Text 33"/>
          <p:cNvSpPr/>
          <p:nvPr/>
        </p:nvSpPr>
        <p:spPr>
          <a:xfrm>
            <a:off x="3931920" y="4828032"/>
            <a:ext cx="5074920" cy="182880"/>
          </a:xfrm>
          <a:prstGeom prst="rect">
            <a:avLst/>
          </a:prstGeom>
          <a:noFill/>
          <a:ln/>
        </p:spPr>
        <p:txBody>
          <a:bodyPr wrap="square" lIns="0" tIns="0" rIns="0" bIns="0" rtlCol="0" anchor="ctr"/>
          <a:lstStyle/>
          <a:p>
            <a:pPr algn="ctr" indent="0" marL="0">
              <a:buNone/>
            </a:pPr>
            <a:r>
              <a:rPr lang="en-US" sz="750" b="1" spc="100" kern="0" dirty="0">
                <a:solidFill>
                  <a:srgbClr val="8A94A8"/>
                </a:solidFill>
              </a:rPr>
              <a:t>CONFIDENTIAL — FOR INTERNAL USE ONLY</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428A0"/>
          </a:solidFill>
          <a:ln w="12700">
            <a:solidFill>
              <a:srgbClr val="1428A0"/>
            </a:solidFill>
            <a:prstDash val="solid"/>
          </a:ln>
        </p:spPr>
      </p:sp>
      <p:sp>
        <p:nvSpPr>
          <p:cNvPr id="3" name="Shape 1"/>
          <p:cNvSpPr/>
          <p:nvPr/>
        </p:nvSpPr>
        <p:spPr>
          <a:xfrm>
            <a:off x="0" y="658368"/>
            <a:ext cx="9144000" cy="41148"/>
          </a:xfrm>
          <a:prstGeom prst="rect">
            <a:avLst/>
          </a:prstGeom>
          <a:solidFill>
            <a:srgbClr val="0078D4"/>
          </a:solidFill>
          <a:ln w="12700">
            <a:solidFill>
              <a:srgbClr val="0078D4"/>
            </a:solidFill>
            <a:prstDash val="solid"/>
          </a:ln>
        </p:spPr>
      </p:sp>
      <p:sp>
        <p:nvSpPr>
          <p:cNvPr id="4" name="Text 2"/>
          <p:cNvSpPr/>
          <p:nvPr/>
        </p:nvSpPr>
        <p:spPr>
          <a:xfrm>
            <a:off x="411480" y="0"/>
            <a:ext cx="7315200" cy="658368"/>
          </a:xfrm>
          <a:prstGeom prst="rect">
            <a:avLst/>
          </a:prstGeom>
          <a:noFill/>
          <a:ln/>
        </p:spPr>
        <p:txBody>
          <a:bodyPr wrap="square" lIns="0" tIns="0" rIns="0" bIns="0" rtlCol="0" anchor="ctr"/>
          <a:lstStyle/>
          <a:p>
            <a:pPr indent="0" marL="0">
              <a:buNone/>
            </a:pPr>
            <a:r>
              <a:rPr lang="en-US" sz="1400" b="1" spc="200" kern="0" dirty="0">
                <a:solidFill>
                  <a:srgbClr val="FFFFFF"/>
                </a:solidFill>
              </a:rPr>
              <a:t>EXECUTIVE SUMMARY</a:t>
            </a:r>
            <a:endParaRPr lang="en-US" sz="1400" dirty="0"/>
          </a:p>
        </p:txBody>
      </p:sp>
      <p:sp>
        <p:nvSpPr>
          <p:cNvPr id="5" name="Text 3"/>
          <p:cNvSpPr/>
          <p:nvPr/>
        </p:nvSpPr>
        <p:spPr>
          <a:xfrm>
            <a:off x="6400800" y="0"/>
            <a:ext cx="2514600" cy="658368"/>
          </a:xfrm>
          <a:prstGeom prst="rect">
            <a:avLst/>
          </a:prstGeom>
          <a:noFill/>
          <a:ln/>
        </p:spPr>
        <p:txBody>
          <a:bodyPr wrap="square" lIns="0" tIns="0" rIns="0" bIns="0" rtlCol="0" anchor="ctr"/>
          <a:lstStyle/>
          <a:p>
            <a:pPr algn="r" indent="0" marL="0">
              <a:buNone/>
            </a:pPr>
            <a:r>
              <a:rPr lang="en-US" sz="900" dirty="0">
                <a:solidFill>
                  <a:srgbClr val="8899CC"/>
                </a:solidFill>
              </a:rPr>
              <a:t>Project CLARITY  ·  Warranty Automation</a:t>
            </a:r>
            <a:endParaRPr lang="en-US" sz="900" dirty="0"/>
          </a:p>
        </p:txBody>
      </p:sp>
      <p:sp>
        <p:nvSpPr>
          <p:cNvPr id="6" name="Text 4"/>
          <p:cNvSpPr/>
          <p:nvPr/>
        </p:nvSpPr>
        <p:spPr>
          <a:xfrm>
            <a:off x="411480" y="841248"/>
            <a:ext cx="8321040" cy="1417320"/>
          </a:xfrm>
          <a:prstGeom prst="rect">
            <a:avLst/>
          </a:prstGeom>
          <a:noFill/>
          <a:ln/>
        </p:spPr>
        <p:txBody>
          <a:bodyPr wrap="square" lIns="0" tIns="0" rIns="0" bIns="0" rtlCol="0" anchor="t"/>
          <a:lstStyle/>
          <a:p>
            <a:pPr algn="l" indent="0" marL="0">
              <a:buNone/>
            </a:pPr>
            <a:r>
              <a:rPr lang="en-US" sz="1150" dirty="0">
                <a:solidFill>
                  <a:srgbClr val="4A5568"/>
                </a:solidFill>
              </a:rPr>
              <a:t>Samsung India's service network processes over 9 lakh warranty claims monthly. The current manual review process creates operational bottlenecks, revenue leakage from incorrectly approved FOC (Free of Charge) claims, and an inability to scale with growing claim volumes.</a:t>
            </a:r>
            <a:endParaRPr lang="en-US" sz="1150" dirty="0"/>
          </a:p>
          <a:p>
            <a:pPr algn="l" indent="0" marL="0">
              <a:buNone/>
            </a:pPr>
            <a:endParaRPr lang="en-US" sz="1150" dirty="0"/>
          </a:p>
          <a:p>
            <a:pPr algn="l" indent="0" marL="0">
              <a:buNone/>
            </a:pPr>
            <a:r>
              <a:rPr lang="en-US" sz="1150" dirty="0">
                <a:solidFill>
                  <a:srgbClr val="4A5568"/>
                </a:solidFill>
              </a:rPr>
              <a:t>Project CLARITY proposes an in-house AI OCR and LLM-powered validation engine — hosted on Samsung Cloud GPU — to fully automate the claim review pipeline with measurable ROI.</a:t>
            </a:r>
            <a:endParaRPr lang="en-US" sz="1150" dirty="0"/>
          </a:p>
        </p:txBody>
      </p:sp>
      <p:sp>
        <p:nvSpPr>
          <p:cNvPr id="7" name="Shape 5"/>
          <p:cNvSpPr/>
          <p:nvPr/>
        </p:nvSpPr>
        <p:spPr>
          <a:xfrm>
            <a:off x="411480" y="2340864"/>
            <a:ext cx="8321040" cy="22860"/>
          </a:xfrm>
          <a:prstGeom prst="rect">
            <a:avLst/>
          </a:prstGeom>
          <a:solidFill>
            <a:srgbClr val="D1D9E6"/>
          </a:solidFill>
          <a:ln w="12700">
            <a:solidFill>
              <a:srgbClr val="D1D9E6"/>
            </a:solidFill>
            <a:prstDash val="solid"/>
          </a:ln>
        </p:spPr>
      </p:sp>
      <p:sp>
        <p:nvSpPr>
          <p:cNvPr id="8" name="Shape 6"/>
          <p:cNvSpPr/>
          <p:nvPr/>
        </p:nvSpPr>
        <p:spPr>
          <a:xfrm>
            <a:off x="411480" y="2487168"/>
            <a:ext cx="2651760" cy="2487168"/>
          </a:xfrm>
          <a:prstGeom prst="rect">
            <a:avLst/>
          </a:prstGeom>
          <a:solidFill>
            <a:srgbClr val="FDE8E8"/>
          </a:solidFill>
          <a:ln w="12700">
            <a:solidFill>
              <a:srgbClr val="C53030"/>
            </a:solidFill>
            <a:prstDash val="solid"/>
          </a:ln>
          <a:effectLst>
            <a:outerShdw sx="100000" sy="100000" kx="0" ky="0" algn="bl" rotWithShape="0" blurRad="127000" dist="38100" dir="8100000">
              <a:srgbClr val="000000">
                <a:alpha val="10000"/>
              </a:srgbClr>
            </a:outerShdw>
          </a:effectLst>
        </p:spPr>
      </p:sp>
      <p:sp>
        <p:nvSpPr>
          <p:cNvPr id="9" name="Shape 7"/>
          <p:cNvSpPr/>
          <p:nvPr/>
        </p:nvSpPr>
        <p:spPr>
          <a:xfrm>
            <a:off x="411480" y="2487168"/>
            <a:ext cx="2651760" cy="365760"/>
          </a:xfrm>
          <a:prstGeom prst="rect">
            <a:avLst/>
          </a:prstGeom>
          <a:solidFill>
            <a:srgbClr val="C53030"/>
          </a:solidFill>
          <a:ln w="12700">
            <a:solidFill>
              <a:srgbClr val="C53030"/>
            </a:solidFill>
            <a:prstDash val="solid"/>
          </a:ln>
        </p:spPr>
      </p:sp>
      <p:sp>
        <p:nvSpPr>
          <p:cNvPr id="10" name="Text 8"/>
          <p:cNvSpPr/>
          <p:nvPr/>
        </p:nvSpPr>
        <p:spPr>
          <a:xfrm>
            <a:off x="411480" y="2487168"/>
            <a:ext cx="2651760" cy="365760"/>
          </a:xfrm>
          <a:prstGeom prst="rect">
            <a:avLst/>
          </a:prstGeom>
          <a:noFill/>
          <a:ln/>
        </p:spPr>
        <p:txBody>
          <a:bodyPr wrap="square" lIns="0" tIns="0" rIns="0" bIns="0" rtlCol="0" anchor="ctr"/>
          <a:lstStyle/>
          <a:p>
            <a:pPr algn="ctr" indent="0" marL="0">
              <a:buNone/>
            </a:pPr>
            <a:r>
              <a:rPr lang="en-US" sz="950" b="1" spc="100" kern="0" dirty="0">
                <a:solidFill>
                  <a:srgbClr val="FFFFFF"/>
                </a:solidFill>
              </a:rPr>
              <a:t>THE CHALLENGE</a:t>
            </a:r>
            <a:endParaRPr lang="en-US" sz="950" dirty="0"/>
          </a:p>
        </p:txBody>
      </p:sp>
      <p:sp>
        <p:nvSpPr>
          <p:cNvPr id="11" name="Text 9"/>
          <p:cNvSpPr/>
          <p:nvPr/>
        </p:nvSpPr>
        <p:spPr>
          <a:xfrm>
            <a:off x="576072" y="2926080"/>
            <a:ext cx="2331720" cy="1965960"/>
          </a:xfrm>
          <a:prstGeom prst="rect">
            <a:avLst/>
          </a:prstGeom>
          <a:noFill/>
          <a:ln/>
        </p:spPr>
        <p:txBody>
          <a:bodyPr wrap="square" rtlCol="0" anchor="ctr"/>
          <a:lstStyle/>
          <a:p>
            <a:pPr marL="342900" indent="-342900">
              <a:buSzPct val="100000"/>
              <a:buChar char="•"/>
            </a:pPr>
            <a:r>
              <a:rPr lang="en-US" sz="1050" dirty="0">
                <a:solidFill>
                  <a:srgbClr val="1A202C"/>
                </a:solidFill>
              </a:rPr>
              <a:t>9L+ manual claims reviewed per month</a:t>
            </a:r>
            <a:endParaRPr lang="en-US" sz="1050" dirty="0"/>
          </a:p>
          <a:p>
            <a:pPr marL="342900" indent="-342900">
              <a:buSzPct val="100000"/>
              <a:buChar char="•"/>
            </a:pPr>
            <a:r>
              <a:rPr lang="en-US" sz="1050" dirty="0">
                <a:solidFill>
                  <a:srgbClr val="1A202C"/>
                </a:solidFill>
              </a:rPr>
              <a:t>Multi-image documents per case</a:t>
            </a:r>
            <a:endParaRPr lang="en-US" sz="1050" dirty="0"/>
          </a:p>
          <a:p>
            <a:pPr marL="342900" indent="-342900">
              <a:buSzPct val="100000"/>
              <a:buChar char="•"/>
            </a:pPr>
            <a:r>
              <a:rPr lang="en-US" sz="1050" dirty="0">
                <a:solidFill>
                  <a:srgbClr val="1A202C"/>
                </a:solidFill>
              </a:rPr>
              <a:t>Revenue loss from FOC approval errors</a:t>
            </a:r>
            <a:endParaRPr lang="en-US" sz="1050" dirty="0"/>
          </a:p>
          <a:p>
            <a:pPr marL="342900" indent="-342900">
              <a:buSzPct val="100000"/>
              <a:buChar char="•"/>
            </a:pPr>
            <a:r>
              <a:rPr lang="en-US" sz="1050" dirty="0">
                <a:solidFill>
                  <a:srgbClr val="1A202C"/>
                </a:solidFill>
              </a:rPr>
              <a:t>No structured audit or traceability</a:t>
            </a:r>
            <a:endParaRPr lang="en-US" sz="1050" dirty="0"/>
          </a:p>
          <a:p>
            <a:pPr marL="342900" indent="-342900">
              <a:buSzPct val="100000"/>
              <a:buChar char="•"/>
            </a:pPr>
            <a:r>
              <a:rPr lang="en-US" sz="1050" dirty="0">
                <a:solidFill>
                  <a:srgbClr val="1A202C"/>
                </a:solidFill>
              </a:rPr>
              <a:t>Inconsistent review quality</a:t>
            </a:r>
            <a:endParaRPr lang="en-US" sz="1050" dirty="0"/>
          </a:p>
        </p:txBody>
      </p:sp>
      <p:sp>
        <p:nvSpPr>
          <p:cNvPr id="12" name="Shape 10"/>
          <p:cNvSpPr/>
          <p:nvPr/>
        </p:nvSpPr>
        <p:spPr>
          <a:xfrm>
            <a:off x="3246120" y="2487168"/>
            <a:ext cx="2651760" cy="2487168"/>
          </a:xfrm>
          <a:prstGeom prst="rect">
            <a:avLst/>
          </a:prstGeom>
          <a:solidFill>
            <a:srgbClr val="E8EBFA"/>
          </a:solidFill>
          <a:ln w="12700">
            <a:solidFill>
              <a:srgbClr val="1428A0"/>
            </a:solidFill>
            <a:prstDash val="solid"/>
          </a:ln>
          <a:effectLst>
            <a:outerShdw sx="100000" sy="100000" kx="0" ky="0" algn="bl" rotWithShape="0" blurRad="127000" dist="38100" dir="8100000">
              <a:srgbClr val="000000">
                <a:alpha val="10000"/>
              </a:srgbClr>
            </a:outerShdw>
          </a:effectLst>
        </p:spPr>
      </p:sp>
      <p:sp>
        <p:nvSpPr>
          <p:cNvPr id="13" name="Shape 11"/>
          <p:cNvSpPr/>
          <p:nvPr/>
        </p:nvSpPr>
        <p:spPr>
          <a:xfrm>
            <a:off x="3246120" y="2487168"/>
            <a:ext cx="2651760" cy="365760"/>
          </a:xfrm>
          <a:prstGeom prst="rect">
            <a:avLst/>
          </a:prstGeom>
          <a:solidFill>
            <a:srgbClr val="1428A0"/>
          </a:solidFill>
          <a:ln w="12700">
            <a:solidFill>
              <a:srgbClr val="1428A0"/>
            </a:solidFill>
            <a:prstDash val="solid"/>
          </a:ln>
        </p:spPr>
      </p:sp>
      <p:sp>
        <p:nvSpPr>
          <p:cNvPr id="14" name="Text 12"/>
          <p:cNvSpPr/>
          <p:nvPr/>
        </p:nvSpPr>
        <p:spPr>
          <a:xfrm>
            <a:off x="3246120" y="2487168"/>
            <a:ext cx="2651760" cy="365760"/>
          </a:xfrm>
          <a:prstGeom prst="rect">
            <a:avLst/>
          </a:prstGeom>
          <a:noFill/>
          <a:ln/>
        </p:spPr>
        <p:txBody>
          <a:bodyPr wrap="square" lIns="0" tIns="0" rIns="0" bIns="0" rtlCol="0" anchor="ctr"/>
          <a:lstStyle/>
          <a:p>
            <a:pPr algn="ctr" indent="0" marL="0">
              <a:buNone/>
            </a:pPr>
            <a:r>
              <a:rPr lang="en-US" sz="950" b="1" spc="100" kern="0" dirty="0">
                <a:solidFill>
                  <a:srgbClr val="FFFFFF"/>
                </a:solidFill>
              </a:rPr>
              <a:t>THE SOLUTION</a:t>
            </a:r>
            <a:endParaRPr lang="en-US" sz="950" dirty="0"/>
          </a:p>
        </p:txBody>
      </p:sp>
      <p:sp>
        <p:nvSpPr>
          <p:cNvPr id="15" name="Text 13"/>
          <p:cNvSpPr/>
          <p:nvPr/>
        </p:nvSpPr>
        <p:spPr>
          <a:xfrm>
            <a:off x="3410712" y="2926080"/>
            <a:ext cx="2331720" cy="1965960"/>
          </a:xfrm>
          <a:prstGeom prst="rect">
            <a:avLst/>
          </a:prstGeom>
          <a:noFill/>
          <a:ln/>
        </p:spPr>
        <p:txBody>
          <a:bodyPr wrap="square" rtlCol="0" anchor="ctr"/>
          <a:lstStyle/>
          <a:p>
            <a:pPr marL="342900" indent="-342900">
              <a:buSzPct val="100000"/>
              <a:buChar char="•"/>
            </a:pPr>
            <a:r>
              <a:rPr lang="en-US" sz="1050" dirty="0">
                <a:solidFill>
                  <a:srgbClr val="1A202C"/>
                </a:solidFill>
              </a:rPr>
              <a:t>In-house OCR model for image parsing</a:t>
            </a:r>
            <a:endParaRPr lang="en-US" sz="1050" dirty="0"/>
          </a:p>
          <a:p>
            <a:pPr marL="342900" indent="-342900">
              <a:buSzPct val="100000"/>
              <a:buChar char="•"/>
            </a:pPr>
            <a:r>
              <a:rPr lang="en-US" sz="1050" dirty="0">
                <a:solidFill>
                  <a:srgbClr val="1A202C"/>
                </a:solidFill>
              </a:rPr>
              <a:t>LLM validates warranty rules per claim</a:t>
            </a:r>
            <a:endParaRPr lang="en-US" sz="1050" dirty="0"/>
          </a:p>
          <a:p>
            <a:pPr marL="342900" indent="-342900">
              <a:buSzPct val="100000"/>
              <a:buChar char="•"/>
            </a:pPr>
            <a:r>
              <a:rPr lang="en-US" sz="1050" dirty="0">
                <a:solidFill>
                  <a:srgbClr val="1A202C"/>
                </a:solidFill>
              </a:rPr>
              <a:t>Batch pipeline on Samsung Cloud GPU</a:t>
            </a:r>
            <a:endParaRPr lang="en-US" sz="1050" dirty="0"/>
          </a:p>
          <a:p>
            <a:pPr marL="342900" indent="-342900">
              <a:buSzPct val="100000"/>
              <a:buChar char="•"/>
            </a:pPr>
            <a:r>
              <a:rPr lang="en-US" sz="1050" dirty="0">
                <a:solidFill>
                  <a:srgbClr val="1A202C"/>
                </a:solidFill>
              </a:rPr>
              <a:t>Auto-result push to claim system</a:t>
            </a:r>
            <a:endParaRPr lang="en-US" sz="1050" dirty="0"/>
          </a:p>
          <a:p>
            <a:pPr marL="342900" indent="-342900">
              <a:buSzPct val="100000"/>
              <a:buChar char="•"/>
            </a:pPr>
            <a:r>
              <a:rPr lang="en-US" sz="1050" dirty="0">
                <a:solidFill>
                  <a:srgbClr val="1A202C"/>
                </a:solidFill>
              </a:rPr>
              <a:t>Discrepancy flags with evidence trail</a:t>
            </a:r>
            <a:endParaRPr lang="en-US" sz="1050" dirty="0"/>
          </a:p>
        </p:txBody>
      </p:sp>
      <p:sp>
        <p:nvSpPr>
          <p:cNvPr id="16" name="Shape 14"/>
          <p:cNvSpPr/>
          <p:nvPr/>
        </p:nvSpPr>
        <p:spPr>
          <a:xfrm>
            <a:off x="6080760" y="2487168"/>
            <a:ext cx="2651760" cy="2487168"/>
          </a:xfrm>
          <a:prstGeom prst="rect">
            <a:avLst/>
          </a:prstGeom>
          <a:solidFill>
            <a:srgbClr val="E6F4F1"/>
          </a:solidFill>
          <a:ln w="12700">
            <a:solidFill>
              <a:srgbClr val="0F7B6C"/>
            </a:solidFill>
            <a:prstDash val="solid"/>
          </a:ln>
          <a:effectLst>
            <a:outerShdw sx="100000" sy="100000" kx="0" ky="0" algn="bl" rotWithShape="0" blurRad="127000" dist="38100" dir="8100000">
              <a:srgbClr val="000000">
                <a:alpha val="10000"/>
              </a:srgbClr>
            </a:outerShdw>
          </a:effectLst>
        </p:spPr>
      </p:sp>
      <p:sp>
        <p:nvSpPr>
          <p:cNvPr id="17" name="Shape 15"/>
          <p:cNvSpPr/>
          <p:nvPr/>
        </p:nvSpPr>
        <p:spPr>
          <a:xfrm>
            <a:off x="6080760" y="2487168"/>
            <a:ext cx="2651760" cy="365760"/>
          </a:xfrm>
          <a:prstGeom prst="rect">
            <a:avLst/>
          </a:prstGeom>
          <a:solidFill>
            <a:srgbClr val="0F7B6C"/>
          </a:solidFill>
          <a:ln w="12700">
            <a:solidFill>
              <a:srgbClr val="0F7B6C"/>
            </a:solidFill>
            <a:prstDash val="solid"/>
          </a:ln>
        </p:spPr>
      </p:sp>
      <p:sp>
        <p:nvSpPr>
          <p:cNvPr id="18" name="Text 16"/>
          <p:cNvSpPr/>
          <p:nvPr/>
        </p:nvSpPr>
        <p:spPr>
          <a:xfrm>
            <a:off x="6080760" y="2487168"/>
            <a:ext cx="2651760" cy="365760"/>
          </a:xfrm>
          <a:prstGeom prst="rect">
            <a:avLst/>
          </a:prstGeom>
          <a:noFill/>
          <a:ln/>
        </p:spPr>
        <p:txBody>
          <a:bodyPr wrap="square" lIns="0" tIns="0" rIns="0" bIns="0" rtlCol="0" anchor="ctr"/>
          <a:lstStyle/>
          <a:p>
            <a:pPr algn="ctr" indent="0" marL="0">
              <a:buNone/>
            </a:pPr>
            <a:r>
              <a:rPr lang="en-US" sz="950" b="1" spc="100" kern="0" dirty="0">
                <a:solidFill>
                  <a:srgbClr val="FFFFFF"/>
                </a:solidFill>
              </a:rPr>
              <a:t>THE OUTCOME</a:t>
            </a:r>
            <a:endParaRPr lang="en-US" sz="950" dirty="0"/>
          </a:p>
        </p:txBody>
      </p:sp>
      <p:sp>
        <p:nvSpPr>
          <p:cNvPr id="19" name="Text 17"/>
          <p:cNvSpPr/>
          <p:nvPr/>
        </p:nvSpPr>
        <p:spPr>
          <a:xfrm>
            <a:off x="6245352" y="2926080"/>
            <a:ext cx="2331720" cy="1965960"/>
          </a:xfrm>
          <a:prstGeom prst="rect">
            <a:avLst/>
          </a:prstGeom>
          <a:noFill/>
          <a:ln/>
        </p:spPr>
        <p:txBody>
          <a:bodyPr wrap="square" rtlCol="0" anchor="ctr"/>
          <a:lstStyle/>
          <a:p>
            <a:pPr marL="342900" indent="-342900">
              <a:buSzPct val="100000"/>
              <a:buChar char="•"/>
            </a:pPr>
            <a:r>
              <a:rPr lang="en-US" sz="1050" dirty="0">
                <a:solidFill>
                  <a:srgbClr val="1A202C"/>
                </a:solidFill>
              </a:rPr>
              <a:t>80%+ reduction in manual effort</a:t>
            </a:r>
            <a:endParaRPr lang="en-US" sz="1050" dirty="0"/>
          </a:p>
          <a:p>
            <a:pPr marL="342900" indent="-342900">
              <a:buSzPct val="100000"/>
              <a:buChar char="•"/>
            </a:pPr>
            <a:r>
              <a:rPr lang="en-US" sz="1050" dirty="0">
                <a:solidFill>
                  <a:srgbClr val="1A202C"/>
                </a:solidFill>
              </a:rPr>
              <a:t>₹6.94 effective cost per claim</a:t>
            </a:r>
            <a:endParaRPr lang="en-US" sz="1050" dirty="0"/>
          </a:p>
          <a:p>
            <a:pPr marL="342900" indent="-342900">
              <a:buSzPct val="100000"/>
              <a:buChar char="•"/>
            </a:pPr>
            <a:r>
              <a:rPr lang="en-US" sz="1050" dirty="0">
                <a:solidFill>
                  <a:srgbClr val="1A202C"/>
                </a:solidFill>
              </a:rPr>
              <a:t>Consistent, auditable review process</a:t>
            </a:r>
            <a:endParaRPr lang="en-US" sz="1050" dirty="0"/>
          </a:p>
          <a:p>
            <a:pPr marL="342900" indent="-342900">
              <a:buSzPct val="100000"/>
              <a:buChar char="•"/>
            </a:pPr>
            <a:r>
              <a:rPr lang="en-US" sz="1050" dirty="0">
                <a:solidFill>
                  <a:srgbClr val="1A202C"/>
                </a:solidFill>
              </a:rPr>
              <a:t>Scalable to any volume increase</a:t>
            </a:r>
            <a:endParaRPr lang="en-US" sz="1050" dirty="0"/>
          </a:p>
          <a:p>
            <a:pPr marL="342900" indent="-342900">
              <a:buSzPct val="100000"/>
              <a:buChar char="•"/>
            </a:pPr>
            <a:r>
              <a:rPr lang="en-US" sz="1050" dirty="0">
                <a:solidFill>
                  <a:srgbClr val="1A202C"/>
                </a:solidFill>
              </a:rPr>
              <a:t>Faster TAT for service centers</a:t>
            </a:r>
            <a:endParaRPr lang="en-US" sz="1050" dirty="0"/>
          </a:p>
        </p:txBody>
      </p:sp>
      <p:sp>
        <p:nvSpPr>
          <p:cNvPr id="20" name="Shape 18"/>
          <p:cNvSpPr/>
          <p:nvPr/>
        </p:nvSpPr>
        <p:spPr>
          <a:xfrm>
            <a:off x="0" y="4956048"/>
            <a:ext cx="9144000" cy="182880"/>
          </a:xfrm>
          <a:prstGeom prst="rect">
            <a:avLst/>
          </a:prstGeom>
          <a:solidFill>
            <a:srgbClr val="EDF0F7"/>
          </a:solidFill>
          <a:ln w="12700">
            <a:solidFill>
              <a:srgbClr val="EDF0F7"/>
            </a:solidFill>
            <a:prstDash val="solid"/>
          </a:ln>
        </p:spPr>
      </p:sp>
      <p:sp>
        <p:nvSpPr>
          <p:cNvPr id="21" name="Text 19"/>
          <p:cNvSpPr/>
          <p:nvPr/>
        </p:nvSpPr>
        <p:spPr>
          <a:xfrm>
            <a:off x="0" y="4956048"/>
            <a:ext cx="9144000" cy="182880"/>
          </a:xfrm>
          <a:prstGeom prst="rect">
            <a:avLst/>
          </a:prstGeom>
          <a:noFill/>
          <a:ln/>
        </p:spPr>
        <p:txBody>
          <a:bodyPr wrap="square" lIns="0" tIns="0" rIns="0" bIns="0" rtlCol="0" anchor="ctr"/>
          <a:lstStyle/>
          <a:p>
            <a:pPr algn="ctr" indent="0" marL="0">
              <a:buNone/>
            </a:pPr>
            <a:r>
              <a:rPr lang="en-US" sz="750" dirty="0">
                <a:solidFill>
                  <a:srgbClr val="8A94A8"/>
                </a:solidFill>
              </a:rPr>
              <a:t>CONFIDENTIAL  ·  Project CLARITY  ·  CTO Briefing  ·  May 2025</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428A0"/>
          </a:solidFill>
          <a:ln w="12700">
            <a:solidFill>
              <a:srgbClr val="1428A0"/>
            </a:solidFill>
            <a:prstDash val="solid"/>
          </a:ln>
        </p:spPr>
      </p:sp>
      <p:sp>
        <p:nvSpPr>
          <p:cNvPr id="3" name="Shape 1"/>
          <p:cNvSpPr/>
          <p:nvPr/>
        </p:nvSpPr>
        <p:spPr>
          <a:xfrm>
            <a:off x="0" y="658368"/>
            <a:ext cx="9144000" cy="41148"/>
          </a:xfrm>
          <a:prstGeom prst="rect">
            <a:avLst/>
          </a:prstGeom>
          <a:solidFill>
            <a:srgbClr val="0078D4"/>
          </a:solidFill>
          <a:ln w="12700">
            <a:solidFill>
              <a:srgbClr val="0078D4"/>
            </a:solidFill>
            <a:prstDash val="solid"/>
          </a:ln>
        </p:spPr>
      </p:sp>
      <p:sp>
        <p:nvSpPr>
          <p:cNvPr id="4" name="Text 2"/>
          <p:cNvSpPr/>
          <p:nvPr/>
        </p:nvSpPr>
        <p:spPr>
          <a:xfrm>
            <a:off x="411480" y="0"/>
            <a:ext cx="7315200" cy="658368"/>
          </a:xfrm>
          <a:prstGeom prst="rect">
            <a:avLst/>
          </a:prstGeom>
          <a:noFill/>
          <a:ln/>
        </p:spPr>
        <p:txBody>
          <a:bodyPr wrap="square" lIns="0" tIns="0" rIns="0" bIns="0" rtlCol="0" anchor="ctr"/>
          <a:lstStyle/>
          <a:p>
            <a:pPr indent="0" marL="0">
              <a:buNone/>
            </a:pPr>
            <a:r>
              <a:rPr lang="en-US" sz="1400" b="1" spc="200" kern="0" dirty="0">
                <a:solidFill>
                  <a:srgbClr val="FFFFFF"/>
                </a:solidFill>
              </a:rPr>
              <a:t>PROBLEM STATEMENT</a:t>
            </a:r>
            <a:endParaRPr lang="en-US" sz="1400" dirty="0"/>
          </a:p>
        </p:txBody>
      </p:sp>
      <p:sp>
        <p:nvSpPr>
          <p:cNvPr id="5" name="Text 3"/>
          <p:cNvSpPr/>
          <p:nvPr/>
        </p:nvSpPr>
        <p:spPr>
          <a:xfrm>
            <a:off x="6400800" y="0"/>
            <a:ext cx="2514600" cy="658368"/>
          </a:xfrm>
          <a:prstGeom prst="rect">
            <a:avLst/>
          </a:prstGeom>
          <a:noFill/>
          <a:ln/>
        </p:spPr>
        <p:txBody>
          <a:bodyPr wrap="square" lIns="0" tIns="0" rIns="0" bIns="0" rtlCol="0" anchor="ctr"/>
          <a:lstStyle/>
          <a:p>
            <a:pPr algn="r" indent="0" marL="0">
              <a:buNone/>
            </a:pPr>
            <a:r>
              <a:rPr lang="en-US" sz="900" dirty="0">
                <a:solidFill>
                  <a:srgbClr val="8899CC"/>
                </a:solidFill>
              </a:rPr>
              <a:t>Project CLARITY  ·  Warranty Automation</a:t>
            </a:r>
            <a:endParaRPr lang="en-US" sz="900" dirty="0"/>
          </a:p>
        </p:txBody>
      </p:sp>
      <p:sp>
        <p:nvSpPr>
          <p:cNvPr id="6" name="Shape 4"/>
          <p:cNvSpPr/>
          <p:nvPr/>
        </p:nvSpPr>
        <p:spPr>
          <a:xfrm>
            <a:off x="411480" y="868680"/>
            <a:ext cx="5303520" cy="713232"/>
          </a:xfrm>
          <a:prstGeom prst="rect">
            <a:avLst/>
          </a:prstGeom>
          <a:solidFill>
            <a:srgbClr val="F8F9FC"/>
          </a:solidFill>
          <a:ln w="12700">
            <a:solidFill>
              <a:srgbClr val="D1D9E6"/>
            </a:solidFill>
            <a:prstDash val="solid"/>
          </a:ln>
          <a:effectLst>
            <a:outerShdw sx="100000" sy="100000" kx="0" ky="0" algn="bl" rotWithShape="0" blurRad="76200" dist="25400" dir="8100000">
              <a:srgbClr val="000000">
                <a:alpha val="8000"/>
              </a:srgbClr>
            </a:outerShdw>
          </a:effectLst>
        </p:spPr>
      </p:sp>
      <p:sp>
        <p:nvSpPr>
          <p:cNvPr id="7" name="Shape 5"/>
          <p:cNvSpPr/>
          <p:nvPr/>
        </p:nvSpPr>
        <p:spPr>
          <a:xfrm>
            <a:off x="411480" y="868680"/>
            <a:ext cx="54864" cy="713232"/>
          </a:xfrm>
          <a:prstGeom prst="rect">
            <a:avLst/>
          </a:prstGeom>
          <a:solidFill>
            <a:srgbClr val="1428A0"/>
          </a:solidFill>
          <a:ln w="12700">
            <a:solidFill>
              <a:srgbClr val="1428A0"/>
            </a:solidFill>
            <a:prstDash val="solid"/>
          </a:ln>
        </p:spPr>
      </p:sp>
      <p:sp>
        <p:nvSpPr>
          <p:cNvPr id="8" name="Text 6"/>
          <p:cNvSpPr/>
          <p:nvPr/>
        </p:nvSpPr>
        <p:spPr>
          <a:xfrm>
            <a:off x="512064" y="905256"/>
            <a:ext cx="384048" cy="274320"/>
          </a:xfrm>
          <a:prstGeom prst="rect">
            <a:avLst/>
          </a:prstGeom>
          <a:noFill/>
          <a:ln/>
        </p:spPr>
        <p:txBody>
          <a:bodyPr wrap="square" lIns="0" tIns="0" rIns="0" bIns="0" rtlCol="0" anchor="ctr"/>
          <a:lstStyle/>
          <a:p>
            <a:pPr indent="0" marL="0">
              <a:buNone/>
            </a:pPr>
            <a:r>
              <a:rPr lang="en-US" sz="900" b="1" dirty="0">
                <a:solidFill>
                  <a:srgbClr val="8A94A8"/>
                </a:solidFill>
              </a:rPr>
              <a:t>01</a:t>
            </a:r>
            <a:endParaRPr lang="en-US" sz="900" dirty="0"/>
          </a:p>
        </p:txBody>
      </p:sp>
      <p:sp>
        <p:nvSpPr>
          <p:cNvPr id="9" name="Text 7"/>
          <p:cNvSpPr/>
          <p:nvPr/>
        </p:nvSpPr>
        <p:spPr>
          <a:xfrm>
            <a:off x="512064" y="923544"/>
            <a:ext cx="4663440" cy="256032"/>
          </a:xfrm>
          <a:prstGeom prst="rect">
            <a:avLst/>
          </a:prstGeom>
          <a:noFill/>
          <a:ln/>
        </p:spPr>
        <p:txBody>
          <a:bodyPr wrap="square" lIns="0" tIns="0" rIns="0" bIns="0" rtlCol="0" anchor="ctr"/>
          <a:lstStyle/>
          <a:p>
            <a:pPr indent="0" marL="0">
              <a:buNone/>
            </a:pPr>
            <a:r>
              <a:rPr lang="en-US" sz="1150" b="1" dirty="0">
                <a:solidFill>
                  <a:srgbClr val="1428A0"/>
                </a:solidFill>
              </a:rPr>
              <a:t>Volume Overload</a:t>
            </a:r>
            <a:endParaRPr lang="en-US" sz="1150" dirty="0"/>
          </a:p>
        </p:txBody>
      </p:sp>
      <p:sp>
        <p:nvSpPr>
          <p:cNvPr id="10" name="Text 8"/>
          <p:cNvSpPr/>
          <p:nvPr/>
        </p:nvSpPr>
        <p:spPr>
          <a:xfrm>
            <a:off x="512064" y="1188720"/>
            <a:ext cx="5074920" cy="347472"/>
          </a:xfrm>
          <a:prstGeom prst="rect">
            <a:avLst/>
          </a:prstGeom>
          <a:noFill/>
          <a:ln/>
        </p:spPr>
        <p:txBody>
          <a:bodyPr wrap="square" lIns="0" tIns="0" rIns="0" bIns="0" rtlCol="0" anchor="ctr"/>
          <a:lstStyle/>
          <a:p>
            <a:pPr indent="0" marL="0">
              <a:buNone/>
            </a:pPr>
            <a:r>
              <a:rPr lang="en-US" sz="950" dirty="0">
                <a:solidFill>
                  <a:srgbClr val="4A5568"/>
                </a:solidFill>
              </a:rPr>
              <a:t>9 lakh+ warranty claims per month from Samsung-authorized service centers across India — impossible to manually review at quality.</a:t>
            </a:r>
            <a:endParaRPr lang="en-US" sz="950" dirty="0"/>
          </a:p>
        </p:txBody>
      </p:sp>
      <p:sp>
        <p:nvSpPr>
          <p:cNvPr id="11" name="Shape 9"/>
          <p:cNvSpPr/>
          <p:nvPr/>
        </p:nvSpPr>
        <p:spPr>
          <a:xfrm>
            <a:off x="411480" y="1682496"/>
            <a:ext cx="5303520" cy="713232"/>
          </a:xfrm>
          <a:prstGeom prst="rect">
            <a:avLst/>
          </a:prstGeom>
          <a:solidFill>
            <a:srgbClr val="F8F9FC"/>
          </a:solidFill>
          <a:ln w="12700">
            <a:solidFill>
              <a:srgbClr val="D1D9E6"/>
            </a:solidFill>
            <a:prstDash val="solid"/>
          </a:ln>
          <a:effectLst>
            <a:outerShdw sx="100000" sy="100000" kx="0" ky="0" algn="bl" rotWithShape="0" blurRad="76200" dist="25400" dir="8100000">
              <a:srgbClr val="000000">
                <a:alpha val="8000"/>
              </a:srgbClr>
            </a:outerShdw>
          </a:effectLst>
        </p:spPr>
      </p:sp>
      <p:sp>
        <p:nvSpPr>
          <p:cNvPr id="12" name="Shape 10"/>
          <p:cNvSpPr/>
          <p:nvPr/>
        </p:nvSpPr>
        <p:spPr>
          <a:xfrm>
            <a:off x="411480" y="1682496"/>
            <a:ext cx="54864" cy="713232"/>
          </a:xfrm>
          <a:prstGeom prst="rect">
            <a:avLst/>
          </a:prstGeom>
          <a:solidFill>
            <a:srgbClr val="1428A0"/>
          </a:solidFill>
          <a:ln w="12700">
            <a:solidFill>
              <a:srgbClr val="1428A0"/>
            </a:solidFill>
            <a:prstDash val="solid"/>
          </a:ln>
        </p:spPr>
      </p:sp>
      <p:sp>
        <p:nvSpPr>
          <p:cNvPr id="13" name="Text 11"/>
          <p:cNvSpPr/>
          <p:nvPr/>
        </p:nvSpPr>
        <p:spPr>
          <a:xfrm>
            <a:off x="512064" y="1719072"/>
            <a:ext cx="384048" cy="274320"/>
          </a:xfrm>
          <a:prstGeom prst="rect">
            <a:avLst/>
          </a:prstGeom>
          <a:noFill/>
          <a:ln/>
        </p:spPr>
        <p:txBody>
          <a:bodyPr wrap="square" lIns="0" tIns="0" rIns="0" bIns="0" rtlCol="0" anchor="ctr"/>
          <a:lstStyle/>
          <a:p>
            <a:pPr indent="0" marL="0">
              <a:buNone/>
            </a:pPr>
            <a:r>
              <a:rPr lang="en-US" sz="900" b="1" dirty="0">
                <a:solidFill>
                  <a:srgbClr val="8A94A8"/>
                </a:solidFill>
              </a:rPr>
              <a:t>02</a:t>
            </a:r>
            <a:endParaRPr lang="en-US" sz="900" dirty="0"/>
          </a:p>
        </p:txBody>
      </p:sp>
      <p:sp>
        <p:nvSpPr>
          <p:cNvPr id="14" name="Text 12"/>
          <p:cNvSpPr/>
          <p:nvPr/>
        </p:nvSpPr>
        <p:spPr>
          <a:xfrm>
            <a:off x="512064" y="1737360"/>
            <a:ext cx="4663440" cy="256032"/>
          </a:xfrm>
          <a:prstGeom prst="rect">
            <a:avLst/>
          </a:prstGeom>
          <a:noFill/>
          <a:ln/>
        </p:spPr>
        <p:txBody>
          <a:bodyPr wrap="square" lIns="0" tIns="0" rIns="0" bIns="0" rtlCol="0" anchor="ctr"/>
          <a:lstStyle/>
          <a:p>
            <a:pPr indent="0" marL="0">
              <a:buNone/>
            </a:pPr>
            <a:r>
              <a:rPr lang="en-US" sz="1150" b="1" dirty="0">
                <a:solidFill>
                  <a:srgbClr val="1428A0"/>
                </a:solidFill>
              </a:rPr>
              <a:t>Manual Review Bottleneck</a:t>
            </a:r>
            <a:endParaRPr lang="en-US" sz="1150" dirty="0"/>
          </a:p>
        </p:txBody>
      </p:sp>
      <p:sp>
        <p:nvSpPr>
          <p:cNvPr id="15" name="Text 13"/>
          <p:cNvSpPr/>
          <p:nvPr/>
        </p:nvSpPr>
        <p:spPr>
          <a:xfrm>
            <a:off x="512064" y="2002536"/>
            <a:ext cx="5074920" cy="347472"/>
          </a:xfrm>
          <a:prstGeom prst="rect">
            <a:avLst/>
          </a:prstGeom>
          <a:noFill/>
          <a:ln/>
        </p:spPr>
        <p:txBody>
          <a:bodyPr wrap="square" lIns="0" tIns="0" rIns="0" bIns="0" rtlCol="0" anchor="ctr"/>
          <a:lstStyle/>
          <a:p>
            <a:pPr indent="0" marL="0">
              <a:buNone/>
            </a:pPr>
            <a:r>
              <a:rPr lang="en-US" sz="950" dirty="0">
                <a:solidFill>
                  <a:srgbClr val="4A5568"/>
                </a:solidFill>
              </a:rPr>
              <a:t>Each claim is a multi-image document. Reviewers manually parse handwritten / printed details across claim types, introducing delay and inconsistency.</a:t>
            </a:r>
            <a:endParaRPr lang="en-US" sz="950" dirty="0"/>
          </a:p>
        </p:txBody>
      </p:sp>
      <p:sp>
        <p:nvSpPr>
          <p:cNvPr id="16" name="Shape 14"/>
          <p:cNvSpPr/>
          <p:nvPr/>
        </p:nvSpPr>
        <p:spPr>
          <a:xfrm>
            <a:off x="411480" y="2496312"/>
            <a:ext cx="5303520" cy="713232"/>
          </a:xfrm>
          <a:prstGeom prst="rect">
            <a:avLst/>
          </a:prstGeom>
          <a:solidFill>
            <a:srgbClr val="F8F9FC"/>
          </a:solidFill>
          <a:ln w="12700">
            <a:solidFill>
              <a:srgbClr val="D1D9E6"/>
            </a:solidFill>
            <a:prstDash val="solid"/>
          </a:ln>
          <a:effectLst>
            <a:outerShdw sx="100000" sy="100000" kx="0" ky="0" algn="bl" rotWithShape="0" blurRad="76200" dist="25400" dir="8100000">
              <a:srgbClr val="000000">
                <a:alpha val="8000"/>
              </a:srgbClr>
            </a:outerShdw>
          </a:effectLst>
        </p:spPr>
      </p:sp>
      <p:sp>
        <p:nvSpPr>
          <p:cNvPr id="17" name="Shape 15"/>
          <p:cNvSpPr/>
          <p:nvPr/>
        </p:nvSpPr>
        <p:spPr>
          <a:xfrm>
            <a:off x="411480" y="2496312"/>
            <a:ext cx="54864" cy="713232"/>
          </a:xfrm>
          <a:prstGeom prst="rect">
            <a:avLst/>
          </a:prstGeom>
          <a:solidFill>
            <a:srgbClr val="1428A0"/>
          </a:solidFill>
          <a:ln w="12700">
            <a:solidFill>
              <a:srgbClr val="1428A0"/>
            </a:solidFill>
            <a:prstDash val="solid"/>
          </a:ln>
        </p:spPr>
      </p:sp>
      <p:sp>
        <p:nvSpPr>
          <p:cNvPr id="18" name="Text 16"/>
          <p:cNvSpPr/>
          <p:nvPr/>
        </p:nvSpPr>
        <p:spPr>
          <a:xfrm>
            <a:off x="512064" y="2532888"/>
            <a:ext cx="384048" cy="274320"/>
          </a:xfrm>
          <a:prstGeom prst="rect">
            <a:avLst/>
          </a:prstGeom>
          <a:noFill/>
          <a:ln/>
        </p:spPr>
        <p:txBody>
          <a:bodyPr wrap="square" lIns="0" tIns="0" rIns="0" bIns="0" rtlCol="0" anchor="ctr"/>
          <a:lstStyle/>
          <a:p>
            <a:pPr indent="0" marL="0">
              <a:buNone/>
            </a:pPr>
            <a:r>
              <a:rPr lang="en-US" sz="900" b="1" dirty="0">
                <a:solidFill>
                  <a:srgbClr val="8A94A8"/>
                </a:solidFill>
              </a:rPr>
              <a:t>03</a:t>
            </a:r>
            <a:endParaRPr lang="en-US" sz="900" dirty="0"/>
          </a:p>
        </p:txBody>
      </p:sp>
      <p:sp>
        <p:nvSpPr>
          <p:cNvPr id="19" name="Text 17"/>
          <p:cNvSpPr/>
          <p:nvPr/>
        </p:nvSpPr>
        <p:spPr>
          <a:xfrm>
            <a:off x="512064" y="2551176"/>
            <a:ext cx="4663440" cy="256032"/>
          </a:xfrm>
          <a:prstGeom prst="rect">
            <a:avLst/>
          </a:prstGeom>
          <a:noFill/>
          <a:ln/>
        </p:spPr>
        <p:txBody>
          <a:bodyPr wrap="square" lIns="0" tIns="0" rIns="0" bIns="0" rtlCol="0" anchor="ctr"/>
          <a:lstStyle/>
          <a:p>
            <a:pPr indent="0" marL="0">
              <a:buNone/>
            </a:pPr>
            <a:r>
              <a:rPr lang="en-US" sz="1150" b="1" dirty="0">
                <a:solidFill>
                  <a:srgbClr val="1428A0"/>
                </a:solidFill>
              </a:rPr>
              <a:t>FOC Revenue Leakage</a:t>
            </a:r>
            <a:endParaRPr lang="en-US" sz="1150" dirty="0"/>
          </a:p>
        </p:txBody>
      </p:sp>
      <p:sp>
        <p:nvSpPr>
          <p:cNvPr id="20" name="Text 18"/>
          <p:cNvSpPr/>
          <p:nvPr/>
        </p:nvSpPr>
        <p:spPr>
          <a:xfrm>
            <a:off x="512064" y="2816352"/>
            <a:ext cx="5074920" cy="347472"/>
          </a:xfrm>
          <a:prstGeom prst="rect">
            <a:avLst/>
          </a:prstGeom>
          <a:noFill/>
          <a:ln/>
        </p:spPr>
        <p:txBody>
          <a:bodyPr wrap="square" lIns="0" tIns="0" rIns="0" bIns="0" rtlCol="0" anchor="ctr"/>
          <a:lstStyle/>
          <a:p>
            <a:pPr indent="0" marL="0">
              <a:buNone/>
            </a:pPr>
            <a:r>
              <a:rPr lang="en-US" sz="950" dirty="0">
                <a:solidFill>
                  <a:srgbClr val="4A5568"/>
                </a:solidFill>
              </a:rPr>
              <a:t>Claims chargeable to Samsung for Free-of-Charge (FOC) repairs must be precisely validated. Errors in approval result in direct financial loss.</a:t>
            </a:r>
            <a:endParaRPr lang="en-US" sz="950" dirty="0"/>
          </a:p>
        </p:txBody>
      </p:sp>
      <p:sp>
        <p:nvSpPr>
          <p:cNvPr id="21" name="Shape 19"/>
          <p:cNvSpPr/>
          <p:nvPr/>
        </p:nvSpPr>
        <p:spPr>
          <a:xfrm>
            <a:off x="411480" y="3310128"/>
            <a:ext cx="5303520" cy="713232"/>
          </a:xfrm>
          <a:prstGeom prst="rect">
            <a:avLst/>
          </a:prstGeom>
          <a:solidFill>
            <a:srgbClr val="F8F9FC"/>
          </a:solidFill>
          <a:ln w="12700">
            <a:solidFill>
              <a:srgbClr val="D1D9E6"/>
            </a:solidFill>
            <a:prstDash val="solid"/>
          </a:ln>
          <a:effectLst>
            <a:outerShdw sx="100000" sy="100000" kx="0" ky="0" algn="bl" rotWithShape="0" blurRad="76200" dist="25400" dir="8100000">
              <a:srgbClr val="000000">
                <a:alpha val="8000"/>
              </a:srgbClr>
            </a:outerShdw>
          </a:effectLst>
        </p:spPr>
      </p:sp>
      <p:sp>
        <p:nvSpPr>
          <p:cNvPr id="22" name="Shape 20"/>
          <p:cNvSpPr/>
          <p:nvPr/>
        </p:nvSpPr>
        <p:spPr>
          <a:xfrm>
            <a:off x="411480" y="3310128"/>
            <a:ext cx="54864" cy="713232"/>
          </a:xfrm>
          <a:prstGeom prst="rect">
            <a:avLst/>
          </a:prstGeom>
          <a:solidFill>
            <a:srgbClr val="1428A0"/>
          </a:solidFill>
          <a:ln w="12700">
            <a:solidFill>
              <a:srgbClr val="1428A0"/>
            </a:solidFill>
            <a:prstDash val="solid"/>
          </a:ln>
        </p:spPr>
      </p:sp>
      <p:sp>
        <p:nvSpPr>
          <p:cNvPr id="23" name="Text 21"/>
          <p:cNvSpPr/>
          <p:nvPr/>
        </p:nvSpPr>
        <p:spPr>
          <a:xfrm>
            <a:off x="512064" y="3346704"/>
            <a:ext cx="384048" cy="274320"/>
          </a:xfrm>
          <a:prstGeom prst="rect">
            <a:avLst/>
          </a:prstGeom>
          <a:noFill/>
          <a:ln/>
        </p:spPr>
        <p:txBody>
          <a:bodyPr wrap="square" lIns="0" tIns="0" rIns="0" bIns="0" rtlCol="0" anchor="ctr"/>
          <a:lstStyle/>
          <a:p>
            <a:pPr indent="0" marL="0">
              <a:buNone/>
            </a:pPr>
            <a:r>
              <a:rPr lang="en-US" sz="900" b="1" dirty="0">
                <a:solidFill>
                  <a:srgbClr val="8A94A8"/>
                </a:solidFill>
              </a:rPr>
              <a:t>04</a:t>
            </a:r>
            <a:endParaRPr lang="en-US" sz="900" dirty="0"/>
          </a:p>
        </p:txBody>
      </p:sp>
      <p:sp>
        <p:nvSpPr>
          <p:cNvPr id="24" name="Text 22"/>
          <p:cNvSpPr/>
          <p:nvPr/>
        </p:nvSpPr>
        <p:spPr>
          <a:xfrm>
            <a:off x="512064" y="3364992"/>
            <a:ext cx="4663440" cy="256032"/>
          </a:xfrm>
          <a:prstGeom prst="rect">
            <a:avLst/>
          </a:prstGeom>
          <a:noFill/>
          <a:ln/>
        </p:spPr>
        <p:txBody>
          <a:bodyPr wrap="square" lIns="0" tIns="0" rIns="0" bIns="0" rtlCol="0" anchor="ctr"/>
          <a:lstStyle/>
          <a:p>
            <a:pPr indent="0" marL="0">
              <a:buNone/>
            </a:pPr>
            <a:r>
              <a:rPr lang="en-US" sz="1150" b="1" dirty="0">
                <a:solidFill>
                  <a:srgbClr val="1428A0"/>
                </a:solidFill>
              </a:rPr>
              <a:t>Zero Audit Trail</a:t>
            </a:r>
            <a:endParaRPr lang="en-US" sz="1150" dirty="0"/>
          </a:p>
        </p:txBody>
      </p:sp>
      <p:sp>
        <p:nvSpPr>
          <p:cNvPr id="25" name="Text 23"/>
          <p:cNvSpPr/>
          <p:nvPr/>
        </p:nvSpPr>
        <p:spPr>
          <a:xfrm>
            <a:off x="512064" y="3630168"/>
            <a:ext cx="5074920" cy="347472"/>
          </a:xfrm>
          <a:prstGeom prst="rect">
            <a:avLst/>
          </a:prstGeom>
          <a:noFill/>
          <a:ln/>
        </p:spPr>
        <p:txBody>
          <a:bodyPr wrap="square" lIns="0" tIns="0" rIns="0" bIns="0" rtlCol="0" anchor="ctr"/>
          <a:lstStyle/>
          <a:p>
            <a:pPr indent="0" marL="0">
              <a:buNone/>
            </a:pPr>
            <a:r>
              <a:rPr lang="en-US" sz="950" dirty="0">
                <a:solidFill>
                  <a:srgbClr val="4A5568"/>
                </a:solidFill>
              </a:rPr>
              <a:t>Manual reviews leave no structured evidence of decision-making, creating compliance risk and limiting dispute resolution capability.</a:t>
            </a:r>
            <a:endParaRPr lang="en-US" sz="950" dirty="0"/>
          </a:p>
        </p:txBody>
      </p:sp>
      <p:sp>
        <p:nvSpPr>
          <p:cNvPr id="26" name="Shape 24"/>
          <p:cNvSpPr/>
          <p:nvPr/>
        </p:nvSpPr>
        <p:spPr>
          <a:xfrm>
            <a:off x="411480" y="4123944"/>
            <a:ext cx="5303520" cy="713232"/>
          </a:xfrm>
          <a:prstGeom prst="rect">
            <a:avLst/>
          </a:prstGeom>
          <a:solidFill>
            <a:srgbClr val="F8F9FC"/>
          </a:solidFill>
          <a:ln w="12700">
            <a:solidFill>
              <a:srgbClr val="D1D9E6"/>
            </a:solidFill>
            <a:prstDash val="solid"/>
          </a:ln>
          <a:effectLst>
            <a:outerShdw sx="100000" sy="100000" kx="0" ky="0" algn="bl" rotWithShape="0" blurRad="76200" dist="25400" dir="8100000">
              <a:srgbClr val="000000">
                <a:alpha val="8000"/>
              </a:srgbClr>
            </a:outerShdw>
          </a:effectLst>
        </p:spPr>
      </p:sp>
      <p:sp>
        <p:nvSpPr>
          <p:cNvPr id="27" name="Shape 25"/>
          <p:cNvSpPr/>
          <p:nvPr/>
        </p:nvSpPr>
        <p:spPr>
          <a:xfrm>
            <a:off x="411480" y="4123944"/>
            <a:ext cx="54864" cy="713232"/>
          </a:xfrm>
          <a:prstGeom prst="rect">
            <a:avLst/>
          </a:prstGeom>
          <a:solidFill>
            <a:srgbClr val="1428A0"/>
          </a:solidFill>
          <a:ln w="12700">
            <a:solidFill>
              <a:srgbClr val="1428A0"/>
            </a:solidFill>
            <a:prstDash val="solid"/>
          </a:ln>
        </p:spPr>
      </p:sp>
      <p:sp>
        <p:nvSpPr>
          <p:cNvPr id="28" name="Text 26"/>
          <p:cNvSpPr/>
          <p:nvPr/>
        </p:nvSpPr>
        <p:spPr>
          <a:xfrm>
            <a:off x="512064" y="4160520"/>
            <a:ext cx="384048" cy="274320"/>
          </a:xfrm>
          <a:prstGeom prst="rect">
            <a:avLst/>
          </a:prstGeom>
          <a:noFill/>
          <a:ln/>
        </p:spPr>
        <p:txBody>
          <a:bodyPr wrap="square" lIns="0" tIns="0" rIns="0" bIns="0" rtlCol="0" anchor="ctr"/>
          <a:lstStyle/>
          <a:p>
            <a:pPr indent="0" marL="0">
              <a:buNone/>
            </a:pPr>
            <a:r>
              <a:rPr lang="en-US" sz="900" b="1" dirty="0">
                <a:solidFill>
                  <a:srgbClr val="8A94A8"/>
                </a:solidFill>
              </a:rPr>
              <a:t>05</a:t>
            </a:r>
            <a:endParaRPr lang="en-US" sz="900" dirty="0"/>
          </a:p>
        </p:txBody>
      </p:sp>
      <p:sp>
        <p:nvSpPr>
          <p:cNvPr id="29" name="Text 27"/>
          <p:cNvSpPr/>
          <p:nvPr/>
        </p:nvSpPr>
        <p:spPr>
          <a:xfrm>
            <a:off x="512064" y="4178808"/>
            <a:ext cx="4663440" cy="256032"/>
          </a:xfrm>
          <a:prstGeom prst="rect">
            <a:avLst/>
          </a:prstGeom>
          <a:noFill/>
          <a:ln/>
        </p:spPr>
        <p:txBody>
          <a:bodyPr wrap="square" lIns="0" tIns="0" rIns="0" bIns="0" rtlCol="0" anchor="ctr"/>
          <a:lstStyle/>
          <a:p>
            <a:pPr indent="0" marL="0">
              <a:buNone/>
            </a:pPr>
            <a:r>
              <a:rPr lang="en-US" sz="1150" b="1" dirty="0">
                <a:solidFill>
                  <a:srgbClr val="1428A0"/>
                </a:solidFill>
              </a:rPr>
              <a:t>No Scalability</a:t>
            </a:r>
            <a:endParaRPr lang="en-US" sz="1150" dirty="0"/>
          </a:p>
        </p:txBody>
      </p:sp>
      <p:sp>
        <p:nvSpPr>
          <p:cNvPr id="30" name="Text 28"/>
          <p:cNvSpPr/>
          <p:nvPr/>
        </p:nvSpPr>
        <p:spPr>
          <a:xfrm>
            <a:off x="512064" y="4443984"/>
            <a:ext cx="5074920" cy="347472"/>
          </a:xfrm>
          <a:prstGeom prst="rect">
            <a:avLst/>
          </a:prstGeom>
          <a:noFill/>
          <a:ln/>
        </p:spPr>
        <p:txBody>
          <a:bodyPr wrap="square" lIns="0" tIns="0" rIns="0" bIns="0" rtlCol="0" anchor="ctr"/>
          <a:lstStyle/>
          <a:p>
            <a:pPr indent="0" marL="0">
              <a:buNone/>
            </a:pPr>
            <a:r>
              <a:rPr lang="en-US" sz="950" dirty="0">
                <a:solidFill>
                  <a:srgbClr val="4A5568"/>
                </a:solidFill>
              </a:rPr>
              <a:t>Volume is projected to grow 20–30% annually. The current process has no headroom — additional headcount is neither efficient nor sustainable.</a:t>
            </a:r>
            <a:endParaRPr lang="en-US" sz="950" dirty="0"/>
          </a:p>
        </p:txBody>
      </p:sp>
      <p:sp>
        <p:nvSpPr>
          <p:cNvPr id="31" name="Shape 29"/>
          <p:cNvSpPr/>
          <p:nvPr/>
        </p:nvSpPr>
        <p:spPr>
          <a:xfrm>
            <a:off x="5989320" y="868680"/>
            <a:ext cx="2834640" cy="4069080"/>
          </a:xfrm>
          <a:prstGeom prst="rect">
            <a:avLst/>
          </a:prstGeom>
          <a:solidFill>
            <a:srgbClr val="E8EBFA"/>
          </a:solidFill>
          <a:ln w="12700">
            <a:solidFill>
              <a:srgbClr val="1428A0"/>
            </a:solidFill>
            <a:prstDash val="solid"/>
          </a:ln>
          <a:effectLst>
            <a:outerShdw sx="100000" sy="100000" kx="0" ky="0" algn="bl" rotWithShape="0" blurRad="127000" dist="38100" dir="8100000">
              <a:srgbClr val="000000">
                <a:alpha val="10000"/>
              </a:srgbClr>
            </a:outerShdw>
          </a:effectLst>
        </p:spPr>
      </p:sp>
      <p:sp>
        <p:nvSpPr>
          <p:cNvPr id="32" name="Text 30"/>
          <p:cNvSpPr/>
          <p:nvPr/>
        </p:nvSpPr>
        <p:spPr>
          <a:xfrm>
            <a:off x="5989320" y="960120"/>
            <a:ext cx="2834640" cy="320040"/>
          </a:xfrm>
          <a:prstGeom prst="rect">
            <a:avLst/>
          </a:prstGeom>
          <a:noFill/>
          <a:ln/>
        </p:spPr>
        <p:txBody>
          <a:bodyPr wrap="square" lIns="0" tIns="0" rIns="0" bIns="0" rtlCol="0" anchor="ctr"/>
          <a:lstStyle/>
          <a:p>
            <a:pPr algn="ctr" indent="0" marL="0">
              <a:buNone/>
            </a:pPr>
            <a:r>
              <a:rPr lang="en-US" sz="950" b="1" spc="100" kern="0" dirty="0">
                <a:solidFill>
                  <a:srgbClr val="1428A0"/>
                </a:solidFill>
              </a:rPr>
              <a:t>CURRENT STATE</a:t>
            </a:r>
            <a:endParaRPr lang="en-US" sz="950" dirty="0"/>
          </a:p>
        </p:txBody>
      </p:sp>
      <p:sp>
        <p:nvSpPr>
          <p:cNvPr id="33" name="Shape 31"/>
          <p:cNvSpPr/>
          <p:nvPr/>
        </p:nvSpPr>
        <p:spPr>
          <a:xfrm>
            <a:off x="6217920" y="1325880"/>
            <a:ext cx="2377440" cy="27432"/>
          </a:xfrm>
          <a:prstGeom prst="rect">
            <a:avLst/>
          </a:prstGeom>
          <a:solidFill>
            <a:srgbClr val="D1D9E6"/>
          </a:solidFill>
          <a:ln w="12700">
            <a:solidFill>
              <a:srgbClr val="D1D9E6"/>
            </a:solidFill>
            <a:prstDash val="solid"/>
          </a:ln>
        </p:spPr>
      </p:sp>
      <p:sp>
        <p:nvSpPr>
          <p:cNvPr id="34" name="Shape 32"/>
          <p:cNvSpPr/>
          <p:nvPr/>
        </p:nvSpPr>
        <p:spPr>
          <a:xfrm>
            <a:off x="6172200" y="1463040"/>
            <a:ext cx="2468880" cy="749808"/>
          </a:xfrm>
          <a:prstGeom prst="rect">
            <a:avLst/>
          </a:prstGeom>
          <a:solidFill>
            <a:srgbClr val="FFFFFF"/>
          </a:solidFill>
          <a:ln w="12700">
            <a:solidFill>
              <a:srgbClr val="D1D9E6"/>
            </a:solidFill>
            <a:prstDash val="solid"/>
          </a:ln>
          <a:effectLst>
            <a:outerShdw sx="100000" sy="100000" kx="0" ky="0" algn="bl" rotWithShape="0" blurRad="76200" dist="25400" dir="8100000">
              <a:srgbClr val="000000">
                <a:alpha val="8000"/>
              </a:srgbClr>
            </a:outerShdw>
          </a:effectLst>
        </p:spPr>
      </p:sp>
      <p:sp>
        <p:nvSpPr>
          <p:cNvPr id="35" name="Text 33"/>
          <p:cNvSpPr/>
          <p:nvPr/>
        </p:nvSpPr>
        <p:spPr>
          <a:xfrm>
            <a:off x="6172200" y="1517904"/>
            <a:ext cx="2468880" cy="365760"/>
          </a:xfrm>
          <a:prstGeom prst="rect">
            <a:avLst/>
          </a:prstGeom>
          <a:noFill/>
          <a:ln/>
        </p:spPr>
        <p:txBody>
          <a:bodyPr wrap="square" lIns="0" tIns="0" rIns="0" bIns="0" rtlCol="0" anchor="ctr"/>
          <a:lstStyle/>
          <a:p>
            <a:pPr algn="ctr" indent="0" marL="0">
              <a:buNone/>
            </a:pPr>
            <a:r>
              <a:rPr lang="en-US" sz="2200" b="1" dirty="0">
                <a:solidFill>
                  <a:srgbClr val="1428A0"/>
                </a:solidFill>
              </a:rPr>
              <a:t>9 Lakh+</a:t>
            </a:r>
            <a:endParaRPr lang="en-US" sz="2200" dirty="0"/>
          </a:p>
        </p:txBody>
      </p:sp>
      <p:sp>
        <p:nvSpPr>
          <p:cNvPr id="36" name="Text 34"/>
          <p:cNvSpPr/>
          <p:nvPr/>
        </p:nvSpPr>
        <p:spPr>
          <a:xfrm>
            <a:off x="6172200" y="1883664"/>
            <a:ext cx="2468880" cy="182880"/>
          </a:xfrm>
          <a:prstGeom prst="rect">
            <a:avLst/>
          </a:prstGeom>
          <a:noFill/>
          <a:ln/>
        </p:spPr>
        <p:txBody>
          <a:bodyPr wrap="square" lIns="0" tIns="0" rIns="0" bIns="0" rtlCol="0" anchor="ctr"/>
          <a:lstStyle/>
          <a:p>
            <a:pPr algn="ctr" indent="0" marL="0">
              <a:buNone/>
            </a:pPr>
            <a:r>
              <a:rPr lang="en-US" sz="950" b="1" dirty="0">
                <a:solidFill>
                  <a:srgbClr val="1A202C"/>
                </a:solidFill>
              </a:rPr>
              <a:t>Claims / Month</a:t>
            </a:r>
            <a:endParaRPr lang="en-US" sz="950" dirty="0"/>
          </a:p>
        </p:txBody>
      </p:sp>
      <p:sp>
        <p:nvSpPr>
          <p:cNvPr id="37" name="Text 35"/>
          <p:cNvSpPr/>
          <p:nvPr/>
        </p:nvSpPr>
        <p:spPr>
          <a:xfrm>
            <a:off x="6172200" y="2048256"/>
            <a:ext cx="2468880" cy="137160"/>
          </a:xfrm>
          <a:prstGeom prst="rect">
            <a:avLst/>
          </a:prstGeom>
          <a:noFill/>
          <a:ln/>
        </p:spPr>
        <p:txBody>
          <a:bodyPr wrap="square" lIns="0" tIns="0" rIns="0" bIns="0" rtlCol="0" anchor="ctr"/>
          <a:lstStyle/>
          <a:p>
            <a:pPr algn="ctr" indent="0" marL="0">
              <a:buNone/>
            </a:pPr>
            <a:r>
              <a:rPr lang="en-US" sz="800" dirty="0">
                <a:solidFill>
                  <a:srgbClr val="8A94A8"/>
                </a:solidFill>
              </a:rPr>
              <a:t>FY2025 avg</a:t>
            </a:r>
            <a:endParaRPr lang="en-US" sz="800" dirty="0"/>
          </a:p>
        </p:txBody>
      </p:sp>
      <p:sp>
        <p:nvSpPr>
          <p:cNvPr id="38" name="Shape 36"/>
          <p:cNvSpPr/>
          <p:nvPr/>
        </p:nvSpPr>
        <p:spPr>
          <a:xfrm>
            <a:off x="6172200" y="2322576"/>
            <a:ext cx="2468880" cy="749808"/>
          </a:xfrm>
          <a:prstGeom prst="rect">
            <a:avLst/>
          </a:prstGeom>
          <a:solidFill>
            <a:srgbClr val="FFFFFF"/>
          </a:solidFill>
          <a:ln w="12700">
            <a:solidFill>
              <a:srgbClr val="D1D9E6"/>
            </a:solidFill>
            <a:prstDash val="solid"/>
          </a:ln>
          <a:effectLst>
            <a:outerShdw sx="100000" sy="100000" kx="0" ky="0" algn="bl" rotWithShape="0" blurRad="76200" dist="25400" dir="8100000">
              <a:srgbClr val="000000">
                <a:alpha val="8000"/>
              </a:srgbClr>
            </a:outerShdw>
          </a:effectLst>
        </p:spPr>
      </p:sp>
      <p:sp>
        <p:nvSpPr>
          <p:cNvPr id="39" name="Text 37"/>
          <p:cNvSpPr/>
          <p:nvPr/>
        </p:nvSpPr>
        <p:spPr>
          <a:xfrm>
            <a:off x="6172200" y="2377440"/>
            <a:ext cx="2468880" cy="365760"/>
          </a:xfrm>
          <a:prstGeom prst="rect">
            <a:avLst/>
          </a:prstGeom>
          <a:noFill/>
          <a:ln/>
        </p:spPr>
        <p:txBody>
          <a:bodyPr wrap="square" lIns="0" tIns="0" rIns="0" bIns="0" rtlCol="0" anchor="ctr"/>
          <a:lstStyle/>
          <a:p>
            <a:pPr algn="ctr" indent="0" marL="0">
              <a:buNone/>
            </a:pPr>
            <a:r>
              <a:rPr lang="en-US" sz="2200" b="1" dirty="0">
                <a:solidFill>
                  <a:srgbClr val="1428A0"/>
                </a:solidFill>
              </a:rPr>
              <a:t>100%</a:t>
            </a:r>
            <a:endParaRPr lang="en-US" sz="2200" dirty="0"/>
          </a:p>
        </p:txBody>
      </p:sp>
      <p:sp>
        <p:nvSpPr>
          <p:cNvPr id="40" name="Text 38"/>
          <p:cNvSpPr/>
          <p:nvPr/>
        </p:nvSpPr>
        <p:spPr>
          <a:xfrm>
            <a:off x="6172200" y="2743200"/>
            <a:ext cx="2468880" cy="182880"/>
          </a:xfrm>
          <a:prstGeom prst="rect">
            <a:avLst/>
          </a:prstGeom>
          <a:noFill/>
          <a:ln/>
        </p:spPr>
        <p:txBody>
          <a:bodyPr wrap="square" lIns="0" tIns="0" rIns="0" bIns="0" rtlCol="0" anchor="ctr"/>
          <a:lstStyle/>
          <a:p>
            <a:pPr algn="ctr" indent="0" marL="0">
              <a:buNone/>
            </a:pPr>
            <a:r>
              <a:rPr lang="en-US" sz="950" b="1" dirty="0">
                <a:solidFill>
                  <a:srgbClr val="1A202C"/>
                </a:solidFill>
              </a:rPr>
              <a:t>Manual Review</a:t>
            </a:r>
            <a:endParaRPr lang="en-US" sz="950" dirty="0"/>
          </a:p>
        </p:txBody>
      </p:sp>
      <p:sp>
        <p:nvSpPr>
          <p:cNvPr id="41" name="Text 39"/>
          <p:cNvSpPr/>
          <p:nvPr/>
        </p:nvSpPr>
        <p:spPr>
          <a:xfrm>
            <a:off x="6172200" y="2907792"/>
            <a:ext cx="2468880" cy="137160"/>
          </a:xfrm>
          <a:prstGeom prst="rect">
            <a:avLst/>
          </a:prstGeom>
          <a:noFill/>
          <a:ln/>
        </p:spPr>
        <p:txBody>
          <a:bodyPr wrap="square" lIns="0" tIns="0" rIns="0" bIns="0" rtlCol="0" anchor="ctr"/>
          <a:lstStyle/>
          <a:p>
            <a:pPr algn="ctr" indent="0" marL="0">
              <a:buNone/>
            </a:pPr>
            <a:r>
              <a:rPr lang="en-US" sz="800" dirty="0">
                <a:solidFill>
                  <a:srgbClr val="8A94A8"/>
                </a:solidFill>
              </a:rPr>
              <a:t>No automation</a:t>
            </a:r>
            <a:endParaRPr lang="en-US" sz="800" dirty="0"/>
          </a:p>
        </p:txBody>
      </p:sp>
      <p:sp>
        <p:nvSpPr>
          <p:cNvPr id="42" name="Shape 40"/>
          <p:cNvSpPr/>
          <p:nvPr/>
        </p:nvSpPr>
        <p:spPr>
          <a:xfrm>
            <a:off x="6172200" y="3182112"/>
            <a:ext cx="2468880" cy="749808"/>
          </a:xfrm>
          <a:prstGeom prst="rect">
            <a:avLst/>
          </a:prstGeom>
          <a:solidFill>
            <a:srgbClr val="FFFFFF"/>
          </a:solidFill>
          <a:ln w="12700">
            <a:solidFill>
              <a:srgbClr val="D1D9E6"/>
            </a:solidFill>
            <a:prstDash val="solid"/>
          </a:ln>
          <a:effectLst>
            <a:outerShdw sx="100000" sy="100000" kx="0" ky="0" algn="bl" rotWithShape="0" blurRad="76200" dist="25400" dir="8100000">
              <a:srgbClr val="000000">
                <a:alpha val="8000"/>
              </a:srgbClr>
            </a:outerShdw>
          </a:effectLst>
        </p:spPr>
      </p:sp>
      <p:sp>
        <p:nvSpPr>
          <p:cNvPr id="43" name="Text 41"/>
          <p:cNvSpPr/>
          <p:nvPr/>
        </p:nvSpPr>
        <p:spPr>
          <a:xfrm>
            <a:off x="6172200" y="3236976"/>
            <a:ext cx="2468880" cy="365760"/>
          </a:xfrm>
          <a:prstGeom prst="rect">
            <a:avLst/>
          </a:prstGeom>
          <a:noFill/>
          <a:ln/>
        </p:spPr>
        <p:txBody>
          <a:bodyPr wrap="square" lIns="0" tIns="0" rIns="0" bIns="0" rtlCol="0" anchor="ctr"/>
          <a:lstStyle/>
          <a:p>
            <a:pPr algn="ctr" indent="0" marL="0">
              <a:buNone/>
            </a:pPr>
            <a:r>
              <a:rPr lang="en-US" sz="2200" b="1" dirty="0">
                <a:solidFill>
                  <a:srgbClr val="1428A0"/>
                </a:solidFill>
              </a:rPr>
              <a:t>5 Types</a:t>
            </a:r>
            <a:endParaRPr lang="en-US" sz="2200" dirty="0"/>
          </a:p>
        </p:txBody>
      </p:sp>
      <p:sp>
        <p:nvSpPr>
          <p:cNvPr id="44" name="Text 42"/>
          <p:cNvSpPr/>
          <p:nvPr/>
        </p:nvSpPr>
        <p:spPr>
          <a:xfrm>
            <a:off x="6172200" y="3602736"/>
            <a:ext cx="2468880" cy="182880"/>
          </a:xfrm>
          <a:prstGeom prst="rect">
            <a:avLst/>
          </a:prstGeom>
          <a:noFill/>
          <a:ln/>
        </p:spPr>
        <p:txBody>
          <a:bodyPr wrap="square" lIns="0" tIns="0" rIns="0" bIns="0" rtlCol="0" anchor="ctr"/>
          <a:lstStyle/>
          <a:p>
            <a:pPr algn="ctr" indent="0" marL="0">
              <a:buNone/>
            </a:pPr>
            <a:r>
              <a:rPr lang="en-US" sz="950" b="1" dirty="0">
                <a:solidFill>
                  <a:srgbClr val="1A202C"/>
                </a:solidFill>
              </a:rPr>
              <a:t>Claim Categories</a:t>
            </a:r>
            <a:endParaRPr lang="en-US" sz="950" dirty="0"/>
          </a:p>
        </p:txBody>
      </p:sp>
      <p:sp>
        <p:nvSpPr>
          <p:cNvPr id="45" name="Text 43"/>
          <p:cNvSpPr/>
          <p:nvPr/>
        </p:nvSpPr>
        <p:spPr>
          <a:xfrm>
            <a:off x="6172200" y="3767328"/>
            <a:ext cx="2468880" cy="137160"/>
          </a:xfrm>
          <a:prstGeom prst="rect">
            <a:avLst/>
          </a:prstGeom>
          <a:noFill/>
          <a:ln/>
        </p:spPr>
        <p:txBody>
          <a:bodyPr wrap="square" lIns="0" tIns="0" rIns="0" bIns="0" rtlCol="0" anchor="ctr"/>
          <a:lstStyle/>
          <a:p>
            <a:pPr algn="ctr" indent="0" marL="0">
              <a:buNone/>
            </a:pPr>
            <a:r>
              <a:rPr lang="en-US" sz="800" dirty="0">
                <a:solidFill>
                  <a:srgbClr val="8A94A8"/>
                </a:solidFill>
              </a:rPr>
              <a:t>Across products</a:t>
            </a:r>
            <a:endParaRPr lang="en-US" sz="800" dirty="0"/>
          </a:p>
        </p:txBody>
      </p:sp>
      <p:sp>
        <p:nvSpPr>
          <p:cNvPr id="46" name="Shape 44"/>
          <p:cNvSpPr/>
          <p:nvPr/>
        </p:nvSpPr>
        <p:spPr>
          <a:xfrm>
            <a:off x="6172200" y="4041648"/>
            <a:ext cx="2468880" cy="749808"/>
          </a:xfrm>
          <a:prstGeom prst="rect">
            <a:avLst/>
          </a:prstGeom>
          <a:solidFill>
            <a:srgbClr val="FFFFFF"/>
          </a:solidFill>
          <a:ln w="12700">
            <a:solidFill>
              <a:srgbClr val="D1D9E6"/>
            </a:solidFill>
            <a:prstDash val="solid"/>
          </a:ln>
          <a:effectLst>
            <a:outerShdw sx="100000" sy="100000" kx="0" ky="0" algn="bl" rotWithShape="0" blurRad="76200" dist="25400" dir="8100000">
              <a:srgbClr val="000000">
                <a:alpha val="8000"/>
              </a:srgbClr>
            </a:outerShdw>
          </a:effectLst>
        </p:spPr>
      </p:sp>
      <p:sp>
        <p:nvSpPr>
          <p:cNvPr id="47" name="Text 45"/>
          <p:cNvSpPr/>
          <p:nvPr/>
        </p:nvSpPr>
        <p:spPr>
          <a:xfrm>
            <a:off x="6172200" y="4096512"/>
            <a:ext cx="2468880" cy="365760"/>
          </a:xfrm>
          <a:prstGeom prst="rect">
            <a:avLst/>
          </a:prstGeom>
          <a:noFill/>
          <a:ln/>
        </p:spPr>
        <p:txBody>
          <a:bodyPr wrap="square" lIns="0" tIns="0" rIns="0" bIns="0" rtlCol="0" anchor="ctr"/>
          <a:lstStyle/>
          <a:p>
            <a:pPr algn="ctr" indent="0" marL="0">
              <a:buNone/>
            </a:pPr>
            <a:r>
              <a:rPr lang="en-US" sz="2200" b="1" dirty="0">
                <a:solidFill>
                  <a:srgbClr val="1428A0"/>
                </a:solidFill>
              </a:rPr>
              <a:t>High</a:t>
            </a:r>
            <a:endParaRPr lang="en-US" sz="2200" dirty="0"/>
          </a:p>
        </p:txBody>
      </p:sp>
      <p:sp>
        <p:nvSpPr>
          <p:cNvPr id="48" name="Text 46"/>
          <p:cNvSpPr/>
          <p:nvPr/>
        </p:nvSpPr>
        <p:spPr>
          <a:xfrm>
            <a:off x="6172200" y="4462272"/>
            <a:ext cx="2468880" cy="182880"/>
          </a:xfrm>
          <a:prstGeom prst="rect">
            <a:avLst/>
          </a:prstGeom>
          <a:noFill/>
          <a:ln/>
        </p:spPr>
        <p:txBody>
          <a:bodyPr wrap="square" lIns="0" tIns="0" rIns="0" bIns="0" rtlCol="0" anchor="ctr"/>
          <a:lstStyle/>
          <a:p>
            <a:pPr algn="ctr" indent="0" marL="0">
              <a:buNone/>
            </a:pPr>
            <a:r>
              <a:rPr lang="en-US" sz="950" b="1" dirty="0">
                <a:solidFill>
                  <a:srgbClr val="1A202C"/>
                </a:solidFill>
              </a:rPr>
              <a:t>Error Risk</a:t>
            </a:r>
            <a:endParaRPr lang="en-US" sz="950" dirty="0"/>
          </a:p>
        </p:txBody>
      </p:sp>
      <p:sp>
        <p:nvSpPr>
          <p:cNvPr id="49" name="Text 47"/>
          <p:cNvSpPr/>
          <p:nvPr/>
        </p:nvSpPr>
        <p:spPr>
          <a:xfrm>
            <a:off x="6172200" y="4626864"/>
            <a:ext cx="2468880" cy="137160"/>
          </a:xfrm>
          <a:prstGeom prst="rect">
            <a:avLst/>
          </a:prstGeom>
          <a:noFill/>
          <a:ln/>
        </p:spPr>
        <p:txBody>
          <a:bodyPr wrap="square" lIns="0" tIns="0" rIns="0" bIns="0" rtlCol="0" anchor="ctr"/>
          <a:lstStyle/>
          <a:p>
            <a:pPr algn="ctr" indent="0" marL="0">
              <a:buNone/>
            </a:pPr>
            <a:r>
              <a:rPr lang="en-US" sz="800" dirty="0">
                <a:solidFill>
                  <a:srgbClr val="8A94A8"/>
                </a:solidFill>
              </a:rPr>
              <a:t>Revenue exposure</a:t>
            </a:r>
            <a:endParaRPr lang="en-US" sz="800" dirty="0"/>
          </a:p>
        </p:txBody>
      </p:sp>
      <p:sp>
        <p:nvSpPr>
          <p:cNvPr id="50" name="Shape 48"/>
          <p:cNvSpPr/>
          <p:nvPr/>
        </p:nvSpPr>
        <p:spPr>
          <a:xfrm>
            <a:off x="0" y="4956048"/>
            <a:ext cx="9144000" cy="182880"/>
          </a:xfrm>
          <a:prstGeom prst="rect">
            <a:avLst/>
          </a:prstGeom>
          <a:solidFill>
            <a:srgbClr val="EDF0F7"/>
          </a:solidFill>
          <a:ln w="12700">
            <a:solidFill>
              <a:srgbClr val="EDF0F7"/>
            </a:solidFill>
            <a:prstDash val="solid"/>
          </a:ln>
        </p:spPr>
      </p:sp>
      <p:sp>
        <p:nvSpPr>
          <p:cNvPr id="51" name="Text 49"/>
          <p:cNvSpPr/>
          <p:nvPr/>
        </p:nvSpPr>
        <p:spPr>
          <a:xfrm>
            <a:off x="0" y="4956048"/>
            <a:ext cx="9144000" cy="182880"/>
          </a:xfrm>
          <a:prstGeom prst="rect">
            <a:avLst/>
          </a:prstGeom>
          <a:noFill/>
          <a:ln/>
        </p:spPr>
        <p:txBody>
          <a:bodyPr wrap="square" lIns="0" tIns="0" rIns="0" bIns="0" rtlCol="0" anchor="ctr"/>
          <a:lstStyle/>
          <a:p>
            <a:pPr algn="ctr" indent="0" marL="0">
              <a:buNone/>
            </a:pPr>
            <a:r>
              <a:rPr lang="en-US" sz="750" dirty="0">
                <a:solidFill>
                  <a:srgbClr val="8A94A8"/>
                </a:solidFill>
              </a:rPr>
              <a:t>CONFIDENTIAL  ·  Project CLARITY  ·  CTO Briefing  ·  May 2025</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428A0"/>
          </a:solidFill>
          <a:ln w="12700">
            <a:solidFill>
              <a:srgbClr val="1428A0"/>
            </a:solidFill>
            <a:prstDash val="solid"/>
          </a:ln>
        </p:spPr>
      </p:sp>
      <p:sp>
        <p:nvSpPr>
          <p:cNvPr id="3" name="Shape 1"/>
          <p:cNvSpPr/>
          <p:nvPr/>
        </p:nvSpPr>
        <p:spPr>
          <a:xfrm>
            <a:off x="0" y="658368"/>
            <a:ext cx="9144000" cy="41148"/>
          </a:xfrm>
          <a:prstGeom prst="rect">
            <a:avLst/>
          </a:prstGeom>
          <a:solidFill>
            <a:srgbClr val="0078D4"/>
          </a:solidFill>
          <a:ln w="12700">
            <a:solidFill>
              <a:srgbClr val="0078D4"/>
            </a:solidFill>
            <a:prstDash val="solid"/>
          </a:ln>
        </p:spPr>
      </p:sp>
      <p:sp>
        <p:nvSpPr>
          <p:cNvPr id="4" name="Text 2"/>
          <p:cNvSpPr/>
          <p:nvPr/>
        </p:nvSpPr>
        <p:spPr>
          <a:xfrm>
            <a:off x="411480" y="0"/>
            <a:ext cx="7315200" cy="658368"/>
          </a:xfrm>
          <a:prstGeom prst="rect">
            <a:avLst/>
          </a:prstGeom>
          <a:noFill/>
          <a:ln/>
        </p:spPr>
        <p:txBody>
          <a:bodyPr wrap="square" lIns="0" tIns="0" rIns="0" bIns="0" rtlCol="0" anchor="ctr"/>
          <a:lstStyle/>
          <a:p>
            <a:pPr indent="0" marL="0">
              <a:buNone/>
            </a:pPr>
            <a:r>
              <a:rPr lang="en-US" sz="1400" b="1" spc="200" kern="0" dirty="0">
                <a:solidFill>
                  <a:srgbClr val="FFFFFF"/>
                </a:solidFill>
              </a:rPr>
              <a:t>SOLUTION ARCHITECTURE</a:t>
            </a:r>
            <a:endParaRPr lang="en-US" sz="1400" dirty="0"/>
          </a:p>
        </p:txBody>
      </p:sp>
      <p:sp>
        <p:nvSpPr>
          <p:cNvPr id="5" name="Text 3"/>
          <p:cNvSpPr/>
          <p:nvPr/>
        </p:nvSpPr>
        <p:spPr>
          <a:xfrm>
            <a:off x="6400800" y="0"/>
            <a:ext cx="2514600" cy="658368"/>
          </a:xfrm>
          <a:prstGeom prst="rect">
            <a:avLst/>
          </a:prstGeom>
          <a:noFill/>
          <a:ln/>
        </p:spPr>
        <p:txBody>
          <a:bodyPr wrap="square" lIns="0" tIns="0" rIns="0" bIns="0" rtlCol="0" anchor="ctr"/>
          <a:lstStyle/>
          <a:p>
            <a:pPr algn="r" indent="0" marL="0">
              <a:buNone/>
            </a:pPr>
            <a:r>
              <a:rPr lang="en-US" sz="900" dirty="0">
                <a:solidFill>
                  <a:srgbClr val="8899CC"/>
                </a:solidFill>
              </a:rPr>
              <a:t>Project CLARITY  ·  Warranty Automation</a:t>
            </a:r>
            <a:endParaRPr lang="en-US" sz="900" dirty="0"/>
          </a:p>
        </p:txBody>
      </p:sp>
      <p:sp>
        <p:nvSpPr>
          <p:cNvPr id="6" name="Shape 4"/>
          <p:cNvSpPr/>
          <p:nvPr/>
        </p:nvSpPr>
        <p:spPr>
          <a:xfrm>
            <a:off x="320040" y="868680"/>
            <a:ext cx="1554480" cy="1188720"/>
          </a:xfrm>
          <a:prstGeom prst="rect">
            <a:avLst/>
          </a:prstGeom>
          <a:solidFill>
            <a:srgbClr val="C05800"/>
          </a:solidFill>
          <a:ln w="12700">
            <a:solidFill>
              <a:srgbClr val="C05800"/>
            </a:solidFill>
            <a:prstDash val="solid"/>
          </a:ln>
          <a:effectLst>
            <a:outerShdw sx="100000" sy="100000" kx="0" ky="0" algn="bl" rotWithShape="0" blurRad="127000" dist="38100" dir="8100000">
              <a:srgbClr val="000000">
                <a:alpha val="10000"/>
              </a:srgbClr>
            </a:outerShdw>
          </a:effectLst>
        </p:spPr>
      </p:sp>
      <p:sp>
        <p:nvSpPr>
          <p:cNvPr id="7" name="Shape 5"/>
          <p:cNvSpPr/>
          <p:nvPr/>
        </p:nvSpPr>
        <p:spPr>
          <a:xfrm>
            <a:off x="393192" y="914400"/>
            <a:ext cx="320040" cy="320040"/>
          </a:xfrm>
          <a:prstGeom prst="ellipse">
            <a:avLst/>
          </a:prstGeom>
          <a:solidFill>
            <a:srgbClr val="000000"/>
          </a:solidFill>
          <a:ln w="12700">
            <a:solidFill>
              <a:srgbClr val="000000"/>
            </a:solidFill>
            <a:prstDash val="solid"/>
          </a:ln>
        </p:spPr>
      </p:sp>
      <p:sp>
        <p:nvSpPr>
          <p:cNvPr id="8" name="Text 6"/>
          <p:cNvSpPr/>
          <p:nvPr/>
        </p:nvSpPr>
        <p:spPr>
          <a:xfrm>
            <a:off x="393192" y="914400"/>
            <a:ext cx="320040" cy="320040"/>
          </a:xfrm>
          <a:prstGeom prst="rect">
            <a:avLst/>
          </a:prstGeom>
          <a:noFill/>
          <a:ln/>
        </p:spPr>
        <p:txBody>
          <a:bodyPr wrap="square" lIns="0" tIns="0" rIns="0" bIns="0" rtlCol="0" anchor="ctr"/>
          <a:lstStyle/>
          <a:p>
            <a:pPr algn="ctr" indent="0" marL="0">
              <a:buNone/>
            </a:pPr>
            <a:r>
              <a:rPr lang="en-US" sz="1000" b="1" dirty="0">
                <a:solidFill>
                  <a:srgbClr val="FFFFFF"/>
                </a:solidFill>
              </a:rPr>
              <a:t>1</a:t>
            </a:r>
            <a:endParaRPr lang="en-US" sz="1000" dirty="0"/>
          </a:p>
        </p:txBody>
      </p:sp>
      <p:sp>
        <p:nvSpPr>
          <p:cNvPr id="9" name="Text 7"/>
          <p:cNvSpPr/>
          <p:nvPr/>
        </p:nvSpPr>
        <p:spPr>
          <a:xfrm>
            <a:off x="320040" y="1298448"/>
            <a:ext cx="1554480" cy="274320"/>
          </a:xfrm>
          <a:prstGeom prst="rect">
            <a:avLst/>
          </a:prstGeom>
          <a:noFill/>
          <a:ln/>
        </p:spPr>
        <p:txBody>
          <a:bodyPr wrap="square" lIns="0" tIns="0" rIns="0" bIns="0" rtlCol="0" anchor="ctr"/>
          <a:lstStyle/>
          <a:p>
            <a:pPr algn="ctr" indent="0" marL="0">
              <a:buNone/>
            </a:pPr>
            <a:r>
              <a:rPr lang="en-US" sz="1000" b="1" dirty="0">
                <a:solidFill>
                  <a:srgbClr val="FFFFFF"/>
                </a:solidFill>
              </a:rPr>
              <a:t>Service Center</a:t>
            </a:r>
            <a:endParaRPr lang="en-US" sz="1000" dirty="0"/>
          </a:p>
        </p:txBody>
      </p:sp>
      <p:sp>
        <p:nvSpPr>
          <p:cNvPr id="10" name="Text 8"/>
          <p:cNvSpPr/>
          <p:nvPr/>
        </p:nvSpPr>
        <p:spPr>
          <a:xfrm>
            <a:off x="320040" y="1591056"/>
            <a:ext cx="1554480" cy="384048"/>
          </a:xfrm>
          <a:prstGeom prst="rect">
            <a:avLst/>
          </a:prstGeom>
          <a:noFill/>
          <a:ln/>
        </p:spPr>
        <p:txBody>
          <a:bodyPr wrap="square" lIns="0" tIns="0" rIns="0" bIns="0" rtlCol="0" anchor="ctr"/>
          <a:lstStyle/>
          <a:p>
            <a:pPr algn="ctr" indent="0" marL="0">
              <a:buNone/>
            </a:pPr>
            <a:r>
              <a:rPr lang="en-US" sz="850" dirty="0">
                <a:solidFill>
                  <a:srgbClr val="EEF0FF"/>
                </a:solidFill>
              </a:rPr>
              <a:t>Uploads claim</a:t>
            </a:r>
            <a:endParaRPr lang="en-US" sz="850" dirty="0"/>
          </a:p>
          <a:p>
            <a:pPr algn="ctr" indent="0" marL="0">
              <a:buNone/>
            </a:pPr>
            <a:r>
              <a:rPr lang="en-US" sz="850" dirty="0">
                <a:solidFill>
                  <a:srgbClr val="EEF0FF"/>
                </a:solidFill>
              </a:rPr>
              <a:t>document (multi-image)</a:t>
            </a:r>
            <a:endParaRPr lang="en-US" sz="850" dirty="0"/>
          </a:p>
        </p:txBody>
      </p:sp>
      <p:sp>
        <p:nvSpPr>
          <p:cNvPr id="11" name="Shape 9"/>
          <p:cNvSpPr/>
          <p:nvPr/>
        </p:nvSpPr>
        <p:spPr>
          <a:xfrm>
            <a:off x="1874520" y="1389888"/>
            <a:ext cx="164592" cy="36576"/>
          </a:xfrm>
          <a:prstGeom prst="rect">
            <a:avLst/>
          </a:prstGeom>
          <a:solidFill>
            <a:srgbClr val="8A94A8"/>
          </a:solidFill>
          <a:ln w="12700">
            <a:solidFill>
              <a:srgbClr val="8A94A8"/>
            </a:solidFill>
            <a:prstDash val="solid"/>
          </a:ln>
        </p:spPr>
      </p:sp>
      <p:sp>
        <p:nvSpPr>
          <p:cNvPr id="12" name="Shape 10"/>
          <p:cNvSpPr/>
          <p:nvPr/>
        </p:nvSpPr>
        <p:spPr>
          <a:xfrm>
            <a:off x="2002536" y="1344168"/>
            <a:ext cx="64008" cy="128016"/>
          </a:xfrm>
          <a:prstGeom prst="rect">
            <a:avLst/>
          </a:prstGeom>
          <a:solidFill>
            <a:srgbClr val="8A94A8"/>
          </a:solidFill>
          <a:ln w="12700">
            <a:solidFill>
              <a:srgbClr val="8A94A8"/>
            </a:solidFill>
            <a:prstDash val="solid"/>
          </a:ln>
        </p:spPr>
      </p:sp>
      <p:sp>
        <p:nvSpPr>
          <p:cNvPr id="13" name="Shape 11"/>
          <p:cNvSpPr/>
          <p:nvPr/>
        </p:nvSpPr>
        <p:spPr>
          <a:xfrm>
            <a:off x="2039112" y="868680"/>
            <a:ext cx="1554480" cy="1188720"/>
          </a:xfrm>
          <a:prstGeom prst="rect">
            <a:avLst/>
          </a:prstGeom>
          <a:solidFill>
            <a:srgbClr val="1428A0"/>
          </a:solidFill>
          <a:ln w="12700">
            <a:solidFill>
              <a:srgbClr val="1428A0"/>
            </a:solidFill>
            <a:prstDash val="solid"/>
          </a:ln>
          <a:effectLst>
            <a:outerShdw sx="100000" sy="100000" kx="0" ky="0" algn="bl" rotWithShape="0" blurRad="127000" dist="38100" dir="8100000">
              <a:srgbClr val="000000">
                <a:alpha val="10000"/>
              </a:srgbClr>
            </a:outerShdw>
          </a:effectLst>
        </p:spPr>
      </p:sp>
      <p:sp>
        <p:nvSpPr>
          <p:cNvPr id="14" name="Shape 12"/>
          <p:cNvSpPr/>
          <p:nvPr/>
        </p:nvSpPr>
        <p:spPr>
          <a:xfrm>
            <a:off x="2112264" y="914400"/>
            <a:ext cx="320040" cy="320040"/>
          </a:xfrm>
          <a:prstGeom prst="ellipse">
            <a:avLst/>
          </a:prstGeom>
          <a:solidFill>
            <a:srgbClr val="000000"/>
          </a:solidFill>
          <a:ln w="12700">
            <a:solidFill>
              <a:srgbClr val="000000"/>
            </a:solidFill>
            <a:prstDash val="solid"/>
          </a:ln>
        </p:spPr>
      </p:sp>
      <p:sp>
        <p:nvSpPr>
          <p:cNvPr id="15" name="Text 13"/>
          <p:cNvSpPr/>
          <p:nvPr/>
        </p:nvSpPr>
        <p:spPr>
          <a:xfrm>
            <a:off x="2112264" y="914400"/>
            <a:ext cx="320040" cy="320040"/>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6" name="Text 14"/>
          <p:cNvSpPr/>
          <p:nvPr/>
        </p:nvSpPr>
        <p:spPr>
          <a:xfrm>
            <a:off x="2039112" y="1298448"/>
            <a:ext cx="1554480" cy="274320"/>
          </a:xfrm>
          <a:prstGeom prst="rect">
            <a:avLst/>
          </a:prstGeom>
          <a:noFill/>
          <a:ln/>
        </p:spPr>
        <p:txBody>
          <a:bodyPr wrap="square" lIns="0" tIns="0" rIns="0" bIns="0" rtlCol="0" anchor="ctr"/>
          <a:lstStyle/>
          <a:p>
            <a:pPr algn="ctr" indent="0" marL="0">
              <a:buNone/>
            </a:pPr>
            <a:r>
              <a:rPr lang="en-US" sz="1000" b="1" dirty="0">
                <a:solidFill>
                  <a:srgbClr val="FFFFFF"/>
                </a:solidFill>
              </a:rPr>
              <a:t>Batch Ingestion</a:t>
            </a:r>
            <a:endParaRPr lang="en-US" sz="1000" dirty="0"/>
          </a:p>
        </p:txBody>
      </p:sp>
      <p:sp>
        <p:nvSpPr>
          <p:cNvPr id="17" name="Text 15"/>
          <p:cNvSpPr/>
          <p:nvPr/>
        </p:nvSpPr>
        <p:spPr>
          <a:xfrm>
            <a:off x="2039112" y="1591056"/>
            <a:ext cx="1554480" cy="384048"/>
          </a:xfrm>
          <a:prstGeom prst="rect">
            <a:avLst/>
          </a:prstGeom>
          <a:noFill/>
          <a:ln/>
        </p:spPr>
        <p:txBody>
          <a:bodyPr wrap="square" lIns="0" tIns="0" rIns="0" bIns="0" rtlCol="0" anchor="ctr"/>
          <a:lstStyle/>
          <a:p>
            <a:pPr algn="ctr" indent="0" marL="0">
              <a:buNone/>
            </a:pPr>
            <a:r>
              <a:rPr lang="en-US" sz="850" dirty="0">
                <a:solidFill>
                  <a:srgbClr val="EEF0FF"/>
                </a:solidFill>
              </a:rPr>
              <a:t>Queue &amp; prioritise</a:t>
            </a:r>
            <a:endParaRPr lang="en-US" sz="850" dirty="0"/>
          </a:p>
          <a:p>
            <a:pPr algn="ctr" indent="0" marL="0">
              <a:buNone/>
            </a:pPr>
            <a:r>
              <a:rPr lang="en-US" sz="850" dirty="0">
                <a:solidFill>
                  <a:srgbClr val="EEF0FF"/>
                </a:solidFill>
              </a:rPr>
              <a:t>claims by type</a:t>
            </a:r>
            <a:endParaRPr lang="en-US" sz="850" dirty="0"/>
          </a:p>
        </p:txBody>
      </p:sp>
      <p:sp>
        <p:nvSpPr>
          <p:cNvPr id="18" name="Shape 16"/>
          <p:cNvSpPr/>
          <p:nvPr/>
        </p:nvSpPr>
        <p:spPr>
          <a:xfrm>
            <a:off x="3593592" y="1389888"/>
            <a:ext cx="164592" cy="36576"/>
          </a:xfrm>
          <a:prstGeom prst="rect">
            <a:avLst/>
          </a:prstGeom>
          <a:solidFill>
            <a:srgbClr val="8A94A8"/>
          </a:solidFill>
          <a:ln w="12700">
            <a:solidFill>
              <a:srgbClr val="8A94A8"/>
            </a:solidFill>
            <a:prstDash val="solid"/>
          </a:ln>
        </p:spPr>
      </p:sp>
      <p:sp>
        <p:nvSpPr>
          <p:cNvPr id="19" name="Shape 17"/>
          <p:cNvSpPr/>
          <p:nvPr/>
        </p:nvSpPr>
        <p:spPr>
          <a:xfrm>
            <a:off x="3721608" y="1344168"/>
            <a:ext cx="64008" cy="128016"/>
          </a:xfrm>
          <a:prstGeom prst="rect">
            <a:avLst/>
          </a:prstGeom>
          <a:solidFill>
            <a:srgbClr val="8A94A8"/>
          </a:solidFill>
          <a:ln w="12700">
            <a:solidFill>
              <a:srgbClr val="8A94A8"/>
            </a:solidFill>
            <a:prstDash val="solid"/>
          </a:ln>
        </p:spPr>
      </p:sp>
      <p:sp>
        <p:nvSpPr>
          <p:cNvPr id="20" name="Shape 18"/>
          <p:cNvSpPr/>
          <p:nvPr/>
        </p:nvSpPr>
        <p:spPr>
          <a:xfrm>
            <a:off x="3758184" y="868680"/>
            <a:ext cx="1554480" cy="1188720"/>
          </a:xfrm>
          <a:prstGeom prst="rect">
            <a:avLst/>
          </a:prstGeom>
          <a:solidFill>
            <a:srgbClr val="0078D4"/>
          </a:solidFill>
          <a:ln w="12700">
            <a:solidFill>
              <a:srgbClr val="0078D4"/>
            </a:solidFill>
            <a:prstDash val="solid"/>
          </a:ln>
          <a:effectLst>
            <a:outerShdw sx="100000" sy="100000" kx="0" ky="0" algn="bl" rotWithShape="0" blurRad="127000" dist="38100" dir="8100000">
              <a:srgbClr val="000000">
                <a:alpha val="10000"/>
              </a:srgbClr>
            </a:outerShdw>
          </a:effectLst>
        </p:spPr>
      </p:sp>
      <p:sp>
        <p:nvSpPr>
          <p:cNvPr id="21" name="Shape 19"/>
          <p:cNvSpPr/>
          <p:nvPr/>
        </p:nvSpPr>
        <p:spPr>
          <a:xfrm>
            <a:off x="3831336" y="914400"/>
            <a:ext cx="320040" cy="320040"/>
          </a:xfrm>
          <a:prstGeom prst="ellipse">
            <a:avLst/>
          </a:prstGeom>
          <a:solidFill>
            <a:srgbClr val="000000"/>
          </a:solidFill>
          <a:ln w="12700">
            <a:solidFill>
              <a:srgbClr val="000000"/>
            </a:solidFill>
            <a:prstDash val="solid"/>
          </a:ln>
        </p:spPr>
      </p:sp>
      <p:sp>
        <p:nvSpPr>
          <p:cNvPr id="22" name="Text 20"/>
          <p:cNvSpPr/>
          <p:nvPr/>
        </p:nvSpPr>
        <p:spPr>
          <a:xfrm>
            <a:off x="3831336" y="914400"/>
            <a:ext cx="320040" cy="320040"/>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23" name="Text 21"/>
          <p:cNvSpPr/>
          <p:nvPr/>
        </p:nvSpPr>
        <p:spPr>
          <a:xfrm>
            <a:off x="3758184" y="1298448"/>
            <a:ext cx="1554480" cy="274320"/>
          </a:xfrm>
          <a:prstGeom prst="rect">
            <a:avLst/>
          </a:prstGeom>
          <a:noFill/>
          <a:ln/>
        </p:spPr>
        <p:txBody>
          <a:bodyPr wrap="square" lIns="0" tIns="0" rIns="0" bIns="0" rtlCol="0" anchor="ctr"/>
          <a:lstStyle/>
          <a:p>
            <a:pPr algn="ctr" indent="0" marL="0">
              <a:buNone/>
            </a:pPr>
            <a:r>
              <a:rPr lang="en-US" sz="1000" b="1" dirty="0">
                <a:solidFill>
                  <a:srgbClr val="FFFFFF"/>
                </a:solidFill>
              </a:rPr>
              <a:t>AI OCR Engine</a:t>
            </a:r>
            <a:endParaRPr lang="en-US" sz="1000" dirty="0"/>
          </a:p>
        </p:txBody>
      </p:sp>
      <p:sp>
        <p:nvSpPr>
          <p:cNvPr id="24" name="Text 22"/>
          <p:cNvSpPr/>
          <p:nvPr/>
        </p:nvSpPr>
        <p:spPr>
          <a:xfrm>
            <a:off x="3758184" y="1591056"/>
            <a:ext cx="1554480" cy="384048"/>
          </a:xfrm>
          <a:prstGeom prst="rect">
            <a:avLst/>
          </a:prstGeom>
          <a:noFill/>
          <a:ln/>
        </p:spPr>
        <p:txBody>
          <a:bodyPr wrap="square" lIns="0" tIns="0" rIns="0" bIns="0" rtlCol="0" anchor="ctr"/>
          <a:lstStyle/>
          <a:p>
            <a:pPr algn="ctr" indent="0" marL="0">
              <a:buNone/>
            </a:pPr>
            <a:r>
              <a:rPr lang="en-US" sz="850" dirty="0">
                <a:solidFill>
                  <a:srgbClr val="EEF0FF"/>
                </a:solidFill>
              </a:rPr>
              <a:t>Extract text, fields</a:t>
            </a:r>
            <a:endParaRPr lang="en-US" sz="850" dirty="0"/>
          </a:p>
          <a:p>
            <a:pPr algn="ctr" indent="0" marL="0">
              <a:buNone/>
            </a:pPr>
            <a:r>
              <a:rPr lang="en-US" sz="850" dirty="0">
                <a:solidFill>
                  <a:srgbClr val="EEF0FF"/>
                </a:solidFill>
              </a:rPr>
              <a:t>&amp; image metadata</a:t>
            </a:r>
            <a:endParaRPr lang="en-US" sz="850" dirty="0"/>
          </a:p>
        </p:txBody>
      </p:sp>
      <p:sp>
        <p:nvSpPr>
          <p:cNvPr id="25" name="Shape 23"/>
          <p:cNvSpPr/>
          <p:nvPr/>
        </p:nvSpPr>
        <p:spPr>
          <a:xfrm>
            <a:off x="5312664" y="1389888"/>
            <a:ext cx="164592" cy="36576"/>
          </a:xfrm>
          <a:prstGeom prst="rect">
            <a:avLst/>
          </a:prstGeom>
          <a:solidFill>
            <a:srgbClr val="8A94A8"/>
          </a:solidFill>
          <a:ln w="12700">
            <a:solidFill>
              <a:srgbClr val="8A94A8"/>
            </a:solidFill>
            <a:prstDash val="solid"/>
          </a:ln>
        </p:spPr>
      </p:sp>
      <p:sp>
        <p:nvSpPr>
          <p:cNvPr id="26" name="Shape 24"/>
          <p:cNvSpPr/>
          <p:nvPr/>
        </p:nvSpPr>
        <p:spPr>
          <a:xfrm>
            <a:off x="5440680" y="1344168"/>
            <a:ext cx="64008" cy="128016"/>
          </a:xfrm>
          <a:prstGeom prst="rect">
            <a:avLst/>
          </a:prstGeom>
          <a:solidFill>
            <a:srgbClr val="8A94A8"/>
          </a:solidFill>
          <a:ln w="12700">
            <a:solidFill>
              <a:srgbClr val="8A94A8"/>
            </a:solidFill>
            <a:prstDash val="solid"/>
          </a:ln>
        </p:spPr>
      </p:sp>
      <p:sp>
        <p:nvSpPr>
          <p:cNvPr id="27" name="Shape 25"/>
          <p:cNvSpPr/>
          <p:nvPr/>
        </p:nvSpPr>
        <p:spPr>
          <a:xfrm>
            <a:off x="5477256" y="868680"/>
            <a:ext cx="1554480" cy="1188720"/>
          </a:xfrm>
          <a:prstGeom prst="rect">
            <a:avLst/>
          </a:prstGeom>
          <a:solidFill>
            <a:srgbClr val="6D3FBC"/>
          </a:solidFill>
          <a:ln w="12700">
            <a:solidFill>
              <a:srgbClr val="6D3FBC"/>
            </a:solidFill>
            <a:prstDash val="solid"/>
          </a:ln>
          <a:effectLst>
            <a:outerShdw sx="100000" sy="100000" kx="0" ky="0" algn="bl" rotWithShape="0" blurRad="127000" dist="38100" dir="8100000">
              <a:srgbClr val="000000">
                <a:alpha val="10000"/>
              </a:srgbClr>
            </a:outerShdw>
          </a:effectLst>
        </p:spPr>
      </p:sp>
      <p:sp>
        <p:nvSpPr>
          <p:cNvPr id="28" name="Shape 26"/>
          <p:cNvSpPr/>
          <p:nvPr/>
        </p:nvSpPr>
        <p:spPr>
          <a:xfrm>
            <a:off x="5550408" y="914400"/>
            <a:ext cx="320040" cy="320040"/>
          </a:xfrm>
          <a:prstGeom prst="ellipse">
            <a:avLst/>
          </a:prstGeom>
          <a:solidFill>
            <a:srgbClr val="000000"/>
          </a:solidFill>
          <a:ln w="12700">
            <a:solidFill>
              <a:srgbClr val="000000"/>
            </a:solidFill>
            <a:prstDash val="solid"/>
          </a:ln>
        </p:spPr>
      </p:sp>
      <p:sp>
        <p:nvSpPr>
          <p:cNvPr id="29" name="Text 27"/>
          <p:cNvSpPr/>
          <p:nvPr/>
        </p:nvSpPr>
        <p:spPr>
          <a:xfrm>
            <a:off x="5550408" y="914400"/>
            <a:ext cx="320040" cy="320040"/>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30" name="Text 28"/>
          <p:cNvSpPr/>
          <p:nvPr/>
        </p:nvSpPr>
        <p:spPr>
          <a:xfrm>
            <a:off x="5477256" y="1298448"/>
            <a:ext cx="1554480" cy="274320"/>
          </a:xfrm>
          <a:prstGeom prst="rect">
            <a:avLst/>
          </a:prstGeom>
          <a:noFill/>
          <a:ln/>
        </p:spPr>
        <p:txBody>
          <a:bodyPr wrap="square" lIns="0" tIns="0" rIns="0" bIns="0" rtlCol="0" anchor="ctr"/>
          <a:lstStyle/>
          <a:p>
            <a:pPr algn="ctr" indent="0" marL="0">
              <a:buNone/>
            </a:pPr>
            <a:r>
              <a:rPr lang="en-US" sz="1000" b="1" dirty="0">
                <a:solidFill>
                  <a:srgbClr val="FFFFFF"/>
                </a:solidFill>
              </a:rPr>
              <a:t>LLM Validator</a:t>
            </a:r>
            <a:endParaRPr lang="en-US" sz="1000" dirty="0"/>
          </a:p>
        </p:txBody>
      </p:sp>
      <p:sp>
        <p:nvSpPr>
          <p:cNvPr id="31" name="Text 29"/>
          <p:cNvSpPr/>
          <p:nvPr/>
        </p:nvSpPr>
        <p:spPr>
          <a:xfrm>
            <a:off x="5477256" y="1591056"/>
            <a:ext cx="1554480" cy="384048"/>
          </a:xfrm>
          <a:prstGeom prst="rect">
            <a:avLst/>
          </a:prstGeom>
          <a:noFill/>
          <a:ln/>
        </p:spPr>
        <p:txBody>
          <a:bodyPr wrap="square" lIns="0" tIns="0" rIns="0" bIns="0" rtlCol="0" anchor="ctr"/>
          <a:lstStyle/>
          <a:p>
            <a:pPr algn="ctr" indent="0" marL="0">
              <a:buNone/>
            </a:pPr>
            <a:r>
              <a:rPr lang="en-US" sz="850" dirty="0">
                <a:solidFill>
                  <a:srgbClr val="EEF0FF"/>
                </a:solidFill>
              </a:rPr>
              <a:t>Rule-based warranty</a:t>
            </a:r>
            <a:endParaRPr lang="en-US" sz="850" dirty="0"/>
          </a:p>
          <a:p>
            <a:pPr algn="ctr" indent="0" marL="0">
              <a:buNone/>
            </a:pPr>
            <a:r>
              <a:rPr lang="en-US" sz="850" dirty="0">
                <a:solidFill>
                  <a:srgbClr val="EEF0FF"/>
                </a:solidFill>
              </a:rPr>
              <a:t>verification &amp; scoring</a:t>
            </a:r>
            <a:endParaRPr lang="en-US" sz="850" dirty="0"/>
          </a:p>
        </p:txBody>
      </p:sp>
      <p:sp>
        <p:nvSpPr>
          <p:cNvPr id="32" name="Shape 30"/>
          <p:cNvSpPr/>
          <p:nvPr/>
        </p:nvSpPr>
        <p:spPr>
          <a:xfrm>
            <a:off x="7031736" y="1389888"/>
            <a:ext cx="164592" cy="36576"/>
          </a:xfrm>
          <a:prstGeom prst="rect">
            <a:avLst/>
          </a:prstGeom>
          <a:solidFill>
            <a:srgbClr val="8A94A8"/>
          </a:solidFill>
          <a:ln w="12700">
            <a:solidFill>
              <a:srgbClr val="8A94A8"/>
            </a:solidFill>
            <a:prstDash val="solid"/>
          </a:ln>
        </p:spPr>
      </p:sp>
      <p:sp>
        <p:nvSpPr>
          <p:cNvPr id="33" name="Shape 31"/>
          <p:cNvSpPr/>
          <p:nvPr/>
        </p:nvSpPr>
        <p:spPr>
          <a:xfrm>
            <a:off x="7159752" y="1344168"/>
            <a:ext cx="64008" cy="128016"/>
          </a:xfrm>
          <a:prstGeom prst="rect">
            <a:avLst/>
          </a:prstGeom>
          <a:solidFill>
            <a:srgbClr val="8A94A8"/>
          </a:solidFill>
          <a:ln w="12700">
            <a:solidFill>
              <a:srgbClr val="8A94A8"/>
            </a:solidFill>
            <a:prstDash val="solid"/>
          </a:ln>
        </p:spPr>
      </p:sp>
      <p:sp>
        <p:nvSpPr>
          <p:cNvPr id="34" name="Shape 32"/>
          <p:cNvSpPr/>
          <p:nvPr/>
        </p:nvSpPr>
        <p:spPr>
          <a:xfrm>
            <a:off x="7196328" y="868680"/>
            <a:ext cx="1554480" cy="1188720"/>
          </a:xfrm>
          <a:prstGeom prst="rect">
            <a:avLst/>
          </a:prstGeom>
          <a:solidFill>
            <a:srgbClr val="0F7B6C"/>
          </a:solidFill>
          <a:ln w="12700">
            <a:solidFill>
              <a:srgbClr val="0F7B6C"/>
            </a:solidFill>
            <a:prstDash val="solid"/>
          </a:ln>
          <a:effectLst>
            <a:outerShdw sx="100000" sy="100000" kx="0" ky="0" algn="bl" rotWithShape="0" blurRad="127000" dist="38100" dir="8100000">
              <a:srgbClr val="000000">
                <a:alpha val="10000"/>
              </a:srgbClr>
            </a:outerShdw>
          </a:effectLst>
        </p:spPr>
      </p:sp>
      <p:sp>
        <p:nvSpPr>
          <p:cNvPr id="35" name="Shape 33"/>
          <p:cNvSpPr/>
          <p:nvPr/>
        </p:nvSpPr>
        <p:spPr>
          <a:xfrm>
            <a:off x="7269480" y="914400"/>
            <a:ext cx="320040" cy="320040"/>
          </a:xfrm>
          <a:prstGeom prst="ellipse">
            <a:avLst/>
          </a:prstGeom>
          <a:solidFill>
            <a:srgbClr val="000000"/>
          </a:solidFill>
          <a:ln w="12700">
            <a:solidFill>
              <a:srgbClr val="000000"/>
            </a:solidFill>
            <a:prstDash val="solid"/>
          </a:ln>
        </p:spPr>
      </p:sp>
      <p:sp>
        <p:nvSpPr>
          <p:cNvPr id="36" name="Text 34"/>
          <p:cNvSpPr/>
          <p:nvPr/>
        </p:nvSpPr>
        <p:spPr>
          <a:xfrm>
            <a:off x="7269480" y="914400"/>
            <a:ext cx="320040" cy="320040"/>
          </a:xfrm>
          <a:prstGeom prst="rect">
            <a:avLst/>
          </a:prstGeom>
          <a:no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37" name="Text 35"/>
          <p:cNvSpPr/>
          <p:nvPr/>
        </p:nvSpPr>
        <p:spPr>
          <a:xfrm>
            <a:off x="7196328" y="1298448"/>
            <a:ext cx="1554480" cy="274320"/>
          </a:xfrm>
          <a:prstGeom prst="rect">
            <a:avLst/>
          </a:prstGeom>
          <a:noFill/>
          <a:ln/>
        </p:spPr>
        <p:txBody>
          <a:bodyPr wrap="square" lIns="0" tIns="0" rIns="0" bIns="0" rtlCol="0" anchor="ctr"/>
          <a:lstStyle/>
          <a:p>
            <a:pPr algn="ctr" indent="0" marL="0">
              <a:buNone/>
            </a:pPr>
            <a:r>
              <a:rPr lang="en-US" sz="1000" b="1" dirty="0">
                <a:solidFill>
                  <a:srgbClr val="FFFFFF"/>
                </a:solidFill>
              </a:rPr>
              <a:t>Decision + Push</a:t>
            </a:r>
            <a:endParaRPr lang="en-US" sz="1000" dirty="0"/>
          </a:p>
        </p:txBody>
      </p:sp>
      <p:sp>
        <p:nvSpPr>
          <p:cNvPr id="38" name="Text 36"/>
          <p:cNvSpPr/>
          <p:nvPr/>
        </p:nvSpPr>
        <p:spPr>
          <a:xfrm>
            <a:off x="7196328" y="1591056"/>
            <a:ext cx="1554480" cy="384048"/>
          </a:xfrm>
          <a:prstGeom prst="rect">
            <a:avLst/>
          </a:prstGeom>
          <a:noFill/>
          <a:ln/>
        </p:spPr>
        <p:txBody>
          <a:bodyPr wrap="square" lIns="0" tIns="0" rIns="0" bIns="0" rtlCol="0" anchor="ctr"/>
          <a:lstStyle/>
          <a:p>
            <a:pPr algn="ctr" indent="0" marL="0">
              <a:buNone/>
            </a:pPr>
            <a:r>
              <a:rPr lang="en-US" sz="850" dirty="0">
                <a:solidFill>
                  <a:srgbClr val="EEF0FF"/>
                </a:solidFill>
              </a:rPr>
              <a:t>Approved / Discrepancy</a:t>
            </a:r>
            <a:endParaRPr lang="en-US" sz="850" dirty="0"/>
          </a:p>
          <a:p>
            <a:pPr algn="ctr" indent="0" marL="0">
              <a:buNone/>
            </a:pPr>
            <a:r>
              <a:rPr lang="en-US" sz="850" dirty="0">
                <a:solidFill>
                  <a:srgbClr val="EEF0FF"/>
                </a:solidFill>
              </a:rPr>
              <a:t>auto-pushed to system</a:t>
            </a:r>
            <a:endParaRPr lang="en-US" sz="850" dirty="0"/>
          </a:p>
        </p:txBody>
      </p:sp>
      <p:sp>
        <p:nvSpPr>
          <p:cNvPr id="39" name="Shape 37"/>
          <p:cNvSpPr/>
          <p:nvPr/>
        </p:nvSpPr>
        <p:spPr>
          <a:xfrm>
            <a:off x="320040" y="2212848"/>
            <a:ext cx="8503920" cy="320040"/>
          </a:xfrm>
          <a:prstGeom prst="rect">
            <a:avLst/>
          </a:prstGeom>
          <a:solidFill>
            <a:srgbClr val="E8EBFA"/>
          </a:solidFill>
          <a:ln w="12700">
            <a:solidFill>
              <a:srgbClr val="1428A0"/>
            </a:solidFill>
            <a:prstDash val="solid"/>
          </a:ln>
        </p:spPr>
      </p:sp>
      <p:sp>
        <p:nvSpPr>
          <p:cNvPr id="40" name="Text 38"/>
          <p:cNvSpPr/>
          <p:nvPr/>
        </p:nvSpPr>
        <p:spPr>
          <a:xfrm>
            <a:off x="320040" y="2212848"/>
            <a:ext cx="8503920" cy="320040"/>
          </a:xfrm>
          <a:prstGeom prst="rect">
            <a:avLst/>
          </a:prstGeom>
          <a:noFill/>
          <a:ln/>
        </p:spPr>
        <p:txBody>
          <a:bodyPr wrap="square" lIns="0" tIns="0" rIns="0" bIns="0" rtlCol="0" anchor="ctr"/>
          <a:lstStyle/>
          <a:p>
            <a:pPr algn="ctr" indent="0" marL="0">
              <a:buNone/>
            </a:pPr>
            <a:r>
              <a:rPr lang="en-US" sz="950" b="1" dirty="0">
                <a:solidFill>
                  <a:srgbClr val="1428A0"/>
                </a:solidFill>
              </a:rPr>
              <a:t>☁  Samsung Cloud GPU Platform  ·  Batch Processing Engine  ·  In-House Model Runtime</a:t>
            </a:r>
            <a:endParaRPr lang="en-US" sz="950" dirty="0"/>
          </a:p>
        </p:txBody>
      </p:sp>
      <p:sp>
        <p:nvSpPr>
          <p:cNvPr id="41" name="Shape 39"/>
          <p:cNvSpPr/>
          <p:nvPr/>
        </p:nvSpPr>
        <p:spPr>
          <a:xfrm>
            <a:off x="320040" y="2670048"/>
            <a:ext cx="1993392" cy="2103120"/>
          </a:xfrm>
          <a:prstGeom prst="rect">
            <a:avLst/>
          </a:prstGeom>
          <a:solidFill>
            <a:srgbClr val="FFFFFF"/>
          </a:solidFill>
          <a:ln w="12700">
            <a:solidFill>
              <a:srgbClr val="D1D9E6"/>
            </a:solidFill>
            <a:prstDash val="solid"/>
          </a:ln>
          <a:effectLst>
            <a:outerShdw sx="100000" sy="100000" kx="0" ky="0" algn="bl" rotWithShape="0" blurRad="127000" dist="38100" dir="8100000">
              <a:srgbClr val="000000">
                <a:alpha val="10000"/>
              </a:srgbClr>
            </a:outerShdw>
          </a:effectLst>
        </p:spPr>
      </p:sp>
      <p:sp>
        <p:nvSpPr>
          <p:cNvPr id="42" name="Shape 40"/>
          <p:cNvSpPr/>
          <p:nvPr/>
        </p:nvSpPr>
        <p:spPr>
          <a:xfrm>
            <a:off x="320040" y="2670048"/>
            <a:ext cx="1993392" cy="36576"/>
          </a:xfrm>
          <a:prstGeom prst="rect">
            <a:avLst/>
          </a:prstGeom>
          <a:solidFill>
            <a:srgbClr val="0078D4"/>
          </a:solidFill>
          <a:ln w="12700">
            <a:solidFill>
              <a:srgbClr val="0078D4"/>
            </a:solidFill>
            <a:prstDash val="solid"/>
          </a:ln>
        </p:spPr>
      </p:sp>
      <p:sp>
        <p:nvSpPr>
          <p:cNvPr id="43" name="Shape 41"/>
          <p:cNvSpPr/>
          <p:nvPr/>
        </p:nvSpPr>
        <p:spPr>
          <a:xfrm>
            <a:off x="320040" y="2706624"/>
            <a:ext cx="1993392" cy="347472"/>
          </a:xfrm>
          <a:prstGeom prst="rect">
            <a:avLst/>
          </a:prstGeom>
          <a:solidFill>
            <a:srgbClr val="F8F9FC"/>
          </a:solidFill>
          <a:ln w="12700">
            <a:solidFill>
              <a:srgbClr val="F8F9FC"/>
            </a:solidFill>
            <a:prstDash val="solid"/>
          </a:ln>
        </p:spPr>
      </p:sp>
      <p:sp>
        <p:nvSpPr>
          <p:cNvPr id="44" name="Text 42"/>
          <p:cNvSpPr/>
          <p:nvPr/>
        </p:nvSpPr>
        <p:spPr>
          <a:xfrm>
            <a:off x="429768" y="2706624"/>
            <a:ext cx="1773936" cy="347472"/>
          </a:xfrm>
          <a:prstGeom prst="rect">
            <a:avLst/>
          </a:prstGeom>
          <a:noFill/>
          <a:ln/>
        </p:spPr>
        <p:txBody>
          <a:bodyPr wrap="square" lIns="0" tIns="0" rIns="0" bIns="0" rtlCol="0" anchor="ctr"/>
          <a:lstStyle/>
          <a:p>
            <a:pPr indent="0" marL="0">
              <a:buNone/>
            </a:pPr>
            <a:r>
              <a:rPr lang="en-US" sz="950" b="1" dirty="0">
                <a:solidFill>
                  <a:srgbClr val="0078D4"/>
                </a:solidFill>
              </a:rPr>
              <a:t>In-House OCR Model</a:t>
            </a:r>
            <a:endParaRPr lang="en-US" sz="950" dirty="0"/>
          </a:p>
        </p:txBody>
      </p:sp>
      <p:sp>
        <p:nvSpPr>
          <p:cNvPr id="45" name="Text 43"/>
          <p:cNvSpPr/>
          <p:nvPr/>
        </p:nvSpPr>
        <p:spPr>
          <a:xfrm>
            <a:off x="429768" y="3127248"/>
            <a:ext cx="1773936" cy="1600200"/>
          </a:xfrm>
          <a:prstGeom prst="rect">
            <a:avLst/>
          </a:prstGeom>
          <a:noFill/>
          <a:ln/>
        </p:spPr>
        <p:txBody>
          <a:bodyPr wrap="square" rtlCol="0" anchor="ctr"/>
          <a:lstStyle/>
          <a:p>
            <a:pPr marL="342900" indent="-342900">
              <a:buSzPct val="100000"/>
              <a:buChar char="•"/>
            </a:pPr>
            <a:r>
              <a:rPr lang="en-US" sz="900" dirty="0">
                <a:solidFill>
                  <a:srgbClr val="4A5568"/>
                </a:solidFill>
              </a:rPr>
              <a:t>Multi-image document parsing</a:t>
            </a:r>
            <a:endParaRPr lang="en-US" sz="900" dirty="0"/>
          </a:p>
          <a:p>
            <a:pPr marL="342900" indent="-342900">
              <a:buSzPct val="100000"/>
              <a:buChar char="•"/>
            </a:pPr>
            <a:r>
              <a:rPr lang="en-US" sz="900" dirty="0">
                <a:solidFill>
                  <a:srgbClr val="4A5568"/>
                </a:solidFill>
              </a:rPr>
              <a:t>Structured field extraction</a:t>
            </a:r>
            <a:endParaRPr lang="en-US" sz="900" dirty="0"/>
          </a:p>
          <a:p>
            <a:pPr marL="342900" indent="-342900">
              <a:buSzPct val="100000"/>
              <a:buChar char="•"/>
            </a:pPr>
            <a:r>
              <a:rPr lang="en-US" sz="900" dirty="0">
                <a:solidFill>
                  <a:srgbClr val="4A5568"/>
                </a:solidFill>
              </a:rPr>
              <a:t>Handles print, stamp &amp; handwriting</a:t>
            </a:r>
            <a:endParaRPr lang="en-US" sz="900" dirty="0"/>
          </a:p>
          <a:p>
            <a:pPr marL="342900" indent="-342900">
              <a:buSzPct val="100000"/>
              <a:buChar char="•"/>
            </a:pPr>
            <a:r>
              <a:rPr lang="en-US" sz="900" dirty="0">
                <a:solidFill>
                  <a:srgbClr val="4A5568"/>
                </a:solidFill>
              </a:rPr>
              <a:t>Samsung-specific claim format trained</a:t>
            </a:r>
            <a:endParaRPr lang="en-US" sz="900" dirty="0"/>
          </a:p>
        </p:txBody>
      </p:sp>
      <p:sp>
        <p:nvSpPr>
          <p:cNvPr id="46" name="Shape 44"/>
          <p:cNvSpPr/>
          <p:nvPr/>
        </p:nvSpPr>
        <p:spPr>
          <a:xfrm>
            <a:off x="2496312" y="2670048"/>
            <a:ext cx="1993392" cy="2103120"/>
          </a:xfrm>
          <a:prstGeom prst="rect">
            <a:avLst/>
          </a:prstGeom>
          <a:solidFill>
            <a:srgbClr val="FFFFFF"/>
          </a:solidFill>
          <a:ln w="12700">
            <a:solidFill>
              <a:srgbClr val="D1D9E6"/>
            </a:solidFill>
            <a:prstDash val="solid"/>
          </a:ln>
          <a:effectLst>
            <a:outerShdw sx="100000" sy="100000" kx="0" ky="0" algn="bl" rotWithShape="0" blurRad="127000" dist="38100" dir="8100000">
              <a:srgbClr val="000000">
                <a:alpha val="10000"/>
              </a:srgbClr>
            </a:outerShdw>
          </a:effectLst>
        </p:spPr>
      </p:sp>
      <p:sp>
        <p:nvSpPr>
          <p:cNvPr id="47" name="Shape 45"/>
          <p:cNvSpPr/>
          <p:nvPr/>
        </p:nvSpPr>
        <p:spPr>
          <a:xfrm>
            <a:off x="2496312" y="2670048"/>
            <a:ext cx="1993392" cy="36576"/>
          </a:xfrm>
          <a:prstGeom prst="rect">
            <a:avLst/>
          </a:prstGeom>
          <a:solidFill>
            <a:srgbClr val="6D3FBC"/>
          </a:solidFill>
          <a:ln w="12700">
            <a:solidFill>
              <a:srgbClr val="6D3FBC"/>
            </a:solidFill>
            <a:prstDash val="solid"/>
          </a:ln>
        </p:spPr>
      </p:sp>
      <p:sp>
        <p:nvSpPr>
          <p:cNvPr id="48" name="Shape 46"/>
          <p:cNvSpPr/>
          <p:nvPr/>
        </p:nvSpPr>
        <p:spPr>
          <a:xfrm>
            <a:off x="2496312" y="2706624"/>
            <a:ext cx="1993392" cy="347472"/>
          </a:xfrm>
          <a:prstGeom prst="rect">
            <a:avLst/>
          </a:prstGeom>
          <a:solidFill>
            <a:srgbClr val="F8F9FC"/>
          </a:solidFill>
          <a:ln w="12700">
            <a:solidFill>
              <a:srgbClr val="F8F9FC"/>
            </a:solidFill>
            <a:prstDash val="solid"/>
          </a:ln>
        </p:spPr>
      </p:sp>
      <p:sp>
        <p:nvSpPr>
          <p:cNvPr id="49" name="Text 47"/>
          <p:cNvSpPr/>
          <p:nvPr/>
        </p:nvSpPr>
        <p:spPr>
          <a:xfrm>
            <a:off x="2606040" y="2706624"/>
            <a:ext cx="1773936" cy="347472"/>
          </a:xfrm>
          <a:prstGeom prst="rect">
            <a:avLst/>
          </a:prstGeom>
          <a:noFill/>
          <a:ln/>
        </p:spPr>
        <p:txBody>
          <a:bodyPr wrap="square" lIns="0" tIns="0" rIns="0" bIns="0" rtlCol="0" anchor="ctr"/>
          <a:lstStyle/>
          <a:p>
            <a:pPr indent="0" marL="0">
              <a:buNone/>
            </a:pPr>
            <a:r>
              <a:rPr lang="en-US" sz="950" b="1" dirty="0">
                <a:solidFill>
                  <a:srgbClr val="6D3FBC"/>
                </a:solidFill>
              </a:rPr>
              <a:t>In-House LLM Engine</a:t>
            </a:r>
            <a:endParaRPr lang="en-US" sz="950" dirty="0"/>
          </a:p>
        </p:txBody>
      </p:sp>
      <p:sp>
        <p:nvSpPr>
          <p:cNvPr id="50" name="Text 48"/>
          <p:cNvSpPr/>
          <p:nvPr/>
        </p:nvSpPr>
        <p:spPr>
          <a:xfrm>
            <a:off x="2606040" y="3127248"/>
            <a:ext cx="1773936" cy="1600200"/>
          </a:xfrm>
          <a:prstGeom prst="rect">
            <a:avLst/>
          </a:prstGeom>
          <a:noFill/>
          <a:ln/>
        </p:spPr>
        <p:txBody>
          <a:bodyPr wrap="square" rtlCol="0" anchor="ctr"/>
          <a:lstStyle/>
          <a:p>
            <a:pPr marL="342900" indent="-342900">
              <a:buSzPct val="100000"/>
              <a:buChar char="•"/>
            </a:pPr>
            <a:r>
              <a:rPr lang="en-US" sz="900" dirty="0">
                <a:solidFill>
                  <a:srgbClr val="4A5568"/>
                </a:solidFill>
              </a:rPr>
              <a:t>Warranty rule base validation</a:t>
            </a:r>
            <a:endParaRPr lang="en-US" sz="900" dirty="0"/>
          </a:p>
          <a:p>
            <a:pPr marL="342900" indent="-342900">
              <a:buSzPct val="100000"/>
              <a:buChar char="•"/>
            </a:pPr>
            <a:r>
              <a:rPr lang="en-US" sz="900" dirty="0">
                <a:solidFill>
                  <a:srgbClr val="4A5568"/>
                </a:solidFill>
              </a:rPr>
              <a:t>Cross-field discrepancy detection</a:t>
            </a:r>
            <a:endParaRPr lang="en-US" sz="900" dirty="0"/>
          </a:p>
          <a:p>
            <a:pPr marL="342900" indent="-342900">
              <a:buSzPct val="100000"/>
              <a:buChar char="•"/>
            </a:pPr>
            <a:r>
              <a:rPr lang="en-US" sz="900" dirty="0">
                <a:solidFill>
                  <a:srgbClr val="4A5568"/>
                </a:solidFill>
              </a:rPr>
              <a:t>Confidence score per decision</a:t>
            </a:r>
            <a:endParaRPr lang="en-US" sz="900" dirty="0"/>
          </a:p>
          <a:p>
            <a:pPr marL="342900" indent="-342900">
              <a:buSzPct val="100000"/>
              <a:buChar char="•"/>
            </a:pPr>
            <a:r>
              <a:rPr lang="en-US" sz="900" dirty="0">
                <a:solidFill>
                  <a:srgbClr val="4A5568"/>
                </a:solidFill>
              </a:rPr>
              <a:t>Explainable output for audit</a:t>
            </a:r>
            <a:endParaRPr lang="en-US" sz="900" dirty="0"/>
          </a:p>
        </p:txBody>
      </p:sp>
      <p:sp>
        <p:nvSpPr>
          <p:cNvPr id="51" name="Shape 49"/>
          <p:cNvSpPr/>
          <p:nvPr/>
        </p:nvSpPr>
        <p:spPr>
          <a:xfrm>
            <a:off x="4672584" y="2670048"/>
            <a:ext cx="1993392" cy="2103120"/>
          </a:xfrm>
          <a:prstGeom prst="rect">
            <a:avLst/>
          </a:prstGeom>
          <a:solidFill>
            <a:srgbClr val="FFFFFF"/>
          </a:solidFill>
          <a:ln w="12700">
            <a:solidFill>
              <a:srgbClr val="D1D9E6"/>
            </a:solidFill>
            <a:prstDash val="solid"/>
          </a:ln>
          <a:effectLst>
            <a:outerShdw sx="100000" sy="100000" kx="0" ky="0" algn="bl" rotWithShape="0" blurRad="127000" dist="38100" dir="8100000">
              <a:srgbClr val="000000">
                <a:alpha val="10000"/>
              </a:srgbClr>
            </a:outerShdw>
          </a:effectLst>
        </p:spPr>
      </p:sp>
      <p:sp>
        <p:nvSpPr>
          <p:cNvPr id="52" name="Shape 50"/>
          <p:cNvSpPr/>
          <p:nvPr/>
        </p:nvSpPr>
        <p:spPr>
          <a:xfrm>
            <a:off x="4672584" y="2670048"/>
            <a:ext cx="1993392" cy="36576"/>
          </a:xfrm>
          <a:prstGeom prst="rect">
            <a:avLst/>
          </a:prstGeom>
          <a:solidFill>
            <a:srgbClr val="1428A0"/>
          </a:solidFill>
          <a:ln w="12700">
            <a:solidFill>
              <a:srgbClr val="1428A0"/>
            </a:solidFill>
            <a:prstDash val="solid"/>
          </a:ln>
        </p:spPr>
      </p:sp>
      <p:sp>
        <p:nvSpPr>
          <p:cNvPr id="53" name="Shape 51"/>
          <p:cNvSpPr/>
          <p:nvPr/>
        </p:nvSpPr>
        <p:spPr>
          <a:xfrm>
            <a:off x="4672584" y="2706624"/>
            <a:ext cx="1993392" cy="347472"/>
          </a:xfrm>
          <a:prstGeom prst="rect">
            <a:avLst/>
          </a:prstGeom>
          <a:solidFill>
            <a:srgbClr val="F8F9FC"/>
          </a:solidFill>
          <a:ln w="12700">
            <a:solidFill>
              <a:srgbClr val="F8F9FC"/>
            </a:solidFill>
            <a:prstDash val="solid"/>
          </a:ln>
        </p:spPr>
      </p:sp>
      <p:sp>
        <p:nvSpPr>
          <p:cNvPr id="54" name="Text 52"/>
          <p:cNvSpPr/>
          <p:nvPr/>
        </p:nvSpPr>
        <p:spPr>
          <a:xfrm>
            <a:off x="4782312" y="2706624"/>
            <a:ext cx="1773936" cy="347472"/>
          </a:xfrm>
          <a:prstGeom prst="rect">
            <a:avLst/>
          </a:prstGeom>
          <a:noFill/>
          <a:ln/>
        </p:spPr>
        <p:txBody>
          <a:bodyPr wrap="square" lIns="0" tIns="0" rIns="0" bIns="0" rtlCol="0" anchor="ctr"/>
          <a:lstStyle/>
          <a:p>
            <a:pPr indent="0" marL="0">
              <a:buNone/>
            </a:pPr>
            <a:r>
              <a:rPr lang="en-US" sz="950" b="1" dirty="0">
                <a:solidFill>
                  <a:srgbClr val="1428A0"/>
                </a:solidFill>
              </a:rPr>
              <a:t>Samsung Cloud GPU</a:t>
            </a:r>
            <a:endParaRPr lang="en-US" sz="950" dirty="0"/>
          </a:p>
        </p:txBody>
      </p:sp>
      <p:sp>
        <p:nvSpPr>
          <p:cNvPr id="55" name="Text 53"/>
          <p:cNvSpPr/>
          <p:nvPr/>
        </p:nvSpPr>
        <p:spPr>
          <a:xfrm>
            <a:off x="4782312" y="3127248"/>
            <a:ext cx="1773936" cy="1600200"/>
          </a:xfrm>
          <a:prstGeom prst="rect">
            <a:avLst/>
          </a:prstGeom>
          <a:noFill/>
          <a:ln/>
        </p:spPr>
        <p:txBody>
          <a:bodyPr wrap="square" rtlCol="0" anchor="ctr"/>
          <a:lstStyle/>
          <a:p>
            <a:pPr marL="342900" indent="-342900">
              <a:buSzPct val="100000"/>
              <a:buChar char="•"/>
            </a:pPr>
            <a:r>
              <a:rPr lang="en-US" sz="900" dirty="0">
                <a:solidFill>
                  <a:srgbClr val="4A5568"/>
                </a:solidFill>
              </a:rPr>
              <a:t>Elastic GPU compute on demand</a:t>
            </a:r>
            <a:endParaRPr lang="en-US" sz="900" dirty="0"/>
          </a:p>
          <a:p>
            <a:pPr marL="342900" indent="-342900">
              <a:buSzPct val="100000"/>
              <a:buChar char="•"/>
            </a:pPr>
            <a:r>
              <a:rPr lang="en-US" sz="900" dirty="0">
                <a:solidFill>
                  <a:srgbClr val="4A5568"/>
                </a:solidFill>
              </a:rPr>
              <a:t>Secure, compliant Samsung infra</a:t>
            </a:r>
            <a:endParaRPr lang="en-US" sz="900" dirty="0"/>
          </a:p>
          <a:p>
            <a:pPr marL="342900" indent="-342900">
              <a:buSzPct val="100000"/>
              <a:buChar char="•"/>
            </a:pPr>
            <a:r>
              <a:rPr lang="en-US" sz="900" dirty="0">
                <a:solidFill>
                  <a:srgbClr val="4A5568"/>
                </a:solidFill>
              </a:rPr>
              <a:t>99.5% SLA uptime target</a:t>
            </a:r>
            <a:endParaRPr lang="en-US" sz="900" dirty="0"/>
          </a:p>
          <a:p>
            <a:pPr marL="342900" indent="-342900">
              <a:buSzPct val="100000"/>
              <a:buChar char="•"/>
            </a:pPr>
            <a:r>
              <a:rPr lang="en-US" sz="900" dirty="0">
                <a:solidFill>
                  <a:srgbClr val="4A5568"/>
                </a:solidFill>
              </a:rPr>
              <a:t>Auto-scales with volume spikes</a:t>
            </a:r>
            <a:endParaRPr lang="en-US" sz="900" dirty="0"/>
          </a:p>
        </p:txBody>
      </p:sp>
      <p:sp>
        <p:nvSpPr>
          <p:cNvPr id="56" name="Shape 54"/>
          <p:cNvSpPr/>
          <p:nvPr/>
        </p:nvSpPr>
        <p:spPr>
          <a:xfrm>
            <a:off x="6848856" y="2670048"/>
            <a:ext cx="1993392" cy="2103120"/>
          </a:xfrm>
          <a:prstGeom prst="rect">
            <a:avLst/>
          </a:prstGeom>
          <a:solidFill>
            <a:srgbClr val="FFFFFF"/>
          </a:solidFill>
          <a:ln w="12700">
            <a:solidFill>
              <a:srgbClr val="D1D9E6"/>
            </a:solidFill>
            <a:prstDash val="solid"/>
          </a:ln>
          <a:effectLst>
            <a:outerShdw sx="100000" sy="100000" kx="0" ky="0" algn="bl" rotWithShape="0" blurRad="127000" dist="38100" dir="8100000">
              <a:srgbClr val="000000">
                <a:alpha val="10000"/>
              </a:srgbClr>
            </a:outerShdw>
          </a:effectLst>
        </p:spPr>
      </p:sp>
      <p:sp>
        <p:nvSpPr>
          <p:cNvPr id="57" name="Shape 55"/>
          <p:cNvSpPr/>
          <p:nvPr/>
        </p:nvSpPr>
        <p:spPr>
          <a:xfrm>
            <a:off x="6848856" y="2670048"/>
            <a:ext cx="1993392" cy="36576"/>
          </a:xfrm>
          <a:prstGeom prst="rect">
            <a:avLst/>
          </a:prstGeom>
          <a:solidFill>
            <a:srgbClr val="0F7B6C"/>
          </a:solidFill>
          <a:ln w="12700">
            <a:solidFill>
              <a:srgbClr val="0F7B6C"/>
            </a:solidFill>
            <a:prstDash val="solid"/>
          </a:ln>
        </p:spPr>
      </p:sp>
      <p:sp>
        <p:nvSpPr>
          <p:cNvPr id="58" name="Shape 56"/>
          <p:cNvSpPr/>
          <p:nvPr/>
        </p:nvSpPr>
        <p:spPr>
          <a:xfrm>
            <a:off x="6848856" y="2706624"/>
            <a:ext cx="1993392" cy="347472"/>
          </a:xfrm>
          <a:prstGeom prst="rect">
            <a:avLst/>
          </a:prstGeom>
          <a:solidFill>
            <a:srgbClr val="F8F9FC"/>
          </a:solidFill>
          <a:ln w="12700">
            <a:solidFill>
              <a:srgbClr val="F8F9FC"/>
            </a:solidFill>
            <a:prstDash val="solid"/>
          </a:ln>
        </p:spPr>
      </p:sp>
      <p:sp>
        <p:nvSpPr>
          <p:cNvPr id="59" name="Text 57"/>
          <p:cNvSpPr/>
          <p:nvPr/>
        </p:nvSpPr>
        <p:spPr>
          <a:xfrm>
            <a:off x="6958584" y="2706624"/>
            <a:ext cx="1773936" cy="347472"/>
          </a:xfrm>
          <a:prstGeom prst="rect">
            <a:avLst/>
          </a:prstGeom>
          <a:noFill/>
          <a:ln/>
        </p:spPr>
        <p:txBody>
          <a:bodyPr wrap="square" lIns="0" tIns="0" rIns="0" bIns="0" rtlCol="0" anchor="ctr"/>
          <a:lstStyle/>
          <a:p>
            <a:pPr indent="0" marL="0">
              <a:buNone/>
            </a:pPr>
            <a:r>
              <a:rPr lang="en-US" sz="950" b="1" dirty="0">
                <a:solidFill>
                  <a:srgbClr val="0F7B6C"/>
                </a:solidFill>
              </a:rPr>
              <a:t>System Integration</a:t>
            </a:r>
            <a:endParaRPr lang="en-US" sz="950" dirty="0"/>
          </a:p>
        </p:txBody>
      </p:sp>
      <p:sp>
        <p:nvSpPr>
          <p:cNvPr id="60" name="Text 58"/>
          <p:cNvSpPr/>
          <p:nvPr/>
        </p:nvSpPr>
        <p:spPr>
          <a:xfrm>
            <a:off x="6958584" y="3127248"/>
            <a:ext cx="1773936" cy="1600200"/>
          </a:xfrm>
          <a:prstGeom prst="rect">
            <a:avLst/>
          </a:prstGeom>
          <a:noFill/>
          <a:ln/>
        </p:spPr>
        <p:txBody>
          <a:bodyPr wrap="square" rtlCol="0" anchor="ctr"/>
          <a:lstStyle/>
          <a:p>
            <a:pPr marL="342900" indent="-342900">
              <a:buSzPct val="100000"/>
              <a:buChar char="•"/>
            </a:pPr>
            <a:r>
              <a:rPr lang="en-US" sz="900" dirty="0">
                <a:solidFill>
                  <a:srgbClr val="4A5568"/>
                </a:solidFill>
              </a:rPr>
              <a:t>REST API result push to CMS</a:t>
            </a:r>
            <a:endParaRPr lang="en-US" sz="900" dirty="0"/>
          </a:p>
          <a:p>
            <a:pPr marL="342900" indent="-342900">
              <a:buSzPct val="100000"/>
              <a:buChar char="•"/>
            </a:pPr>
            <a:r>
              <a:rPr lang="en-US" sz="900" dirty="0">
                <a:solidFill>
                  <a:srgbClr val="4A5568"/>
                </a:solidFill>
              </a:rPr>
              <a:t>ERP / CRM integration ready</a:t>
            </a:r>
            <a:endParaRPr lang="en-US" sz="900" dirty="0"/>
          </a:p>
          <a:p>
            <a:pPr marL="342900" indent="-342900">
              <a:buSzPct val="100000"/>
              <a:buChar char="•"/>
            </a:pPr>
            <a:r>
              <a:rPr lang="en-US" sz="900" dirty="0">
                <a:solidFill>
                  <a:srgbClr val="4A5568"/>
                </a:solidFill>
              </a:rPr>
              <a:t>Structured audit log per claim</a:t>
            </a:r>
            <a:endParaRPr lang="en-US" sz="900" dirty="0"/>
          </a:p>
          <a:p>
            <a:pPr marL="342900" indent="-342900">
              <a:buSzPct val="100000"/>
              <a:buChar char="•"/>
            </a:pPr>
            <a:r>
              <a:rPr lang="en-US" sz="900" dirty="0">
                <a:solidFill>
                  <a:srgbClr val="4A5568"/>
                </a:solidFill>
              </a:rPr>
              <a:t>Dashboard &amp; ops monitoring</a:t>
            </a:r>
            <a:endParaRPr lang="en-US" sz="900" dirty="0"/>
          </a:p>
        </p:txBody>
      </p:sp>
      <p:sp>
        <p:nvSpPr>
          <p:cNvPr id="61" name="Shape 59"/>
          <p:cNvSpPr/>
          <p:nvPr/>
        </p:nvSpPr>
        <p:spPr>
          <a:xfrm>
            <a:off x="0" y="4956048"/>
            <a:ext cx="9144000" cy="182880"/>
          </a:xfrm>
          <a:prstGeom prst="rect">
            <a:avLst/>
          </a:prstGeom>
          <a:solidFill>
            <a:srgbClr val="EDF0F7"/>
          </a:solidFill>
          <a:ln w="12700">
            <a:solidFill>
              <a:srgbClr val="EDF0F7"/>
            </a:solidFill>
            <a:prstDash val="solid"/>
          </a:ln>
        </p:spPr>
      </p:sp>
      <p:sp>
        <p:nvSpPr>
          <p:cNvPr id="62" name="Text 60"/>
          <p:cNvSpPr/>
          <p:nvPr/>
        </p:nvSpPr>
        <p:spPr>
          <a:xfrm>
            <a:off x="0" y="4956048"/>
            <a:ext cx="9144000" cy="182880"/>
          </a:xfrm>
          <a:prstGeom prst="rect">
            <a:avLst/>
          </a:prstGeom>
          <a:noFill/>
          <a:ln/>
        </p:spPr>
        <p:txBody>
          <a:bodyPr wrap="square" lIns="0" tIns="0" rIns="0" bIns="0" rtlCol="0" anchor="ctr"/>
          <a:lstStyle/>
          <a:p>
            <a:pPr algn="ctr" indent="0" marL="0">
              <a:buNone/>
            </a:pPr>
            <a:r>
              <a:rPr lang="en-US" sz="750" dirty="0">
                <a:solidFill>
                  <a:srgbClr val="8A94A8"/>
                </a:solidFill>
              </a:rPr>
              <a:t>CONFIDENTIAL  ·  Project CLARITY  ·  CTO Briefing  ·  May 2025</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428A0"/>
          </a:solidFill>
          <a:ln w="12700">
            <a:solidFill>
              <a:srgbClr val="1428A0"/>
            </a:solidFill>
            <a:prstDash val="solid"/>
          </a:ln>
        </p:spPr>
      </p:sp>
      <p:sp>
        <p:nvSpPr>
          <p:cNvPr id="3" name="Shape 1"/>
          <p:cNvSpPr/>
          <p:nvPr/>
        </p:nvSpPr>
        <p:spPr>
          <a:xfrm>
            <a:off x="0" y="658368"/>
            <a:ext cx="9144000" cy="41148"/>
          </a:xfrm>
          <a:prstGeom prst="rect">
            <a:avLst/>
          </a:prstGeom>
          <a:solidFill>
            <a:srgbClr val="0078D4"/>
          </a:solidFill>
          <a:ln w="12700">
            <a:solidFill>
              <a:srgbClr val="0078D4"/>
            </a:solidFill>
            <a:prstDash val="solid"/>
          </a:ln>
        </p:spPr>
      </p:sp>
      <p:sp>
        <p:nvSpPr>
          <p:cNvPr id="4" name="Text 2"/>
          <p:cNvSpPr/>
          <p:nvPr/>
        </p:nvSpPr>
        <p:spPr>
          <a:xfrm>
            <a:off x="411480" y="0"/>
            <a:ext cx="7315200" cy="658368"/>
          </a:xfrm>
          <a:prstGeom prst="rect">
            <a:avLst/>
          </a:prstGeom>
          <a:noFill/>
          <a:ln/>
        </p:spPr>
        <p:txBody>
          <a:bodyPr wrap="square" lIns="0" tIns="0" rIns="0" bIns="0" rtlCol="0" anchor="ctr"/>
          <a:lstStyle/>
          <a:p>
            <a:pPr indent="0" marL="0">
              <a:buNone/>
            </a:pPr>
            <a:r>
              <a:rPr lang="en-US" sz="1400" b="1" spc="200" kern="0" dirty="0">
                <a:solidFill>
                  <a:srgbClr val="FFFFFF"/>
                </a:solidFill>
              </a:rPr>
              <a:t>WARRANTY CLAIM CATEGORIES</a:t>
            </a:r>
            <a:endParaRPr lang="en-US" sz="1400" dirty="0"/>
          </a:p>
        </p:txBody>
      </p:sp>
      <p:sp>
        <p:nvSpPr>
          <p:cNvPr id="5" name="Text 3"/>
          <p:cNvSpPr/>
          <p:nvPr/>
        </p:nvSpPr>
        <p:spPr>
          <a:xfrm>
            <a:off x="6400800" y="0"/>
            <a:ext cx="2514600" cy="658368"/>
          </a:xfrm>
          <a:prstGeom prst="rect">
            <a:avLst/>
          </a:prstGeom>
          <a:noFill/>
          <a:ln/>
        </p:spPr>
        <p:txBody>
          <a:bodyPr wrap="square" lIns="0" tIns="0" rIns="0" bIns="0" rtlCol="0" anchor="ctr"/>
          <a:lstStyle/>
          <a:p>
            <a:pPr algn="r" indent="0" marL="0">
              <a:buNone/>
            </a:pPr>
            <a:r>
              <a:rPr lang="en-US" sz="900" dirty="0">
                <a:solidFill>
                  <a:srgbClr val="8899CC"/>
                </a:solidFill>
              </a:rPr>
              <a:t>5 Types  ·  9 Lakh+ Claims / Month</a:t>
            </a:r>
            <a:endParaRPr lang="en-US" sz="900" dirty="0"/>
          </a:p>
        </p:txBody>
      </p:sp>
      <p:sp>
        <p:nvSpPr>
          <p:cNvPr id="6" name="Text 4"/>
          <p:cNvSpPr/>
          <p:nvPr/>
        </p:nvSpPr>
        <p:spPr>
          <a:xfrm>
            <a:off x="411480" y="804672"/>
            <a:ext cx="8321040" cy="274320"/>
          </a:xfrm>
          <a:prstGeom prst="rect">
            <a:avLst/>
          </a:prstGeom>
          <a:noFill/>
          <a:ln/>
        </p:spPr>
        <p:txBody>
          <a:bodyPr wrap="square" lIns="0" tIns="0" rIns="0" bIns="0" rtlCol="0" anchor="ctr"/>
          <a:lstStyle/>
          <a:p>
            <a:pPr indent="0" marL="0">
              <a:buNone/>
            </a:pPr>
            <a:r>
              <a:rPr lang="en-US" sz="1050" dirty="0">
                <a:solidFill>
                  <a:srgbClr val="4A5568"/>
                </a:solidFill>
              </a:rPr>
              <a:t>The platform processes 5 distinct claim types across Samsung's service network — each with dedicated validation rules.</a:t>
            </a:r>
            <a:endParaRPr lang="en-US" sz="1050" dirty="0"/>
          </a:p>
        </p:txBody>
      </p:sp>
      <p:sp>
        <p:nvSpPr>
          <p:cNvPr id="7" name="Shape 5"/>
          <p:cNvSpPr/>
          <p:nvPr/>
        </p:nvSpPr>
        <p:spPr>
          <a:xfrm>
            <a:off x="320040" y="1207008"/>
            <a:ext cx="2724912" cy="1828800"/>
          </a:xfrm>
          <a:prstGeom prst="rect">
            <a:avLst/>
          </a:prstGeom>
          <a:solidFill>
            <a:srgbClr val="FFFFFF"/>
          </a:solidFill>
          <a:ln w="12700">
            <a:solidFill>
              <a:srgbClr val="D1D9E6"/>
            </a:solidFill>
            <a:prstDash val="solid"/>
          </a:ln>
          <a:effectLst>
            <a:outerShdw sx="100000" sy="100000" kx="0" ky="0" algn="bl" rotWithShape="0" blurRad="127000" dist="38100" dir="8100000">
              <a:srgbClr val="000000">
                <a:alpha val="10000"/>
              </a:srgbClr>
            </a:outerShdw>
          </a:effectLst>
        </p:spPr>
      </p:sp>
      <p:sp>
        <p:nvSpPr>
          <p:cNvPr id="8" name="Shape 6"/>
          <p:cNvSpPr/>
          <p:nvPr/>
        </p:nvSpPr>
        <p:spPr>
          <a:xfrm>
            <a:off x="320040" y="1207008"/>
            <a:ext cx="2724912" cy="54864"/>
          </a:xfrm>
          <a:prstGeom prst="rect">
            <a:avLst/>
          </a:prstGeom>
          <a:solidFill>
            <a:srgbClr val="0078D4"/>
          </a:solidFill>
          <a:ln w="12700">
            <a:solidFill>
              <a:srgbClr val="0078D4"/>
            </a:solidFill>
            <a:prstDash val="solid"/>
          </a:ln>
        </p:spPr>
      </p:sp>
      <p:sp>
        <p:nvSpPr>
          <p:cNvPr id="9" name="Shape 7"/>
          <p:cNvSpPr/>
          <p:nvPr/>
        </p:nvSpPr>
        <p:spPr>
          <a:xfrm>
            <a:off x="320040" y="1261872"/>
            <a:ext cx="2724912" cy="384048"/>
          </a:xfrm>
          <a:prstGeom prst="rect">
            <a:avLst/>
          </a:prstGeom>
          <a:solidFill>
            <a:srgbClr val="F8F9FC"/>
          </a:solidFill>
          <a:ln w="12700">
            <a:solidFill>
              <a:srgbClr val="F8F9FC"/>
            </a:solidFill>
            <a:prstDash val="solid"/>
          </a:ln>
        </p:spPr>
      </p:sp>
      <p:sp>
        <p:nvSpPr>
          <p:cNvPr id="10" name="Text 8"/>
          <p:cNvSpPr/>
          <p:nvPr/>
        </p:nvSpPr>
        <p:spPr>
          <a:xfrm>
            <a:off x="429768" y="1280160"/>
            <a:ext cx="1645920" cy="329184"/>
          </a:xfrm>
          <a:prstGeom prst="rect">
            <a:avLst/>
          </a:prstGeom>
          <a:noFill/>
          <a:ln/>
        </p:spPr>
        <p:txBody>
          <a:bodyPr wrap="square" lIns="0" tIns="0" rIns="0" bIns="0" rtlCol="0" anchor="ctr"/>
          <a:lstStyle/>
          <a:p>
            <a:pPr indent="0" marL="0">
              <a:buNone/>
            </a:pPr>
            <a:r>
              <a:rPr lang="en-US" sz="1100" b="1" dirty="0">
                <a:solidFill>
                  <a:srgbClr val="0078D4"/>
                </a:solidFill>
              </a:rPr>
              <a:t>Gas Charging</a:t>
            </a:r>
            <a:endParaRPr lang="en-US" sz="1100" dirty="0"/>
          </a:p>
        </p:txBody>
      </p:sp>
      <p:sp>
        <p:nvSpPr>
          <p:cNvPr id="11" name="Text 9"/>
          <p:cNvSpPr/>
          <p:nvPr/>
        </p:nvSpPr>
        <p:spPr>
          <a:xfrm>
            <a:off x="2103120" y="1280160"/>
            <a:ext cx="822960" cy="329184"/>
          </a:xfrm>
          <a:prstGeom prst="rect">
            <a:avLst/>
          </a:prstGeom>
          <a:noFill/>
          <a:ln/>
        </p:spPr>
        <p:txBody>
          <a:bodyPr wrap="square" lIns="0" tIns="0" rIns="0" bIns="0" rtlCol="0" anchor="ctr"/>
          <a:lstStyle/>
          <a:p>
            <a:pPr algn="r" indent="0" marL="0">
              <a:buNone/>
            </a:pPr>
            <a:r>
              <a:rPr lang="en-US" sz="850" dirty="0">
                <a:solidFill>
                  <a:srgbClr val="8A94A8"/>
                </a:solidFill>
              </a:rPr>
              <a:t>~2.2L / mo</a:t>
            </a:r>
            <a:endParaRPr lang="en-US" sz="850" dirty="0"/>
          </a:p>
        </p:txBody>
      </p:sp>
      <p:sp>
        <p:nvSpPr>
          <p:cNvPr id="12" name="Text 10"/>
          <p:cNvSpPr/>
          <p:nvPr/>
        </p:nvSpPr>
        <p:spPr>
          <a:xfrm>
            <a:off x="429768" y="1700784"/>
            <a:ext cx="2505456" cy="475488"/>
          </a:xfrm>
          <a:prstGeom prst="rect">
            <a:avLst/>
          </a:prstGeom>
          <a:noFill/>
          <a:ln/>
        </p:spPr>
        <p:txBody>
          <a:bodyPr wrap="square" lIns="0" tIns="0" rIns="0" bIns="0" rtlCol="0" anchor="ctr"/>
          <a:lstStyle/>
          <a:p>
            <a:pPr indent="0" marL="0">
              <a:buNone/>
            </a:pPr>
            <a:r>
              <a:rPr lang="en-US" sz="900" dirty="0">
                <a:solidFill>
                  <a:srgbClr val="4A5568"/>
                </a:solidFill>
              </a:rPr>
              <a:t>AC refrigerant gas refill claims raised by service engineers post repair.</a:t>
            </a:r>
            <a:endParaRPr lang="en-US" sz="900" dirty="0"/>
          </a:p>
        </p:txBody>
      </p:sp>
      <p:sp>
        <p:nvSpPr>
          <p:cNvPr id="13" name="Shape 11"/>
          <p:cNvSpPr/>
          <p:nvPr/>
        </p:nvSpPr>
        <p:spPr>
          <a:xfrm>
            <a:off x="429768" y="2194560"/>
            <a:ext cx="2505456" cy="22860"/>
          </a:xfrm>
          <a:prstGeom prst="rect">
            <a:avLst/>
          </a:prstGeom>
          <a:solidFill>
            <a:srgbClr val="D1D9E6"/>
          </a:solidFill>
          <a:ln w="12700">
            <a:solidFill>
              <a:srgbClr val="D1D9E6"/>
            </a:solidFill>
            <a:prstDash val="solid"/>
          </a:ln>
        </p:spPr>
      </p:sp>
      <p:sp>
        <p:nvSpPr>
          <p:cNvPr id="14" name="Text 12"/>
          <p:cNvSpPr/>
          <p:nvPr/>
        </p:nvSpPr>
        <p:spPr>
          <a:xfrm>
            <a:off x="429768" y="2231136"/>
            <a:ext cx="2505456" cy="749808"/>
          </a:xfrm>
          <a:prstGeom prst="rect">
            <a:avLst/>
          </a:prstGeom>
          <a:noFill/>
          <a:ln/>
        </p:spPr>
        <p:txBody>
          <a:bodyPr wrap="square" rtlCol="0" anchor="ctr"/>
          <a:lstStyle/>
          <a:p>
            <a:pPr marL="342900" indent="-342900">
              <a:buSzPct val="100000"/>
              <a:buChar char="•"/>
            </a:pPr>
            <a:r>
              <a:rPr lang="en-US" sz="850" dirty="0">
                <a:solidFill>
                  <a:srgbClr val="1A202C"/>
                </a:solidFill>
              </a:rPr>
              <a:t>Gas qty vs. approved standard</a:t>
            </a:r>
            <a:endParaRPr lang="en-US" sz="850" dirty="0"/>
          </a:p>
          <a:p>
            <a:pPr marL="342900" indent="-342900">
              <a:buSzPct val="100000"/>
              <a:buChar char="•"/>
            </a:pPr>
            <a:r>
              <a:rPr lang="en-US" sz="850" dirty="0">
                <a:solidFill>
                  <a:srgbClr val="1A202C"/>
                </a:solidFill>
              </a:rPr>
              <a:t>Technician cert validation</a:t>
            </a:r>
            <a:endParaRPr lang="en-US" sz="850" dirty="0"/>
          </a:p>
          <a:p>
            <a:pPr marL="342900" indent="-342900">
              <a:buSzPct val="100000"/>
              <a:buChar char="•"/>
            </a:pPr>
            <a:r>
              <a:rPr lang="en-US" sz="850" dirty="0">
                <a:solidFill>
                  <a:srgbClr val="1A202C"/>
                </a:solidFill>
              </a:rPr>
              <a:t>Rate card compliance</a:t>
            </a:r>
            <a:endParaRPr lang="en-US" sz="850" dirty="0"/>
          </a:p>
          <a:p>
            <a:pPr marL="342900" indent="-342900">
              <a:buSzPct val="100000"/>
              <a:buChar char="•"/>
            </a:pPr>
            <a:r>
              <a:rPr lang="en-US" sz="850" dirty="0">
                <a:solidFill>
                  <a:srgbClr val="1A202C"/>
                </a:solidFill>
              </a:rPr>
              <a:t>Date &amp; location stamp</a:t>
            </a:r>
            <a:endParaRPr lang="en-US" sz="850" dirty="0"/>
          </a:p>
        </p:txBody>
      </p:sp>
      <p:sp>
        <p:nvSpPr>
          <p:cNvPr id="15" name="Shape 13"/>
          <p:cNvSpPr/>
          <p:nvPr/>
        </p:nvSpPr>
        <p:spPr>
          <a:xfrm>
            <a:off x="3172968" y="1207008"/>
            <a:ext cx="2724912" cy="1828800"/>
          </a:xfrm>
          <a:prstGeom prst="rect">
            <a:avLst/>
          </a:prstGeom>
          <a:solidFill>
            <a:srgbClr val="FFFFFF"/>
          </a:solidFill>
          <a:ln w="12700">
            <a:solidFill>
              <a:srgbClr val="D1D9E6"/>
            </a:solidFill>
            <a:prstDash val="solid"/>
          </a:ln>
          <a:effectLst>
            <a:outerShdw sx="100000" sy="100000" kx="0" ky="0" algn="bl" rotWithShape="0" blurRad="127000" dist="38100" dir="8100000">
              <a:srgbClr val="000000">
                <a:alpha val="10000"/>
              </a:srgbClr>
            </a:outerShdw>
          </a:effectLst>
        </p:spPr>
      </p:sp>
      <p:sp>
        <p:nvSpPr>
          <p:cNvPr id="16" name="Shape 14"/>
          <p:cNvSpPr/>
          <p:nvPr/>
        </p:nvSpPr>
        <p:spPr>
          <a:xfrm>
            <a:off x="3172968" y="1207008"/>
            <a:ext cx="2724912" cy="54864"/>
          </a:xfrm>
          <a:prstGeom prst="rect">
            <a:avLst/>
          </a:prstGeom>
          <a:solidFill>
            <a:srgbClr val="6D3FBC"/>
          </a:solidFill>
          <a:ln w="12700">
            <a:solidFill>
              <a:srgbClr val="6D3FBC"/>
            </a:solidFill>
            <a:prstDash val="solid"/>
          </a:ln>
        </p:spPr>
      </p:sp>
      <p:sp>
        <p:nvSpPr>
          <p:cNvPr id="17" name="Shape 15"/>
          <p:cNvSpPr/>
          <p:nvPr/>
        </p:nvSpPr>
        <p:spPr>
          <a:xfrm>
            <a:off x="3172968" y="1261872"/>
            <a:ext cx="2724912" cy="384048"/>
          </a:xfrm>
          <a:prstGeom prst="rect">
            <a:avLst/>
          </a:prstGeom>
          <a:solidFill>
            <a:srgbClr val="F8F9FC"/>
          </a:solidFill>
          <a:ln w="12700">
            <a:solidFill>
              <a:srgbClr val="F8F9FC"/>
            </a:solidFill>
            <a:prstDash val="solid"/>
          </a:ln>
        </p:spPr>
      </p:sp>
      <p:sp>
        <p:nvSpPr>
          <p:cNvPr id="18" name="Text 16"/>
          <p:cNvSpPr/>
          <p:nvPr/>
        </p:nvSpPr>
        <p:spPr>
          <a:xfrm>
            <a:off x="3282696" y="1280160"/>
            <a:ext cx="1645920" cy="329184"/>
          </a:xfrm>
          <a:prstGeom prst="rect">
            <a:avLst/>
          </a:prstGeom>
          <a:noFill/>
          <a:ln/>
        </p:spPr>
        <p:txBody>
          <a:bodyPr wrap="square" lIns="0" tIns="0" rIns="0" bIns="0" rtlCol="0" anchor="ctr"/>
          <a:lstStyle/>
          <a:p>
            <a:pPr indent="0" marL="0">
              <a:buNone/>
            </a:pPr>
            <a:r>
              <a:rPr lang="en-US" sz="1100" b="1" dirty="0">
                <a:solidFill>
                  <a:srgbClr val="6D3FBC"/>
                </a:solidFill>
              </a:rPr>
              <a:t>TV Panel Repair</a:t>
            </a:r>
            <a:endParaRPr lang="en-US" sz="1100" dirty="0"/>
          </a:p>
        </p:txBody>
      </p:sp>
      <p:sp>
        <p:nvSpPr>
          <p:cNvPr id="19" name="Text 17"/>
          <p:cNvSpPr/>
          <p:nvPr/>
        </p:nvSpPr>
        <p:spPr>
          <a:xfrm>
            <a:off x="4956048" y="1280160"/>
            <a:ext cx="822960" cy="329184"/>
          </a:xfrm>
          <a:prstGeom prst="rect">
            <a:avLst/>
          </a:prstGeom>
          <a:noFill/>
          <a:ln/>
        </p:spPr>
        <p:txBody>
          <a:bodyPr wrap="square" lIns="0" tIns="0" rIns="0" bIns="0" rtlCol="0" anchor="ctr"/>
          <a:lstStyle/>
          <a:p>
            <a:pPr algn="r" indent="0" marL="0">
              <a:buNone/>
            </a:pPr>
            <a:r>
              <a:rPr lang="en-US" sz="850" dirty="0">
                <a:solidFill>
                  <a:srgbClr val="8A94A8"/>
                </a:solidFill>
              </a:rPr>
              <a:t>~1.8L / mo</a:t>
            </a:r>
            <a:endParaRPr lang="en-US" sz="850" dirty="0"/>
          </a:p>
        </p:txBody>
      </p:sp>
      <p:sp>
        <p:nvSpPr>
          <p:cNvPr id="20" name="Text 18"/>
          <p:cNvSpPr/>
          <p:nvPr/>
        </p:nvSpPr>
        <p:spPr>
          <a:xfrm>
            <a:off x="3282696" y="1700784"/>
            <a:ext cx="2505456" cy="475488"/>
          </a:xfrm>
          <a:prstGeom prst="rect">
            <a:avLst/>
          </a:prstGeom>
          <a:noFill/>
          <a:ln/>
        </p:spPr>
        <p:txBody>
          <a:bodyPr wrap="square" lIns="0" tIns="0" rIns="0" bIns="0" rtlCol="0" anchor="ctr"/>
          <a:lstStyle/>
          <a:p>
            <a:pPr indent="0" marL="0">
              <a:buNone/>
            </a:pPr>
            <a:r>
              <a:rPr lang="en-US" sz="900" dirty="0">
                <a:solidFill>
                  <a:srgbClr val="4A5568"/>
                </a:solidFill>
              </a:rPr>
              <a:t>Display panel defect or damage claims — high-value, fraud-prone category.</a:t>
            </a:r>
            <a:endParaRPr lang="en-US" sz="900" dirty="0"/>
          </a:p>
        </p:txBody>
      </p:sp>
      <p:sp>
        <p:nvSpPr>
          <p:cNvPr id="21" name="Shape 19"/>
          <p:cNvSpPr/>
          <p:nvPr/>
        </p:nvSpPr>
        <p:spPr>
          <a:xfrm>
            <a:off x="3282696" y="2194560"/>
            <a:ext cx="2505456" cy="22860"/>
          </a:xfrm>
          <a:prstGeom prst="rect">
            <a:avLst/>
          </a:prstGeom>
          <a:solidFill>
            <a:srgbClr val="D1D9E6"/>
          </a:solidFill>
          <a:ln w="12700">
            <a:solidFill>
              <a:srgbClr val="D1D9E6"/>
            </a:solidFill>
            <a:prstDash val="solid"/>
          </a:ln>
        </p:spPr>
      </p:sp>
      <p:sp>
        <p:nvSpPr>
          <p:cNvPr id="22" name="Text 20"/>
          <p:cNvSpPr/>
          <p:nvPr/>
        </p:nvSpPr>
        <p:spPr>
          <a:xfrm>
            <a:off x="3282696" y="2231136"/>
            <a:ext cx="2505456" cy="749808"/>
          </a:xfrm>
          <a:prstGeom prst="rect">
            <a:avLst/>
          </a:prstGeom>
          <a:noFill/>
          <a:ln/>
        </p:spPr>
        <p:txBody>
          <a:bodyPr wrap="square" rtlCol="0" anchor="ctr"/>
          <a:lstStyle/>
          <a:p>
            <a:pPr marL="342900" indent="-342900">
              <a:buSzPct val="100000"/>
              <a:buChar char="•"/>
            </a:pPr>
            <a:r>
              <a:rPr lang="en-US" sz="850" dirty="0">
                <a:solidFill>
                  <a:srgbClr val="1A202C"/>
                </a:solidFill>
              </a:rPr>
              <a:t>Panel serial number OCR</a:t>
            </a:r>
            <a:endParaRPr lang="en-US" sz="850" dirty="0"/>
          </a:p>
          <a:p>
            <a:pPr marL="342900" indent="-342900">
              <a:buSzPct val="100000"/>
              <a:buChar char="•"/>
            </a:pPr>
            <a:r>
              <a:rPr lang="en-US" sz="850" dirty="0">
                <a:solidFill>
                  <a:srgbClr val="1A202C"/>
                </a:solidFill>
              </a:rPr>
              <a:t>Damage image classification</a:t>
            </a:r>
            <a:endParaRPr lang="en-US" sz="850" dirty="0"/>
          </a:p>
          <a:p>
            <a:pPr marL="342900" indent="-342900">
              <a:buSzPct val="100000"/>
              <a:buChar char="•"/>
            </a:pPr>
            <a:r>
              <a:rPr lang="en-US" sz="850" dirty="0">
                <a:solidFill>
                  <a:srgbClr val="1A202C"/>
                </a:solidFill>
              </a:rPr>
              <a:t>Warranty period check</a:t>
            </a:r>
            <a:endParaRPr lang="en-US" sz="850" dirty="0"/>
          </a:p>
          <a:p>
            <a:pPr marL="342900" indent="-342900">
              <a:buSzPct val="100000"/>
              <a:buChar char="•"/>
            </a:pPr>
            <a:r>
              <a:rPr lang="en-US" sz="850" dirty="0">
                <a:solidFill>
                  <a:srgbClr val="1A202C"/>
                </a:solidFill>
              </a:rPr>
              <a:t>Model compatibility</a:t>
            </a:r>
            <a:endParaRPr lang="en-US" sz="850" dirty="0"/>
          </a:p>
        </p:txBody>
      </p:sp>
      <p:sp>
        <p:nvSpPr>
          <p:cNvPr id="23" name="Shape 21"/>
          <p:cNvSpPr/>
          <p:nvPr/>
        </p:nvSpPr>
        <p:spPr>
          <a:xfrm>
            <a:off x="6025896" y="1207008"/>
            <a:ext cx="2724912" cy="1828800"/>
          </a:xfrm>
          <a:prstGeom prst="rect">
            <a:avLst/>
          </a:prstGeom>
          <a:solidFill>
            <a:srgbClr val="FFFFFF"/>
          </a:solidFill>
          <a:ln w="12700">
            <a:solidFill>
              <a:srgbClr val="D1D9E6"/>
            </a:solidFill>
            <a:prstDash val="solid"/>
          </a:ln>
          <a:effectLst>
            <a:outerShdw sx="100000" sy="100000" kx="0" ky="0" algn="bl" rotWithShape="0" blurRad="127000" dist="38100" dir="8100000">
              <a:srgbClr val="000000">
                <a:alpha val="10000"/>
              </a:srgbClr>
            </a:outerShdw>
          </a:effectLst>
        </p:spPr>
      </p:sp>
      <p:sp>
        <p:nvSpPr>
          <p:cNvPr id="24" name="Shape 22"/>
          <p:cNvSpPr/>
          <p:nvPr/>
        </p:nvSpPr>
        <p:spPr>
          <a:xfrm>
            <a:off x="6025896" y="1207008"/>
            <a:ext cx="2724912" cy="54864"/>
          </a:xfrm>
          <a:prstGeom prst="rect">
            <a:avLst/>
          </a:prstGeom>
          <a:solidFill>
            <a:srgbClr val="C05800"/>
          </a:solidFill>
          <a:ln w="12700">
            <a:solidFill>
              <a:srgbClr val="C05800"/>
            </a:solidFill>
            <a:prstDash val="solid"/>
          </a:ln>
        </p:spPr>
      </p:sp>
      <p:sp>
        <p:nvSpPr>
          <p:cNvPr id="25" name="Shape 23"/>
          <p:cNvSpPr/>
          <p:nvPr/>
        </p:nvSpPr>
        <p:spPr>
          <a:xfrm>
            <a:off x="6025896" y="1261872"/>
            <a:ext cx="2724912" cy="384048"/>
          </a:xfrm>
          <a:prstGeom prst="rect">
            <a:avLst/>
          </a:prstGeom>
          <a:solidFill>
            <a:srgbClr val="F8F9FC"/>
          </a:solidFill>
          <a:ln w="12700">
            <a:solidFill>
              <a:srgbClr val="F8F9FC"/>
            </a:solidFill>
            <a:prstDash val="solid"/>
          </a:ln>
        </p:spPr>
      </p:sp>
      <p:sp>
        <p:nvSpPr>
          <p:cNvPr id="26" name="Text 24"/>
          <p:cNvSpPr/>
          <p:nvPr/>
        </p:nvSpPr>
        <p:spPr>
          <a:xfrm>
            <a:off x="6135624" y="1280160"/>
            <a:ext cx="1645920" cy="329184"/>
          </a:xfrm>
          <a:prstGeom prst="rect">
            <a:avLst/>
          </a:prstGeom>
          <a:noFill/>
          <a:ln/>
        </p:spPr>
        <p:txBody>
          <a:bodyPr wrap="square" lIns="0" tIns="0" rIns="0" bIns="0" rtlCol="0" anchor="ctr"/>
          <a:lstStyle/>
          <a:p>
            <a:pPr indent="0" marL="0">
              <a:buNone/>
            </a:pPr>
            <a:r>
              <a:rPr lang="en-US" sz="1100" b="1" dirty="0">
                <a:solidFill>
                  <a:srgbClr val="C05800"/>
                </a:solidFill>
              </a:rPr>
              <a:t>PCB / Board Repair</a:t>
            </a:r>
            <a:endParaRPr lang="en-US" sz="1100" dirty="0"/>
          </a:p>
        </p:txBody>
      </p:sp>
      <p:sp>
        <p:nvSpPr>
          <p:cNvPr id="27" name="Text 25"/>
          <p:cNvSpPr/>
          <p:nvPr/>
        </p:nvSpPr>
        <p:spPr>
          <a:xfrm>
            <a:off x="7808976" y="1280160"/>
            <a:ext cx="822960" cy="329184"/>
          </a:xfrm>
          <a:prstGeom prst="rect">
            <a:avLst/>
          </a:prstGeom>
          <a:noFill/>
          <a:ln/>
        </p:spPr>
        <p:txBody>
          <a:bodyPr wrap="square" lIns="0" tIns="0" rIns="0" bIns="0" rtlCol="0" anchor="ctr"/>
          <a:lstStyle/>
          <a:p>
            <a:pPr algn="r" indent="0" marL="0">
              <a:buNone/>
            </a:pPr>
            <a:r>
              <a:rPr lang="en-US" sz="850" dirty="0">
                <a:solidFill>
                  <a:srgbClr val="8A94A8"/>
                </a:solidFill>
              </a:rPr>
              <a:t>~1.5L / mo</a:t>
            </a:r>
            <a:endParaRPr lang="en-US" sz="850" dirty="0"/>
          </a:p>
        </p:txBody>
      </p:sp>
      <p:sp>
        <p:nvSpPr>
          <p:cNvPr id="28" name="Text 26"/>
          <p:cNvSpPr/>
          <p:nvPr/>
        </p:nvSpPr>
        <p:spPr>
          <a:xfrm>
            <a:off x="6135624" y="1700784"/>
            <a:ext cx="2505456" cy="475488"/>
          </a:xfrm>
          <a:prstGeom prst="rect">
            <a:avLst/>
          </a:prstGeom>
          <a:noFill/>
          <a:ln/>
        </p:spPr>
        <p:txBody>
          <a:bodyPr wrap="square" lIns="0" tIns="0" rIns="0" bIns="0" rtlCol="0" anchor="ctr"/>
          <a:lstStyle/>
          <a:p>
            <a:pPr indent="0" marL="0">
              <a:buNone/>
            </a:pPr>
            <a:r>
              <a:rPr lang="en-US" sz="900" dirty="0">
                <a:solidFill>
                  <a:srgbClr val="4A5568"/>
                </a:solidFill>
              </a:rPr>
              <a:t>PCB replacement claims across washing machines, refrigerators &amp; ACs.</a:t>
            </a:r>
            <a:endParaRPr lang="en-US" sz="900" dirty="0"/>
          </a:p>
        </p:txBody>
      </p:sp>
      <p:sp>
        <p:nvSpPr>
          <p:cNvPr id="29" name="Shape 27"/>
          <p:cNvSpPr/>
          <p:nvPr/>
        </p:nvSpPr>
        <p:spPr>
          <a:xfrm>
            <a:off x="6135624" y="2194560"/>
            <a:ext cx="2505456" cy="22860"/>
          </a:xfrm>
          <a:prstGeom prst="rect">
            <a:avLst/>
          </a:prstGeom>
          <a:solidFill>
            <a:srgbClr val="D1D9E6"/>
          </a:solidFill>
          <a:ln w="12700">
            <a:solidFill>
              <a:srgbClr val="D1D9E6"/>
            </a:solidFill>
            <a:prstDash val="solid"/>
          </a:ln>
        </p:spPr>
      </p:sp>
      <p:sp>
        <p:nvSpPr>
          <p:cNvPr id="30" name="Text 28"/>
          <p:cNvSpPr/>
          <p:nvPr/>
        </p:nvSpPr>
        <p:spPr>
          <a:xfrm>
            <a:off x="6135624" y="2231136"/>
            <a:ext cx="2505456" cy="749808"/>
          </a:xfrm>
          <a:prstGeom prst="rect">
            <a:avLst/>
          </a:prstGeom>
          <a:noFill/>
          <a:ln/>
        </p:spPr>
        <p:txBody>
          <a:bodyPr wrap="square" rtlCol="0" anchor="ctr"/>
          <a:lstStyle/>
          <a:p>
            <a:pPr marL="342900" indent="-342900">
              <a:buSzPct val="100000"/>
              <a:buChar char="•"/>
            </a:pPr>
            <a:r>
              <a:rPr lang="en-US" sz="850" dirty="0">
                <a:solidFill>
                  <a:srgbClr val="1A202C"/>
                </a:solidFill>
              </a:rPr>
              <a:t>Part number match</a:t>
            </a:r>
            <a:endParaRPr lang="en-US" sz="850" dirty="0"/>
          </a:p>
          <a:p>
            <a:pPr marL="342900" indent="-342900">
              <a:buSzPct val="100000"/>
              <a:buChar char="•"/>
            </a:pPr>
            <a:r>
              <a:rPr lang="en-US" sz="850" dirty="0">
                <a:solidFill>
                  <a:srgbClr val="1A202C"/>
                </a:solidFill>
              </a:rPr>
              <a:t>Repair cost vs. rate card</a:t>
            </a:r>
            <a:endParaRPr lang="en-US" sz="850" dirty="0"/>
          </a:p>
          <a:p>
            <a:pPr marL="342900" indent="-342900">
              <a:buSzPct val="100000"/>
              <a:buChar char="•"/>
            </a:pPr>
            <a:r>
              <a:rPr lang="en-US" sz="850" dirty="0">
                <a:solidFill>
                  <a:srgbClr val="1A202C"/>
                </a:solidFill>
              </a:rPr>
              <a:t>Authorised center flag</a:t>
            </a:r>
            <a:endParaRPr lang="en-US" sz="850" dirty="0"/>
          </a:p>
          <a:p>
            <a:pPr marL="342900" indent="-342900">
              <a:buSzPct val="100000"/>
              <a:buChar char="•"/>
            </a:pPr>
            <a:r>
              <a:rPr lang="en-US" sz="850" dirty="0">
                <a:solidFill>
                  <a:srgbClr val="1A202C"/>
                </a:solidFill>
              </a:rPr>
              <a:t>Before/after image check</a:t>
            </a:r>
            <a:endParaRPr lang="en-US" sz="850" dirty="0"/>
          </a:p>
        </p:txBody>
      </p:sp>
      <p:sp>
        <p:nvSpPr>
          <p:cNvPr id="31" name="Shape 29"/>
          <p:cNvSpPr/>
          <p:nvPr/>
        </p:nvSpPr>
        <p:spPr>
          <a:xfrm>
            <a:off x="320040" y="3172968"/>
            <a:ext cx="2724912" cy="1828800"/>
          </a:xfrm>
          <a:prstGeom prst="rect">
            <a:avLst/>
          </a:prstGeom>
          <a:solidFill>
            <a:srgbClr val="FFFFFF"/>
          </a:solidFill>
          <a:ln w="12700">
            <a:solidFill>
              <a:srgbClr val="D1D9E6"/>
            </a:solidFill>
            <a:prstDash val="solid"/>
          </a:ln>
          <a:effectLst>
            <a:outerShdw sx="100000" sy="100000" kx="0" ky="0" algn="bl" rotWithShape="0" blurRad="127000" dist="38100" dir="8100000">
              <a:srgbClr val="000000">
                <a:alpha val="10000"/>
              </a:srgbClr>
            </a:outerShdw>
          </a:effectLst>
        </p:spPr>
      </p:sp>
      <p:sp>
        <p:nvSpPr>
          <p:cNvPr id="32" name="Shape 30"/>
          <p:cNvSpPr/>
          <p:nvPr/>
        </p:nvSpPr>
        <p:spPr>
          <a:xfrm>
            <a:off x="320040" y="3172968"/>
            <a:ext cx="2724912" cy="54864"/>
          </a:xfrm>
          <a:prstGeom prst="rect">
            <a:avLst/>
          </a:prstGeom>
          <a:solidFill>
            <a:srgbClr val="0F7B6C"/>
          </a:solidFill>
          <a:ln w="12700">
            <a:solidFill>
              <a:srgbClr val="0F7B6C"/>
            </a:solidFill>
            <a:prstDash val="solid"/>
          </a:ln>
        </p:spPr>
      </p:sp>
      <p:sp>
        <p:nvSpPr>
          <p:cNvPr id="33" name="Shape 31"/>
          <p:cNvSpPr/>
          <p:nvPr/>
        </p:nvSpPr>
        <p:spPr>
          <a:xfrm>
            <a:off x="320040" y="3227832"/>
            <a:ext cx="2724912" cy="384048"/>
          </a:xfrm>
          <a:prstGeom prst="rect">
            <a:avLst/>
          </a:prstGeom>
          <a:solidFill>
            <a:srgbClr val="F8F9FC"/>
          </a:solidFill>
          <a:ln w="12700">
            <a:solidFill>
              <a:srgbClr val="F8F9FC"/>
            </a:solidFill>
            <a:prstDash val="solid"/>
          </a:ln>
        </p:spPr>
      </p:sp>
      <p:sp>
        <p:nvSpPr>
          <p:cNvPr id="34" name="Text 32"/>
          <p:cNvSpPr/>
          <p:nvPr/>
        </p:nvSpPr>
        <p:spPr>
          <a:xfrm>
            <a:off x="429768" y="3246120"/>
            <a:ext cx="1645920" cy="329184"/>
          </a:xfrm>
          <a:prstGeom prst="rect">
            <a:avLst/>
          </a:prstGeom>
          <a:noFill/>
          <a:ln/>
        </p:spPr>
        <p:txBody>
          <a:bodyPr wrap="square" lIns="0" tIns="0" rIns="0" bIns="0" rtlCol="0" anchor="ctr"/>
          <a:lstStyle/>
          <a:p>
            <a:pPr indent="0" marL="0">
              <a:buNone/>
            </a:pPr>
            <a:r>
              <a:rPr lang="en-US" sz="1100" b="1" dirty="0">
                <a:solidFill>
                  <a:srgbClr val="0F7B6C"/>
                </a:solidFill>
              </a:rPr>
              <a:t>Compressor Replacement</a:t>
            </a:r>
            <a:endParaRPr lang="en-US" sz="1100" dirty="0"/>
          </a:p>
        </p:txBody>
      </p:sp>
      <p:sp>
        <p:nvSpPr>
          <p:cNvPr id="35" name="Text 33"/>
          <p:cNvSpPr/>
          <p:nvPr/>
        </p:nvSpPr>
        <p:spPr>
          <a:xfrm>
            <a:off x="2103120" y="3246120"/>
            <a:ext cx="822960" cy="329184"/>
          </a:xfrm>
          <a:prstGeom prst="rect">
            <a:avLst/>
          </a:prstGeom>
          <a:noFill/>
          <a:ln/>
        </p:spPr>
        <p:txBody>
          <a:bodyPr wrap="square" lIns="0" tIns="0" rIns="0" bIns="0" rtlCol="0" anchor="ctr"/>
          <a:lstStyle/>
          <a:p>
            <a:pPr algn="r" indent="0" marL="0">
              <a:buNone/>
            </a:pPr>
            <a:r>
              <a:rPr lang="en-US" sz="850" dirty="0">
                <a:solidFill>
                  <a:srgbClr val="8A94A8"/>
                </a:solidFill>
              </a:rPr>
              <a:t>~2.0L / mo</a:t>
            </a:r>
            <a:endParaRPr lang="en-US" sz="850" dirty="0"/>
          </a:p>
        </p:txBody>
      </p:sp>
      <p:sp>
        <p:nvSpPr>
          <p:cNvPr id="36" name="Text 34"/>
          <p:cNvSpPr/>
          <p:nvPr/>
        </p:nvSpPr>
        <p:spPr>
          <a:xfrm>
            <a:off x="429768" y="3666744"/>
            <a:ext cx="2505456" cy="475488"/>
          </a:xfrm>
          <a:prstGeom prst="rect">
            <a:avLst/>
          </a:prstGeom>
          <a:noFill/>
          <a:ln/>
        </p:spPr>
        <p:txBody>
          <a:bodyPr wrap="square" lIns="0" tIns="0" rIns="0" bIns="0" rtlCol="0" anchor="ctr"/>
          <a:lstStyle/>
          <a:p>
            <a:pPr indent="0" marL="0">
              <a:buNone/>
            </a:pPr>
            <a:r>
              <a:rPr lang="en-US" sz="900" dirty="0">
                <a:solidFill>
                  <a:srgbClr val="4A5568"/>
                </a:solidFill>
              </a:rPr>
              <a:t>Refrigerator &amp; AC compressor replacement — highest average claim value.</a:t>
            </a:r>
            <a:endParaRPr lang="en-US" sz="900" dirty="0"/>
          </a:p>
        </p:txBody>
      </p:sp>
      <p:sp>
        <p:nvSpPr>
          <p:cNvPr id="37" name="Shape 35"/>
          <p:cNvSpPr/>
          <p:nvPr/>
        </p:nvSpPr>
        <p:spPr>
          <a:xfrm>
            <a:off x="429768" y="4160520"/>
            <a:ext cx="2505456" cy="22860"/>
          </a:xfrm>
          <a:prstGeom prst="rect">
            <a:avLst/>
          </a:prstGeom>
          <a:solidFill>
            <a:srgbClr val="D1D9E6"/>
          </a:solidFill>
          <a:ln w="12700">
            <a:solidFill>
              <a:srgbClr val="D1D9E6"/>
            </a:solidFill>
            <a:prstDash val="solid"/>
          </a:ln>
        </p:spPr>
      </p:sp>
      <p:sp>
        <p:nvSpPr>
          <p:cNvPr id="38" name="Text 36"/>
          <p:cNvSpPr/>
          <p:nvPr/>
        </p:nvSpPr>
        <p:spPr>
          <a:xfrm>
            <a:off x="429768" y="4197096"/>
            <a:ext cx="2505456" cy="749808"/>
          </a:xfrm>
          <a:prstGeom prst="rect">
            <a:avLst/>
          </a:prstGeom>
          <a:noFill/>
          <a:ln/>
        </p:spPr>
        <p:txBody>
          <a:bodyPr wrap="square" rtlCol="0" anchor="ctr"/>
          <a:lstStyle/>
          <a:p>
            <a:pPr marL="342900" indent="-342900">
              <a:buSzPct val="100000"/>
              <a:buChar char="•"/>
            </a:pPr>
            <a:r>
              <a:rPr lang="en-US" sz="850" dirty="0">
                <a:solidFill>
                  <a:srgbClr val="1A202C"/>
                </a:solidFill>
              </a:rPr>
              <a:t>Model compatibility check</a:t>
            </a:r>
            <a:endParaRPr lang="en-US" sz="850" dirty="0"/>
          </a:p>
          <a:p>
            <a:pPr marL="342900" indent="-342900">
              <a:buSzPct val="100000"/>
              <a:buChar char="•"/>
            </a:pPr>
            <a:r>
              <a:rPr lang="en-US" sz="850" dirty="0">
                <a:solidFill>
                  <a:srgbClr val="1A202C"/>
                </a:solidFill>
              </a:rPr>
              <a:t>Part authenticity scan</a:t>
            </a:r>
            <a:endParaRPr lang="en-US" sz="850" dirty="0"/>
          </a:p>
          <a:p>
            <a:pPr marL="342900" indent="-342900">
              <a:buSzPct val="100000"/>
              <a:buChar char="•"/>
            </a:pPr>
            <a:r>
              <a:rPr lang="en-US" sz="850" dirty="0">
                <a:solidFill>
                  <a:srgbClr val="1A202C"/>
                </a:solidFill>
              </a:rPr>
              <a:t>Install photo OCR</a:t>
            </a:r>
            <a:endParaRPr lang="en-US" sz="850" dirty="0"/>
          </a:p>
          <a:p>
            <a:pPr marL="342900" indent="-342900">
              <a:buSzPct val="100000"/>
              <a:buChar char="•"/>
            </a:pPr>
            <a:r>
              <a:rPr lang="en-US" sz="850" dirty="0">
                <a:solidFill>
                  <a:srgbClr val="1A202C"/>
                </a:solidFill>
              </a:rPr>
              <a:t>Seal &amp; stamp validation</a:t>
            </a:r>
            <a:endParaRPr lang="en-US" sz="850" dirty="0"/>
          </a:p>
        </p:txBody>
      </p:sp>
      <p:sp>
        <p:nvSpPr>
          <p:cNvPr id="39" name="Shape 37"/>
          <p:cNvSpPr/>
          <p:nvPr/>
        </p:nvSpPr>
        <p:spPr>
          <a:xfrm>
            <a:off x="3172968" y="3172968"/>
            <a:ext cx="2724912" cy="1828800"/>
          </a:xfrm>
          <a:prstGeom prst="rect">
            <a:avLst/>
          </a:prstGeom>
          <a:solidFill>
            <a:srgbClr val="FFFFFF"/>
          </a:solidFill>
          <a:ln w="12700">
            <a:solidFill>
              <a:srgbClr val="D1D9E6"/>
            </a:solidFill>
            <a:prstDash val="solid"/>
          </a:ln>
          <a:effectLst>
            <a:outerShdw sx="100000" sy="100000" kx="0" ky="0" algn="bl" rotWithShape="0" blurRad="127000" dist="38100" dir="8100000">
              <a:srgbClr val="000000">
                <a:alpha val="10000"/>
              </a:srgbClr>
            </a:outerShdw>
          </a:effectLst>
        </p:spPr>
      </p:sp>
      <p:sp>
        <p:nvSpPr>
          <p:cNvPr id="40" name="Shape 38"/>
          <p:cNvSpPr/>
          <p:nvPr/>
        </p:nvSpPr>
        <p:spPr>
          <a:xfrm>
            <a:off x="3172968" y="3172968"/>
            <a:ext cx="2724912" cy="54864"/>
          </a:xfrm>
          <a:prstGeom prst="rect">
            <a:avLst/>
          </a:prstGeom>
          <a:solidFill>
            <a:srgbClr val="C53030"/>
          </a:solidFill>
          <a:ln w="12700">
            <a:solidFill>
              <a:srgbClr val="C53030"/>
            </a:solidFill>
            <a:prstDash val="solid"/>
          </a:ln>
        </p:spPr>
      </p:sp>
      <p:sp>
        <p:nvSpPr>
          <p:cNvPr id="41" name="Shape 39"/>
          <p:cNvSpPr/>
          <p:nvPr/>
        </p:nvSpPr>
        <p:spPr>
          <a:xfrm>
            <a:off x="3172968" y="3227832"/>
            <a:ext cx="2724912" cy="384048"/>
          </a:xfrm>
          <a:prstGeom prst="rect">
            <a:avLst/>
          </a:prstGeom>
          <a:solidFill>
            <a:srgbClr val="F8F9FC"/>
          </a:solidFill>
          <a:ln w="12700">
            <a:solidFill>
              <a:srgbClr val="F8F9FC"/>
            </a:solidFill>
            <a:prstDash val="solid"/>
          </a:ln>
        </p:spPr>
      </p:sp>
      <p:sp>
        <p:nvSpPr>
          <p:cNvPr id="42" name="Text 40"/>
          <p:cNvSpPr/>
          <p:nvPr/>
        </p:nvSpPr>
        <p:spPr>
          <a:xfrm>
            <a:off x="3282696" y="3246120"/>
            <a:ext cx="1645920" cy="329184"/>
          </a:xfrm>
          <a:prstGeom prst="rect">
            <a:avLst/>
          </a:prstGeom>
          <a:noFill/>
          <a:ln/>
        </p:spPr>
        <p:txBody>
          <a:bodyPr wrap="square" lIns="0" tIns="0" rIns="0" bIns="0" rtlCol="0" anchor="ctr"/>
          <a:lstStyle/>
          <a:p>
            <a:pPr indent="0" marL="0">
              <a:buNone/>
            </a:pPr>
            <a:r>
              <a:rPr lang="en-US" sz="1100" b="1" dirty="0">
                <a:solidFill>
                  <a:srgbClr val="C53030"/>
                </a:solidFill>
              </a:rPr>
              <a:t>Physical Damage / Other</a:t>
            </a:r>
            <a:endParaRPr lang="en-US" sz="1100" dirty="0"/>
          </a:p>
        </p:txBody>
      </p:sp>
      <p:sp>
        <p:nvSpPr>
          <p:cNvPr id="43" name="Text 41"/>
          <p:cNvSpPr/>
          <p:nvPr/>
        </p:nvSpPr>
        <p:spPr>
          <a:xfrm>
            <a:off x="4956048" y="3246120"/>
            <a:ext cx="822960" cy="329184"/>
          </a:xfrm>
          <a:prstGeom prst="rect">
            <a:avLst/>
          </a:prstGeom>
          <a:noFill/>
          <a:ln/>
        </p:spPr>
        <p:txBody>
          <a:bodyPr wrap="square" lIns="0" tIns="0" rIns="0" bIns="0" rtlCol="0" anchor="ctr"/>
          <a:lstStyle/>
          <a:p>
            <a:pPr algn="r" indent="0" marL="0">
              <a:buNone/>
            </a:pPr>
            <a:r>
              <a:rPr lang="en-US" sz="850" dirty="0">
                <a:solidFill>
                  <a:srgbClr val="8A94A8"/>
                </a:solidFill>
              </a:rPr>
              <a:t>~1.5L / mo</a:t>
            </a:r>
            <a:endParaRPr lang="en-US" sz="850" dirty="0"/>
          </a:p>
        </p:txBody>
      </p:sp>
      <p:sp>
        <p:nvSpPr>
          <p:cNvPr id="44" name="Text 42"/>
          <p:cNvSpPr/>
          <p:nvPr/>
        </p:nvSpPr>
        <p:spPr>
          <a:xfrm>
            <a:off x="3282696" y="3666744"/>
            <a:ext cx="2505456" cy="475488"/>
          </a:xfrm>
          <a:prstGeom prst="rect">
            <a:avLst/>
          </a:prstGeom>
          <a:noFill/>
          <a:ln/>
        </p:spPr>
        <p:txBody>
          <a:bodyPr wrap="square" lIns="0" tIns="0" rIns="0" bIns="0" rtlCol="0" anchor="ctr"/>
          <a:lstStyle/>
          <a:p>
            <a:pPr indent="0" marL="0">
              <a:buNone/>
            </a:pPr>
            <a:r>
              <a:rPr lang="en-US" sz="900" dirty="0">
                <a:solidFill>
                  <a:srgbClr val="4A5568"/>
                </a:solidFill>
              </a:rPr>
              <a:t>Miscellaneous warranty claims including physical damage and ancillary repairs.</a:t>
            </a:r>
            <a:endParaRPr lang="en-US" sz="900" dirty="0"/>
          </a:p>
        </p:txBody>
      </p:sp>
      <p:sp>
        <p:nvSpPr>
          <p:cNvPr id="45" name="Shape 43"/>
          <p:cNvSpPr/>
          <p:nvPr/>
        </p:nvSpPr>
        <p:spPr>
          <a:xfrm>
            <a:off x="3282696" y="4160520"/>
            <a:ext cx="2505456" cy="22860"/>
          </a:xfrm>
          <a:prstGeom prst="rect">
            <a:avLst/>
          </a:prstGeom>
          <a:solidFill>
            <a:srgbClr val="D1D9E6"/>
          </a:solidFill>
          <a:ln w="12700">
            <a:solidFill>
              <a:srgbClr val="D1D9E6"/>
            </a:solidFill>
            <a:prstDash val="solid"/>
          </a:ln>
        </p:spPr>
      </p:sp>
      <p:sp>
        <p:nvSpPr>
          <p:cNvPr id="46" name="Text 44"/>
          <p:cNvSpPr/>
          <p:nvPr/>
        </p:nvSpPr>
        <p:spPr>
          <a:xfrm>
            <a:off x="3282696" y="4197096"/>
            <a:ext cx="2505456" cy="749808"/>
          </a:xfrm>
          <a:prstGeom prst="rect">
            <a:avLst/>
          </a:prstGeom>
          <a:noFill/>
          <a:ln/>
        </p:spPr>
        <p:txBody>
          <a:bodyPr wrap="square" rtlCol="0" anchor="ctr"/>
          <a:lstStyle/>
          <a:p>
            <a:pPr marL="342900" indent="-342900">
              <a:buSzPct val="100000"/>
              <a:buChar char="•"/>
            </a:pPr>
            <a:r>
              <a:rPr lang="en-US" sz="850" dirty="0">
                <a:solidFill>
                  <a:srgbClr val="1A202C"/>
                </a:solidFill>
              </a:rPr>
              <a:t>AI damage pattern detect</a:t>
            </a:r>
            <a:endParaRPr lang="en-US" sz="850" dirty="0"/>
          </a:p>
          <a:p>
            <a:pPr marL="342900" indent="-342900">
              <a:buSzPct val="100000"/>
              <a:buChar char="•"/>
            </a:pPr>
            <a:r>
              <a:rPr lang="en-US" sz="850" dirty="0">
                <a:solidFill>
                  <a:srgbClr val="1A202C"/>
                </a:solidFill>
              </a:rPr>
              <a:t>Document completeness</a:t>
            </a:r>
            <a:endParaRPr lang="en-US" sz="850" dirty="0"/>
          </a:p>
          <a:p>
            <a:pPr marL="342900" indent="-342900">
              <a:buSzPct val="100000"/>
              <a:buChar char="•"/>
            </a:pPr>
            <a:r>
              <a:rPr lang="en-US" sz="850" dirty="0">
                <a:solidFill>
                  <a:srgbClr val="1A202C"/>
                </a:solidFill>
              </a:rPr>
              <a:t>Service date validation</a:t>
            </a:r>
            <a:endParaRPr lang="en-US" sz="850" dirty="0"/>
          </a:p>
          <a:p>
            <a:pPr marL="342900" indent="-342900">
              <a:buSzPct val="100000"/>
              <a:buChar char="•"/>
            </a:pPr>
            <a:r>
              <a:rPr lang="en-US" sz="850" dirty="0">
                <a:solidFill>
                  <a:srgbClr val="1A202C"/>
                </a:solidFill>
              </a:rPr>
              <a:t>Escalation flag logic</a:t>
            </a:r>
            <a:endParaRPr lang="en-US" sz="850" dirty="0"/>
          </a:p>
        </p:txBody>
      </p:sp>
      <p:sp>
        <p:nvSpPr>
          <p:cNvPr id="47" name="Shape 45"/>
          <p:cNvSpPr/>
          <p:nvPr/>
        </p:nvSpPr>
        <p:spPr>
          <a:xfrm>
            <a:off x="0" y="4956048"/>
            <a:ext cx="9144000" cy="182880"/>
          </a:xfrm>
          <a:prstGeom prst="rect">
            <a:avLst/>
          </a:prstGeom>
          <a:solidFill>
            <a:srgbClr val="EDF0F7"/>
          </a:solidFill>
          <a:ln w="12700">
            <a:solidFill>
              <a:srgbClr val="EDF0F7"/>
            </a:solidFill>
            <a:prstDash val="solid"/>
          </a:ln>
        </p:spPr>
      </p:sp>
      <p:sp>
        <p:nvSpPr>
          <p:cNvPr id="48" name="Text 46"/>
          <p:cNvSpPr/>
          <p:nvPr/>
        </p:nvSpPr>
        <p:spPr>
          <a:xfrm>
            <a:off x="0" y="4956048"/>
            <a:ext cx="9144000" cy="182880"/>
          </a:xfrm>
          <a:prstGeom prst="rect">
            <a:avLst/>
          </a:prstGeom>
          <a:noFill/>
          <a:ln/>
        </p:spPr>
        <p:txBody>
          <a:bodyPr wrap="square" lIns="0" tIns="0" rIns="0" bIns="0" rtlCol="0" anchor="ctr"/>
          <a:lstStyle/>
          <a:p>
            <a:pPr algn="ctr" indent="0" marL="0">
              <a:buNone/>
            </a:pPr>
            <a:r>
              <a:rPr lang="en-US" sz="750" dirty="0">
                <a:solidFill>
                  <a:srgbClr val="8A94A8"/>
                </a:solidFill>
              </a:rPr>
              <a:t>CONFIDENTIAL  ·  Project CLARITY  ·  CTO Briefing  ·  May 2025</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428A0"/>
          </a:solidFill>
          <a:ln w="12700">
            <a:solidFill>
              <a:srgbClr val="1428A0"/>
            </a:solidFill>
            <a:prstDash val="solid"/>
          </a:ln>
        </p:spPr>
      </p:sp>
      <p:sp>
        <p:nvSpPr>
          <p:cNvPr id="3" name="Shape 1"/>
          <p:cNvSpPr/>
          <p:nvPr/>
        </p:nvSpPr>
        <p:spPr>
          <a:xfrm>
            <a:off x="0" y="658368"/>
            <a:ext cx="9144000" cy="41148"/>
          </a:xfrm>
          <a:prstGeom prst="rect">
            <a:avLst/>
          </a:prstGeom>
          <a:solidFill>
            <a:srgbClr val="0078D4"/>
          </a:solidFill>
          <a:ln w="12700">
            <a:solidFill>
              <a:srgbClr val="0078D4"/>
            </a:solidFill>
            <a:prstDash val="solid"/>
          </a:ln>
        </p:spPr>
      </p:sp>
      <p:sp>
        <p:nvSpPr>
          <p:cNvPr id="4" name="Text 2"/>
          <p:cNvSpPr/>
          <p:nvPr/>
        </p:nvSpPr>
        <p:spPr>
          <a:xfrm>
            <a:off x="411480" y="0"/>
            <a:ext cx="7315200" cy="658368"/>
          </a:xfrm>
          <a:prstGeom prst="rect">
            <a:avLst/>
          </a:prstGeom>
          <a:noFill/>
          <a:ln/>
        </p:spPr>
        <p:txBody>
          <a:bodyPr wrap="square" lIns="0" tIns="0" rIns="0" bIns="0" rtlCol="0" anchor="ctr"/>
          <a:lstStyle/>
          <a:p>
            <a:pPr indent="0" marL="0">
              <a:buNone/>
            </a:pPr>
            <a:r>
              <a:rPr lang="en-US" sz="1400" b="1" spc="200" kern="0" dirty="0">
                <a:solidFill>
                  <a:srgbClr val="FFFFFF"/>
                </a:solidFill>
              </a:rPr>
              <a:t>END-TO-END PROCESS FLOW</a:t>
            </a:r>
            <a:endParaRPr lang="en-US" sz="1400" dirty="0"/>
          </a:p>
        </p:txBody>
      </p:sp>
      <p:sp>
        <p:nvSpPr>
          <p:cNvPr id="5" name="Text 3"/>
          <p:cNvSpPr/>
          <p:nvPr/>
        </p:nvSpPr>
        <p:spPr>
          <a:xfrm>
            <a:off x="6400800" y="0"/>
            <a:ext cx="2514600" cy="658368"/>
          </a:xfrm>
          <a:prstGeom prst="rect">
            <a:avLst/>
          </a:prstGeom>
          <a:noFill/>
          <a:ln/>
        </p:spPr>
        <p:txBody>
          <a:bodyPr wrap="square" lIns="0" tIns="0" rIns="0" bIns="0" rtlCol="0" anchor="ctr"/>
          <a:lstStyle/>
          <a:p>
            <a:pPr algn="r" indent="0" marL="0">
              <a:buNone/>
            </a:pPr>
            <a:r>
              <a:rPr lang="en-US" sz="900" dirty="0">
                <a:solidFill>
                  <a:srgbClr val="8899CC"/>
                </a:solidFill>
              </a:rPr>
              <a:t>Project CLARITY  ·  Warranty Automation</a:t>
            </a:r>
            <a:endParaRPr lang="en-US" sz="900" dirty="0"/>
          </a:p>
        </p:txBody>
      </p:sp>
      <p:sp>
        <p:nvSpPr>
          <p:cNvPr id="6" name="Shape 4"/>
          <p:cNvSpPr/>
          <p:nvPr/>
        </p:nvSpPr>
        <p:spPr>
          <a:xfrm>
            <a:off x="320040" y="868680"/>
            <a:ext cx="2724912" cy="1920240"/>
          </a:xfrm>
          <a:prstGeom prst="rect">
            <a:avLst/>
          </a:prstGeom>
          <a:solidFill>
            <a:srgbClr val="FFFFFF"/>
          </a:solidFill>
          <a:ln w="12700">
            <a:solidFill>
              <a:srgbClr val="D1D9E6"/>
            </a:solidFill>
            <a:prstDash val="solid"/>
          </a:ln>
          <a:effectLst>
            <a:outerShdw sx="100000" sy="100000" kx="0" ky="0" algn="bl" rotWithShape="0" blurRad="127000" dist="38100" dir="8100000">
              <a:srgbClr val="000000">
                <a:alpha val="10000"/>
              </a:srgbClr>
            </a:outerShdw>
          </a:effectLst>
        </p:spPr>
      </p:sp>
      <p:sp>
        <p:nvSpPr>
          <p:cNvPr id="7" name="Shape 5"/>
          <p:cNvSpPr/>
          <p:nvPr/>
        </p:nvSpPr>
        <p:spPr>
          <a:xfrm>
            <a:off x="320040" y="868680"/>
            <a:ext cx="54864" cy="1920240"/>
          </a:xfrm>
          <a:prstGeom prst="rect">
            <a:avLst/>
          </a:prstGeom>
          <a:solidFill>
            <a:srgbClr val="C05800"/>
          </a:solidFill>
          <a:ln w="12700">
            <a:solidFill>
              <a:srgbClr val="C05800"/>
            </a:solidFill>
            <a:prstDash val="solid"/>
          </a:ln>
        </p:spPr>
      </p:sp>
      <p:sp>
        <p:nvSpPr>
          <p:cNvPr id="8" name="Shape 6"/>
          <p:cNvSpPr/>
          <p:nvPr/>
        </p:nvSpPr>
        <p:spPr>
          <a:xfrm>
            <a:off x="374904" y="868680"/>
            <a:ext cx="2670048" cy="457200"/>
          </a:xfrm>
          <a:prstGeom prst="rect">
            <a:avLst/>
          </a:prstGeom>
          <a:solidFill>
            <a:srgbClr val="F8F9FC"/>
          </a:solidFill>
          <a:ln w="12700">
            <a:solidFill>
              <a:srgbClr val="F8F9FC"/>
            </a:solidFill>
            <a:prstDash val="solid"/>
          </a:ln>
        </p:spPr>
      </p:sp>
      <p:sp>
        <p:nvSpPr>
          <p:cNvPr id="9" name="Text 7"/>
          <p:cNvSpPr/>
          <p:nvPr/>
        </p:nvSpPr>
        <p:spPr>
          <a:xfrm>
            <a:off x="448056" y="923544"/>
            <a:ext cx="411480" cy="347472"/>
          </a:xfrm>
          <a:prstGeom prst="rect">
            <a:avLst/>
          </a:prstGeom>
          <a:noFill/>
          <a:ln/>
        </p:spPr>
        <p:txBody>
          <a:bodyPr wrap="square" lIns="0" tIns="0" rIns="0" bIns="0" rtlCol="0" anchor="ctr"/>
          <a:lstStyle/>
          <a:p>
            <a:pPr indent="0" marL="0">
              <a:buNone/>
            </a:pPr>
            <a:r>
              <a:rPr lang="en-US" sz="1800" b="1" dirty="0">
                <a:solidFill>
                  <a:srgbClr val="C05800"/>
                </a:solidFill>
              </a:rPr>
              <a:t>01</a:t>
            </a:r>
            <a:endParaRPr lang="en-US" sz="1800" dirty="0"/>
          </a:p>
        </p:txBody>
      </p:sp>
      <p:sp>
        <p:nvSpPr>
          <p:cNvPr id="10" name="Text 8"/>
          <p:cNvSpPr/>
          <p:nvPr/>
        </p:nvSpPr>
        <p:spPr>
          <a:xfrm>
            <a:off x="886968" y="978408"/>
            <a:ext cx="2084832" cy="274320"/>
          </a:xfrm>
          <a:prstGeom prst="rect">
            <a:avLst/>
          </a:prstGeom>
          <a:noFill/>
          <a:ln/>
        </p:spPr>
        <p:txBody>
          <a:bodyPr wrap="square" lIns="0" tIns="0" rIns="0" bIns="0" rtlCol="0" anchor="ctr"/>
          <a:lstStyle/>
          <a:p>
            <a:pPr indent="0" marL="0">
              <a:buNone/>
            </a:pPr>
            <a:r>
              <a:rPr lang="en-US" sz="1100" b="1" dirty="0">
                <a:solidFill>
                  <a:srgbClr val="1A202C"/>
                </a:solidFill>
              </a:rPr>
              <a:t>Claim Submission</a:t>
            </a:r>
            <a:endParaRPr lang="en-US" sz="1100" dirty="0"/>
          </a:p>
        </p:txBody>
      </p:sp>
      <p:sp>
        <p:nvSpPr>
          <p:cNvPr id="11" name="Shape 9"/>
          <p:cNvSpPr/>
          <p:nvPr/>
        </p:nvSpPr>
        <p:spPr>
          <a:xfrm>
            <a:off x="448056" y="1344168"/>
            <a:ext cx="2487168" cy="22860"/>
          </a:xfrm>
          <a:prstGeom prst="rect">
            <a:avLst/>
          </a:prstGeom>
          <a:solidFill>
            <a:srgbClr val="D1D9E6"/>
          </a:solidFill>
          <a:ln w="12700">
            <a:solidFill>
              <a:srgbClr val="D1D9E6"/>
            </a:solidFill>
            <a:prstDash val="solid"/>
          </a:ln>
        </p:spPr>
      </p:sp>
      <p:sp>
        <p:nvSpPr>
          <p:cNvPr id="12" name="Text 10"/>
          <p:cNvSpPr/>
          <p:nvPr/>
        </p:nvSpPr>
        <p:spPr>
          <a:xfrm>
            <a:off x="448056" y="1417320"/>
            <a:ext cx="2487168" cy="1298448"/>
          </a:xfrm>
          <a:prstGeom prst="rect">
            <a:avLst/>
          </a:prstGeom>
          <a:noFill/>
          <a:ln/>
        </p:spPr>
        <p:txBody>
          <a:bodyPr wrap="square" lIns="0" tIns="0" rIns="0" bIns="0" rtlCol="0" anchor="ctr"/>
          <a:lstStyle/>
          <a:p>
            <a:pPr indent="0" marL="0">
              <a:buNone/>
            </a:pPr>
            <a:r>
              <a:rPr lang="en-US" sz="950" dirty="0">
                <a:solidFill>
                  <a:srgbClr val="4A5568"/>
                </a:solidFill>
              </a:rPr>
              <a:t>Service center uploads a single multi-image document containing all claim details, photos, stamps and supporting evidence for each case.</a:t>
            </a:r>
            <a:endParaRPr lang="en-US" sz="950" dirty="0"/>
          </a:p>
        </p:txBody>
      </p:sp>
      <p:sp>
        <p:nvSpPr>
          <p:cNvPr id="13" name="Shape 11"/>
          <p:cNvSpPr/>
          <p:nvPr/>
        </p:nvSpPr>
        <p:spPr>
          <a:xfrm>
            <a:off x="3172968" y="868680"/>
            <a:ext cx="2724912" cy="1920240"/>
          </a:xfrm>
          <a:prstGeom prst="rect">
            <a:avLst/>
          </a:prstGeom>
          <a:solidFill>
            <a:srgbClr val="FFFFFF"/>
          </a:solidFill>
          <a:ln w="12700">
            <a:solidFill>
              <a:srgbClr val="D1D9E6"/>
            </a:solidFill>
            <a:prstDash val="solid"/>
          </a:ln>
          <a:effectLst>
            <a:outerShdw sx="100000" sy="100000" kx="0" ky="0" algn="bl" rotWithShape="0" blurRad="127000" dist="38100" dir="8100000">
              <a:srgbClr val="000000">
                <a:alpha val="10000"/>
              </a:srgbClr>
            </a:outerShdw>
          </a:effectLst>
        </p:spPr>
      </p:sp>
      <p:sp>
        <p:nvSpPr>
          <p:cNvPr id="14" name="Shape 12"/>
          <p:cNvSpPr/>
          <p:nvPr/>
        </p:nvSpPr>
        <p:spPr>
          <a:xfrm>
            <a:off x="3172968" y="868680"/>
            <a:ext cx="54864" cy="1920240"/>
          </a:xfrm>
          <a:prstGeom prst="rect">
            <a:avLst/>
          </a:prstGeom>
          <a:solidFill>
            <a:srgbClr val="0078D4"/>
          </a:solidFill>
          <a:ln w="12700">
            <a:solidFill>
              <a:srgbClr val="0078D4"/>
            </a:solidFill>
            <a:prstDash val="solid"/>
          </a:ln>
        </p:spPr>
      </p:sp>
      <p:sp>
        <p:nvSpPr>
          <p:cNvPr id="15" name="Shape 13"/>
          <p:cNvSpPr/>
          <p:nvPr/>
        </p:nvSpPr>
        <p:spPr>
          <a:xfrm>
            <a:off x="3227832" y="868680"/>
            <a:ext cx="2670048" cy="457200"/>
          </a:xfrm>
          <a:prstGeom prst="rect">
            <a:avLst/>
          </a:prstGeom>
          <a:solidFill>
            <a:srgbClr val="F8F9FC"/>
          </a:solidFill>
          <a:ln w="12700">
            <a:solidFill>
              <a:srgbClr val="F8F9FC"/>
            </a:solidFill>
            <a:prstDash val="solid"/>
          </a:ln>
        </p:spPr>
      </p:sp>
      <p:sp>
        <p:nvSpPr>
          <p:cNvPr id="16" name="Text 14"/>
          <p:cNvSpPr/>
          <p:nvPr/>
        </p:nvSpPr>
        <p:spPr>
          <a:xfrm>
            <a:off x="3300984" y="923544"/>
            <a:ext cx="411480" cy="347472"/>
          </a:xfrm>
          <a:prstGeom prst="rect">
            <a:avLst/>
          </a:prstGeom>
          <a:noFill/>
          <a:ln/>
        </p:spPr>
        <p:txBody>
          <a:bodyPr wrap="square" lIns="0" tIns="0" rIns="0" bIns="0" rtlCol="0" anchor="ctr"/>
          <a:lstStyle/>
          <a:p>
            <a:pPr indent="0" marL="0">
              <a:buNone/>
            </a:pPr>
            <a:r>
              <a:rPr lang="en-US" sz="1800" b="1" dirty="0">
                <a:solidFill>
                  <a:srgbClr val="0078D4"/>
                </a:solidFill>
              </a:rPr>
              <a:t>02</a:t>
            </a:r>
            <a:endParaRPr lang="en-US" sz="1800" dirty="0"/>
          </a:p>
        </p:txBody>
      </p:sp>
      <p:sp>
        <p:nvSpPr>
          <p:cNvPr id="17" name="Text 15"/>
          <p:cNvSpPr/>
          <p:nvPr/>
        </p:nvSpPr>
        <p:spPr>
          <a:xfrm>
            <a:off x="3739896" y="978408"/>
            <a:ext cx="2084832" cy="274320"/>
          </a:xfrm>
          <a:prstGeom prst="rect">
            <a:avLst/>
          </a:prstGeom>
          <a:noFill/>
          <a:ln/>
        </p:spPr>
        <p:txBody>
          <a:bodyPr wrap="square" lIns="0" tIns="0" rIns="0" bIns="0" rtlCol="0" anchor="ctr"/>
          <a:lstStyle/>
          <a:p>
            <a:pPr indent="0" marL="0">
              <a:buNone/>
            </a:pPr>
            <a:r>
              <a:rPr lang="en-US" sz="1100" b="1" dirty="0">
                <a:solidFill>
                  <a:srgbClr val="1A202C"/>
                </a:solidFill>
              </a:rPr>
              <a:t>Batch Queue Intake</a:t>
            </a:r>
            <a:endParaRPr lang="en-US" sz="1100" dirty="0"/>
          </a:p>
        </p:txBody>
      </p:sp>
      <p:sp>
        <p:nvSpPr>
          <p:cNvPr id="18" name="Shape 16"/>
          <p:cNvSpPr/>
          <p:nvPr/>
        </p:nvSpPr>
        <p:spPr>
          <a:xfrm>
            <a:off x="3300984" y="1344168"/>
            <a:ext cx="2487168" cy="22860"/>
          </a:xfrm>
          <a:prstGeom prst="rect">
            <a:avLst/>
          </a:prstGeom>
          <a:solidFill>
            <a:srgbClr val="D1D9E6"/>
          </a:solidFill>
          <a:ln w="12700">
            <a:solidFill>
              <a:srgbClr val="D1D9E6"/>
            </a:solidFill>
            <a:prstDash val="solid"/>
          </a:ln>
        </p:spPr>
      </p:sp>
      <p:sp>
        <p:nvSpPr>
          <p:cNvPr id="19" name="Text 17"/>
          <p:cNvSpPr/>
          <p:nvPr/>
        </p:nvSpPr>
        <p:spPr>
          <a:xfrm>
            <a:off x="3300984" y="1417320"/>
            <a:ext cx="2487168" cy="1298448"/>
          </a:xfrm>
          <a:prstGeom prst="rect">
            <a:avLst/>
          </a:prstGeom>
          <a:noFill/>
          <a:ln/>
        </p:spPr>
        <p:txBody>
          <a:bodyPr wrap="square" lIns="0" tIns="0" rIns="0" bIns="0" rtlCol="0" anchor="ctr"/>
          <a:lstStyle/>
          <a:p>
            <a:pPr indent="0" marL="0">
              <a:buNone/>
            </a:pPr>
            <a:r>
              <a:rPr lang="en-US" sz="950" dirty="0">
                <a:solidFill>
                  <a:srgbClr val="4A5568"/>
                </a:solidFill>
              </a:rPr>
              <a:t>Claims are queued in the batch ingestion layer on Samsung Cloud, prioritised by claim type and SLA window, with deduplication checks.</a:t>
            </a:r>
            <a:endParaRPr lang="en-US" sz="950" dirty="0"/>
          </a:p>
        </p:txBody>
      </p:sp>
      <p:sp>
        <p:nvSpPr>
          <p:cNvPr id="20" name="Shape 18"/>
          <p:cNvSpPr/>
          <p:nvPr/>
        </p:nvSpPr>
        <p:spPr>
          <a:xfrm>
            <a:off x="6025896" y="868680"/>
            <a:ext cx="2724912" cy="1920240"/>
          </a:xfrm>
          <a:prstGeom prst="rect">
            <a:avLst/>
          </a:prstGeom>
          <a:solidFill>
            <a:srgbClr val="FFFFFF"/>
          </a:solidFill>
          <a:ln w="12700">
            <a:solidFill>
              <a:srgbClr val="D1D9E6"/>
            </a:solidFill>
            <a:prstDash val="solid"/>
          </a:ln>
          <a:effectLst>
            <a:outerShdw sx="100000" sy="100000" kx="0" ky="0" algn="bl" rotWithShape="0" blurRad="127000" dist="38100" dir="8100000">
              <a:srgbClr val="000000">
                <a:alpha val="10000"/>
              </a:srgbClr>
            </a:outerShdw>
          </a:effectLst>
        </p:spPr>
      </p:sp>
      <p:sp>
        <p:nvSpPr>
          <p:cNvPr id="21" name="Shape 19"/>
          <p:cNvSpPr/>
          <p:nvPr/>
        </p:nvSpPr>
        <p:spPr>
          <a:xfrm>
            <a:off x="6025896" y="868680"/>
            <a:ext cx="54864" cy="1920240"/>
          </a:xfrm>
          <a:prstGeom prst="rect">
            <a:avLst/>
          </a:prstGeom>
          <a:solidFill>
            <a:srgbClr val="6D3FBC"/>
          </a:solidFill>
          <a:ln w="12700">
            <a:solidFill>
              <a:srgbClr val="6D3FBC"/>
            </a:solidFill>
            <a:prstDash val="solid"/>
          </a:ln>
        </p:spPr>
      </p:sp>
      <p:sp>
        <p:nvSpPr>
          <p:cNvPr id="22" name="Shape 20"/>
          <p:cNvSpPr/>
          <p:nvPr/>
        </p:nvSpPr>
        <p:spPr>
          <a:xfrm>
            <a:off x="6080760" y="868680"/>
            <a:ext cx="2670048" cy="457200"/>
          </a:xfrm>
          <a:prstGeom prst="rect">
            <a:avLst/>
          </a:prstGeom>
          <a:solidFill>
            <a:srgbClr val="F8F9FC"/>
          </a:solidFill>
          <a:ln w="12700">
            <a:solidFill>
              <a:srgbClr val="F8F9FC"/>
            </a:solidFill>
            <a:prstDash val="solid"/>
          </a:ln>
        </p:spPr>
      </p:sp>
      <p:sp>
        <p:nvSpPr>
          <p:cNvPr id="23" name="Text 21"/>
          <p:cNvSpPr/>
          <p:nvPr/>
        </p:nvSpPr>
        <p:spPr>
          <a:xfrm>
            <a:off x="6153912" y="923544"/>
            <a:ext cx="411480" cy="347472"/>
          </a:xfrm>
          <a:prstGeom prst="rect">
            <a:avLst/>
          </a:prstGeom>
          <a:noFill/>
          <a:ln/>
        </p:spPr>
        <p:txBody>
          <a:bodyPr wrap="square" lIns="0" tIns="0" rIns="0" bIns="0" rtlCol="0" anchor="ctr"/>
          <a:lstStyle/>
          <a:p>
            <a:pPr indent="0" marL="0">
              <a:buNone/>
            </a:pPr>
            <a:r>
              <a:rPr lang="en-US" sz="1800" b="1" dirty="0">
                <a:solidFill>
                  <a:srgbClr val="6D3FBC"/>
                </a:solidFill>
              </a:rPr>
              <a:t>03</a:t>
            </a:r>
            <a:endParaRPr lang="en-US" sz="1800" dirty="0"/>
          </a:p>
        </p:txBody>
      </p:sp>
      <p:sp>
        <p:nvSpPr>
          <p:cNvPr id="24" name="Text 22"/>
          <p:cNvSpPr/>
          <p:nvPr/>
        </p:nvSpPr>
        <p:spPr>
          <a:xfrm>
            <a:off x="6592824" y="978408"/>
            <a:ext cx="2084832" cy="274320"/>
          </a:xfrm>
          <a:prstGeom prst="rect">
            <a:avLst/>
          </a:prstGeom>
          <a:noFill/>
          <a:ln/>
        </p:spPr>
        <p:txBody>
          <a:bodyPr wrap="square" lIns="0" tIns="0" rIns="0" bIns="0" rtlCol="0" anchor="ctr"/>
          <a:lstStyle/>
          <a:p>
            <a:pPr indent="0" marL="0">
              <a:buNone/>
            </a:pPr>
            <a:r>
              <a:rPr lang="en-US" sz="1100" b="1" dirty="0">
                <a:solidFill>
                  <a:srgbClr val="1A202C"/>
                </a:solidFill>
              </a:rPr>
              <a:t>OCR Extraction</a:t>
            </a:r>
            <a:endParaRPr lang="en-US" sz="1100" dirty="0"/>
          </a:p>
        </p:txBody>
      </p:sp>
      <p:sp>
        <p:nvSpPr>
          <p:cNvPr id="25" name="Shape 23"/>
          <p:cNvSpPr/>
          <p:nvPr/>
        </p:nvSpPr>
        <p:spPr>
          <a:xfrm>
            <a:off x="6153912" y="1344168"/>
            <a:ext cx="2487168" cy="22860"/>
          </a:xfrm>
          <a:prstGeom prst="rect">
            <a:avLst/>
          </a:prstGeom>
          <a:solidFill>
            <a:srgbClr val="D1D9E6"/>
          </a:solidFill>
          <a:ln w="12700">
            <a:solidFill>
              <a:srgbClr val="D1D9E6"/>
            </a:solidFill>
            <a:prstDash val="solid"/>
          </a:ln>
        </p:spPr>
      </p:sp>
      <p:sp>
        <p:nvSpPr>
          <p:cNvPr id="26" name="Text 24"/>
          <p:cNvSpPr/>
          <p:nvPr/>
        </p:nvSpPr>
        <p:spPr>
          <a:xfrm>
            <a:off x="6153912" y="1417320"/>
            <a:ext cx="2487168" cy="1298448"/>
          </a:xfrm>
          <a:prstGeom prst="rect">
            <a:avLst/>
          </a:prstGeom>
          <a:noFill/>
          <a:ln/>
        </p:spPr>
        <p:txBody>
          <a:bodyPr wrap="square" lIns="0" tIns="0" rIns="0" bIns="0" rtlCol="0" anchor="ctr"/>
          <a:lstStyle/>
          <a:p>
            <a:pPr indent="0" marL="0">
              <a:buNone/>
            </a:pPr>
            <a:r>
              <a:rPr lang="en-US" sz="950" dirty="0">
                <a:solidFill>
                  <a:srgbClr val="4A5568"/>
                </a:solidFill>
              </a:rPr>
              <a:t>The in-house OCR model processes each image page — extracting structured fields: part numbers, dates, technician IDs, cost amounts and stamps.</a:t>
            </a:r>
            <a:endParaRPr lang="en-US" sz="950" dirty="0"/>
          </a:p>
        </p:txBody>
      </p:sp>
      <p:sp>
        <p:nvSpPr>
          <p:cNvPr id="27" name="Shape 25"/>
          <p:cNvSpPr/>
          <p:nvPr/>
        </p:nvSpPr>
        <p:spPr>
          <a:xfrm>
            <a:off x="320040" y="2926080"/>
            <a:ext cx="2724912" cy="1920240"/>
          </a:xfrm>
          <a:prstGeom prst="rect">
            <a:avLst/>
          </a:prstGeom>
          <a:solidFill>
            <a:srgbClr val="FFFFFF"/>
          </a:solidFill>
          <a:ln w="12700">
            <a:solidFill>
              <a:srgbClr val="D1D9E6"/>
            </a:solidFill>
            <a:prstDash val="solid"/>
          </a:ln>
          <a:effectLst>
            <a:outerShdw sx="100000" sy="100000" kx="0" ky="0" algn="bl" rotWithShape="0" blurRad="127000" dist="38100" dir="8100000">
              <a:srgbClr val="000000">
                <a:alpha val="10000"/>
              </a:srgbClr>
            </a:outerShdw>
          </a:effectLst>
        </p:spPr>
      </p:sp>
      <p:sp>
        <p:nvSpPr>
          <p:cNvPr id="28" name="Shape 26"/>
          <p:cNvSpPr/>
          <p:nvPr/>
        </p:nvSpPr>
        <p:spPr>
          <a:xfrm>
            <a:off x="320040" y="2926080"/>
            <a:ext cx="54864" cy="1920240"/>
          </a:xfrm>
          <a:prstGeom prst="rect">
            <a:avLst/>
          </a:prstGeom>
          <a:solidFill>
            <a:srgbClr val="1428A0"/>
          </a:solidFill>
          <a:ln w="12700">
            <a:solidFill>
              <a:srgbClr val="1428A0"/>
            </a:solidFill>
            <a:prstDash val="solid"/>
          </a:ln>
        </p:spPr>
      </p:sp>
      <p:sp>
        <p:nvSpPr>
          <p:cNvPr id="29" name="Shape 27"/>
          <p:cNvSpPr/>
          <p:nvPr/>
        </p:nvSpPr>
        <p:spPr>
          <a:xfrm>
            <a:off x="374904" y="2926080"/>
            <a:ext cx="2670048" cy="457200"/>
          </a:xfrm>
          <a:prstGeom prst="rect">
            <a:avLst/>
          </a:prstGeom>
          <a:solidFill>
            <a:srgbClr val="F8F9FC"/>
          </a:solidFill>
          <a:ln w="12700">
            <a:solidFill>
              <a:srgbClr val="F8F9FC"/>
            </a:solidFill>
            <a:prstDash val="solid"/>
          </a:ln>
        </p:spPr>
      </p:sp>
      <p:sp>
        <p:nvSpPr>
          <p:cNvPr id="30" name="Text 28"/>
          <p:cNvSpPr/>
          <p:nvPr/>
        </p:nvSpPr>
        <p:spPr>
          <a:xfrm>
            <a:off x="448056" y="2980944"/>
            <a:ext cx="411480" cy="347472"/>
          </a:xfrm>
          <a:prstGeom prst="rect">
            <a:avLst/>
          </a:prstGeom>
          <a:noFill/>
          <a:ln/>
        </p:spPr>
        <p:txBody>
          <a:bodyPr wrap="square" lIns="0" tIns="0" rIns="0" bIns="0" rtlCol="0" anchor="ctr"/>
          <a:lstStyle/>
          <a:p>
            <a:pPr indent="0" marL="0">
              <a:buNone/>
            </a:pPr>
            <a:r>
              <a:rPr lang="en-US" sz="1800" b="1" dirty="0">
                <a:solidFill>
                  <a:srgbClr val="1428A0"/>
                </a:solidFill>
              </a:rPr>
              <a:t>04</a:t>
            </a:r>
            <a:endParaRPr lang="en-US" sz="1800" dirty="0"/>
          </a:p>
        </p:txBody>
      </p:sp>
      <p:sp>
        <p:nvSpPr>
          <p:cNvPr id="31" name="Text 29"/>
          <p:cNvSpPr/>
          <p:nvPr/>
        </p:nvSpPr>
        <p:spPr>
          <a:xfrm>
            <a:off x="886968" y="3035808"/>
            <a:ext cx="2084832" cy="274320"/>
          </a:xfrm>
          <a:prstGeom prst="rect">
            <a:avLst/>
          </a:prstGeom>
          <a:noFill/>
          <a:ln/>
        </p:spPr>
        <p:txBody>
          <a:bodyPr wrap="square" lIns="0" tIns="0" rIns="0" bIns="0" rtlCol="0" anchor="ctr"/>
          <a:lstStyle/>
          <a:p>
            <a:pPr indent="0" marL="0">
              <a:buNone/>
            </a:pPr>
            <a:r>
              <a:rPr lang="en-US" sz="1100" b="1" dirty="0">
                <a:solidFill>
                  <a:srgbClr val="1A202C"/>
                </a:solidFill>
              </a:rPr>
              <a:t>LLM Validation</a:t>
            </a:r>
            <a:endParaRPr lang="en-US" sz="1100" dirty="0"/>
          </a:p>
        </p:txBody>
      </p:sp>
      <p:sp>
        <p:nvSpPr>
          <p:cNvPr id="32" name="Shape 30"/>
          <p:cNvSpPr/>
          <p:nvPr/>
        </p:nvSpPr>
        <p:spPr>
          <a:xfrm>
            <a:off x="448056" y="3401568"/>
            <a:ext cx="2487168" cy="22860"/>
          </a:xfrm>
          <a:prstGeom prst="rect">
            <a:avLst/>
          </a:prstGeom>
          <a:solidFill>
            <a:srgbClr val="D1D9E6"/>
          </a:solidFill>
          <a:ln w="12700">
            <a:solidFill>
              <a:srgbClr val="D1D9E6"/>
            </a:solidFill>
            <a:prstDash val="solid"/>
          </a:ln>
        </p:spPr>
      </p:sp>
      <p:sp>
        <p:nvSpPr>
          <p:cNvPr id="33" name="Text 31"/>
          <p:cNvSpPr/>
          <p:nvPr/>
        </p:nvSpPr>
        <p:spPr>
          <a:xfrm>
            <a:off x="448056" y="3474720"/>
            <a:ext cx="2487168" cy="1298448"/>
          </a:xfrm>
          <a:prstGeom prst="rect">
            <a:avLst/>
          </a:prstGeom>
          <a:noFill/>
          <a:ln/>
        </p:spPr>
        <p:txBody>
          <a:bodyPr wrap="square" lIns="0" tIns="0" rIns="0" bIns="0" rtlCol="0" anchor="ctr"/>
          <a:lstStyle/>
          <a:p>
            <a:pPr indent="0" marL="0">
              <a:buNone/>
            </a:pPr>
            <a:r>
              <a:rPr lang="en-US" sz="950" dirty="0">
                <a:solidFill>
                  <a:srgbClr val="4A5568"/>
                </a:solidFill>
              </a:rPr>
              <a:t>The LLM engine cross-validates extracted data against warranty policy rules, rate cards and product-specific eligibility criteria for each claim type.</a:t>
            </a:r>
            <a:endParaRPr lang="en-US" sz="950" dirty="0"/>
          </a:p>
        </p:txBody>
      </p:sp>
      <p:sp>
        <p:nvSpPr>
          <p:cNvPr id="34" name="Shape 32"/>
          <p:cNvSpPr/>
          <p:nvPr/>
        </p:nvSpPr>
        <p:spPr>
          <a:xfrm>
            <a:off x="3172968" y="2926080"/>
            <a:ext cx="2724912" cy="1920240"/>
          </a:xfrm>
          <a:prstGeom prst="rect">
            <a:avLst/>
          </a:prstGeom>
          <a:solidFill>
            <a:srgbClr val="FFFFFF"/>
          </a:solidFill>
          <a:ln w="12700">
            <a:solidFill>
              <a:srgbClr val="D1D9E6"/>
            </a:solidFill>
            <a:prstDash val="solid"/>
          </a:ln>
          <a:effectLst>
            <a:outerShdw sx="100000" sy="100000" kx="0" ky="0" algn="bl" rotWithShape="0" blurRad="127000" dist="38100" dir="8100000">
              <a:srgbClr val="000000">
                <a:alpha val="10000"/>
              </a:srgbClr>
            </a:outerShdw>
          </a:effectLst>
        </p:spPr>
      </p:sp>
      <p:sp>
        <p:nvSpPr>
          <p:cNvPr id="35" name="Shape 33"/>
          <p:cNvSpPr/>
          <p:nvPr/>
        </p:nvSpPr>
        <p:spPr>
          <a:xfrm>
            <a:off x="3172968" y="2926080"/>
            <a:ext cx="54864" cy="1920240"/>
          </a:xfrm>
          <a:prstGeom prst="rect">
            <a:avLst/>
          </a:prstGeom>
          <a:solidFill>
            <a:srgbClr val="0F7B6C"/>
          </a:solidFill>
          <a:ln w="12700">
            <a:solidFill>
              <a:srgbClr val="0F7B6C"/>
            </a:solidFill>
            <a:prstDash val="solid"/>
          </a:ln>
        </p:spPr>
      </p:sp>
      <p:sp>
        <p:nvSpPr>
          <p:cNvPr id="36" name="Shape 34"/>
          <p:cNvSpPr/>
          <p:nvPr/>
        </p:nvSpPr>
        <p:spPr>
          <a:xfrm>
            <a:off x="3227832" y="2926080"/>
            <a:ext cx="2670048" cy="457200"/>
          </a:xfrm>
          <a:prstGeom prst="rect">
            <a:avLst/>
          </a:prstGeom>
          <a:solidFill>
            <a:srgbClr val="F8F9FC"/>
          </a:solidFill>
          <a:ln w="12700">
            <a:solidFill>
              <a:srgbClr val="F8F9FC"/>
            </a:solidFill>
            <a:prstDash val="solid"/>
          </a:ln>
        </p:spPr>
      </p:sp>
      <p:sp>
        <p:nvSpPr>
          <p:cNvPr id="37" name="Text 35"/>
          <p:cNvSpPr/>
          <p:nvPr/>
        </p:nvSpPr>
        <p:spPr>
          <a:xfrm>
            <a:off x="3300984" y="2980944"/>
            <a:ext cx="411480" cy="347472"/>
          </a:xfrm>
          <a:prstGeom prst="rect">
            <a:avLst/>
          </a:prstGeom>
          <a:noFill/>
          <a:ln/>
        </p:spPr>
        <p:txBody>
          <a:bodyPr wrap="square" lIns="0" tIns="0" rIns="0" bIns="0" rtlCol="0" anchor="ctr"/>
          <a:lstStyle/>
          <a:p>
            <a:pPr indent="0" marL="0">
              <a:buNone/>
            </a:pPr>
            <a:r>
              <a:rPr lang="en-US" sz="1800" b="1" dirty="0">
                <a:solidFill>
                  <a:srgbClr val="0F7B6C"/>
                </a:solidFill>
              </a:rPr>
              <a:t>05</a:t>
            </a:r>
            <a:endParaRPr lang="en-US" sz="1800" dirty="0"/>
          </a:p>
        </p:txBody>
      </p:sp>
      <p:sp>
        <p:nvSpPr>
          <p:cNvPr id="38" name="Text 36"/>
          <p:cNvSpPr/>
          <p:nvPr/>
        </p:nvSpPr>
        <p:spPr>
          <a:xfrm>
            <a:off x="3739896" y="3035808"/>
            <a:ext cx="2084832" cy="274320"/>
          </a:xfrm>
          <a:prstGeom prst="rect">
            <a:avLst/>
          </a:prstGeom>
          <a:noFill/>
          <a:ln/>
        </p:spPr>
        <p:txBody>
          <a:bodyPr wrap="square" lIns="0" tIns="0" rIns="0" bIns="0" rtlCol="0" anchor="ctr"/>
          <a:lstStyle/>
          <a:p>
            <a:pPr indent="0" marL="0">
              <a:buNone/>
            </a:pPr>
            <a:r>
              <a:rPr lang="en-US" sz="1100" b="1" dirty="0">
                <a:solidFill>
                  <a:srgbClr val="1A202C"/>
                </a:solidFill>
              </a:rPr>
              <a:t>Decision Engine</a:t>
            </a:r>
            <a:endParaRPr lang="en-US" sz="1100" dirty="0"/>
          </a:p>
        </p:txBody>
      </p:sp>
      <p:sp>
        <p:nvSpPr>
          <p:cNvPr id="39" name="Shape 37"/>
          <p:cNvSpPr/>
          <p:nvPr/>
        </p:nvSpPr>
        <p:spPr>
          <a:xfrm>
            <a:off x="3300984" y="3401568"/>
            <a:ext cx="2487168" cy="22860"/>
          </a:xfrm>
          <a:prstGeom prst="rect">
            <a:avLst/>
          </a:prstGeom>
          <a:solidFill>
            <a:srgbClr val="D1D9E6"/>
          </a:solidFill>
          <a:ln w="12700">
            <a:solidFill>
              <a:srgbClr val="D1D9E6"/>
            </a:solidFill>
            <a:prstDash val="solid"/>
          </a:ln>
        </p:spPr>
      </p:sp>
      <p:sp>
        <p:nvSpPr>
          <p:cNvPr id="40" name="Text 38"/>
          <p:cNvSpPr/>
          <p:nvPr/>
        </p:nvSpPr>
        <p:spPr>
          <a:xfrm>
            <a:off x="3300984" y="3474720"/>
            <a:ext cx="2487168" cy="1298448"/>
          </a:xfrm>
          <a:prstGeom prst="rect">
            <a:avLst/>
          </a:prstGeom>
          <a:noFill/>
          <a:ln/>
        </p:spPr>
        <p:txBody>
          <a:bodyPr wrap="square" lIns="0" tIns="0" rIns="0" bIns="0" rtlCol="0" anchor="ctr"/>
          <a:lstStyle/>
          <a:p>
            <a:pPr indent="0" marL="0">
              <a:buNone/>
            </a:pPr>
            <a:r>
              <a:rPr lang="en-US" sz="950" dirty="0">
                <a:solidFill>
                  <a:srgbClr val="4A5568"/>
                </a:solidFill>
              </a:rPr>
              <a:t>Each claim is scored and classified: ✅ Ready for Approval — all checks passed, or ⚠ Discrepancy Found — with specific flags and evidence.</a:t>
            </a:r>
            <a:endParaRPr lang="en-US" sz="950" dirty="0"/>
          </a:p>
        </p:txBody>
      </p:sp>
      <p:sp>
        <p:nvSpPr>
          <p:cNvPr id="41" name="Shape 39"/>
          <p:cNvSpPr/>
          <p:nvPr/>
        </p:nvSpPr>
        <p:spPr>
          <a:xfrm>
            <a:off x="6025896" y="2926080"/>
            <a:ext cx="2724912" cy="1920240"/>
          </a:xfrm>
          <a:prstGeom prst="rect">
            <a:avLst/>
          </a:prstGeom>
          <a:solidFill>
            <a:srgbClr val="FFFFFF"/>
          </a:solidFill>
          <a:ln w="12700">
            <a:solidFill>
              <a:srgbClr val="D1D9E6"/>
            </a:solidFill>
            <a:prstDash val="solid"/>
          </a:ln>
          <a:effectLst>
            <a:outerShdw sx="100000" sy="100000" kx="0" ky="0" algn="bl" rotWithShape="0" blurRad="127000" dist="38100" dir="8100000">
              <a:srgbClr val="000000">
                <a:alpha val="10000"/>
              </a:srgbClr>
            </a:outerShdw>
          </a:effectLst>
        </p:spPr>
      </p:sp>
      <p:sp>
        <p:nvSpPr>
          <p:cNvPr id="42" name="Shape 40"/>
          <p:cNvSpPr/>
          <p:nvPr/>
        </p:nvSpPr>
        <p:spPr>
          <a:xfrm>
            <a:off x="6025896" y="2926080"/>
            <a:ext cx="54864" cy="1920240"/>
          </a:xfrm>
          <a:prstGeom prst="rect">
            <a:avLst/>
          </a:prstGeom>
          <a:solidFill>
            <a:srgbClr val="1A5276"/>
          </a:solidFill>
          <a:ln w="12700">
            <a:solidFill>
              <a:srgbClr val="1A5276"/>
            </a:solidFill>
            <a:prstDash val="solid"/>
          </a:ln>
        </p:spPr>
      </p:sp>
      <p:sp>
        <p:nvSpPr>
          <p:cNvPr id="43" name="Shape 41"/>
          <p:cNvSpPr/>
          <p:nvPr/>
        </p:nvSpPr>
        <p:spPr>
          <a:xfrm>
            <a:off x="6080760" y="2926080"/>
            <a:ext cx="2670048" cy="457200"/>
          </a:xfrm>
          <a:prstGeom prst="rect">
            <a:avLst/>
          </a:prstGeom>
          <a:solidFill>
            <a:srgbClr val="F8F9FC"/>
          </a:solidFill>
          <a:ln w="12700">
            <a:solidFill>
              <a:srgbClr val="F8F9FC"/>
            </a:solidFill>
            <a:prstDash val="solid"/>
          </a:ln>
        </p:spPr>
      </p:sp>
      <p:sp>
        <p:nvSpPr>
          <p:cNvPr id="44" name="Text 42"/>
          <p:cNvSpPr/>
          <p:nvPr/>
        </p:nvSpPr>
        <p:spPr>
          <a:xfrm>
            <a:off x="6153912" y="2980944"/>
            <a:ext cx="411480" cy="347472"/>
          </a:xfrm>
          <a:prstGeom prst="rect">
            <a:avLst/>
          </a:prstGeom>
          <a:noFill/>
          <a:ln/>
        </p:spPr>
        <p:txBody>
          <a:bodyPr wrap="square" lIns="0" tIns="0" rIns="0" bIns="0" rtlCol="0" anchor="ctr"/>
          <a:lstStyle/>
          <a:p>
            <a:pPr indent="0" marL="0">
              <a:buNone/>
            </a:pPr>
            <a:r>
              <a:rPr lang="en-US" sz="1800" b="1" dirty="0">
                <a:solidFill>
                  <a:srgbClr val="1A5276"/>
                </a:solidFill>
              </a:rPr>
              <a:t>06</a:t>
            </a:r>
            <a:endParaRPr lang="en-US" sz="1800" dirty="0"/>
          </a:p>
        </p:txBody>
      </p:sp>
      <p:sp>
        <p:nvSpPr>
          <p:cNvPr id="45" name="Text 43"/>
          <p:cNvSpPr/>
          <p:nvPr/>
        </p:nvSpPr>
        <p:spPr>
          <a:xfrm>
            <a:off x="6592824" y="3035808"/>
            <a:ext cx="2084832" cy="274320"/>
          </a:xfrm>
          <a:prstGeom prst="rect">
            <a:avLst/>
          </a:prstGeom>
          <a:noFill/>
          <a:ln/>
        </p:spPr>
        <p:txBody>
          <a:bodyPr wrap="square" lIns="0" tIns="0" rIns="0" bIns="0" rtlCol="0" anchor="ctr"/>
          <a:lstStyle/>
          <a:p>
            <a:pPr indent="0" marL="0">
              <a:buNone/>
            </a:pPr>
            <a:r>
              <a:rPr lang="en-US" sz="1100" b="1" dirty="0">
                <a:solidFill>
                  <a:srgbClr val="1A202C"/>
                </a:solidFill>
              </a:rPr>
              <a:t>System Push &amp; Audit</a:t>
            </a:r>
            <a:endParaRPr lang="en-US" sz="1100" dirty="0"/>
          </a:p>
        </p:txBody>
      </p:sp>
      <p:sp>
        <p:nvSpPr>
          <p:cNvPr id="46" name="Shape 44"/>
          <p:cNvSpPr/>
          <p:nvPr/>
        </p:nvSpPr>
        <p:spPr>
          <a:xfrm>
            <a:off x="6153912" y="3401568"/>
            <a:ext cx="2487168" cy="22860"/>
          </a:xfrm>
          <a:prstGeom prst="rect">
            <a:avLst/>
          </a:prstGeom>
          <a:solidFill>
            <a:srgbClr val="D1D9E6"/>
          </a:solidFill>
          <a:ln w="12700">
            <a:solidFill>
              <a:srgbClr val="D1D9E6"/>
            </a:solidFill>
            <a:prstDash val="solid"/>
          </a:ln>
        </p:spPr>
      </p:sp>
      <p:sp>
        <p:nvSpPr>
          <p:cNvPr id="47" name="Text 45"/>
          <p:cNvSpPr/>
          <p:nvPr/>
        </p:nvSpPr>
        <p:spPr>
          <a:xfrm>
            <a:off x="6153912" y="3474720"/>
            <a:ext cx="2487168" cy="1298448"/>
          </a:xfrm>
          <a:prstGeom prst="rect">
            <a:avLst/>
          </a:prstGeom>
          <a:noFill/>
          <a:ln/>
        </p:spPr>
        <p:txBody>
          <a:bodyPr wrap="square" lIns="0" tIns="0" rIns="0" bIns="0" rtlCol="0" anchor="ctr"/>
          <a:lstStyle/>
          <a:p>
            <a:pPr indent="0" marL="0">
              <a:buNone/>
            </a:pPr>
            <a:r>
              <a:rPr lang="en-US" sz="950" dirty="0">
                <a:solidFill>
                  <a:srgbClr val="4A5568"/>
                </a:solidFill>
              </a:rPr>
              <a:t>Results are auto-pushed via REST API to Samsung's claim management system with a full structured audit trail, timestamps and decision rationale.</a:t>
            </a:r>
            <a:endParaRPr lang="en-US" sz="950" dirty="0"/>
          </a:p>
        </p:txBody>
      </p:sp>
      <p:sp>
        <p:nvSpPr>
          <p:cNvPr id="48" name="Shape 46"/>
          <p:cNvSpPr/>
          <p:nvPr/>
        </p:nvSpPr>
        <p:spPr>
          <a:xfrm>
            <a:off x="0" y="4956048"/>
            <a:ext cx="9144000" cy="182880"/>
          </a:xfrm>
          <a:prstGeom prst="rect">
            <a:avLst/>
          </a:prstGeom>
          <a:solidFill>
            <a:srgbClr val="EDF0F7"/>
          </a:solidFill>
          <a:ln w="12700">
            <a:solidFill>
              <a:srgbClr val="EDF0F7"/>
            </a:solidFill>
            <a:prstDash val="solid"/>
          </a:ln>
        </p:spPr>
      </p:sp>
      <p:sp>
        <p:nvSpPr>
          <p:cNvPr id="49" name="Text 47"/>
          <p:cNvSpPr/>
          <p:nvPr/>
        </p:nvSpPr>
        <p:spPr>
          <a:xfrm>
            <a:off x="0" y="4956048"/>
            <a:ext cx="9144000" cy="182880"/>
          </a:xfrm>
          <a:prstGeom prst="rect">
            <a:avLst/>
          </a:prstGeom>
          <a:noFill/>
          <a:ln/>
        </p:spPr>
        <p:txBody>
          <a:bodyPr wrap="square" lIns="0" tIns="0" rIns="0" bIns="0" rtlCol="0" anchor="ctr"/>
          <a:lstStyle/>
          <a:p>
            <a:pPr algn="ctr" indent="0" marL="0">
              <a:buNone/>
            </a:pPr>
            <a:r>
              <a:rPr lang="en-US" sz="750" dirty="0">
                <a:solidFill>
                  <a:srgbClr val="8A94A8"/>
                </a:solidFill>
              </a:rPr>
              <a:t>CONFIDENTIAL  ·  Project CLARITY  ·  CTO Briefing  ·  May 2025</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428A0"/>
          </a:solidFill>
          <a:ln w="12700">
            <a:solidFill>
              <a:srgbClr val="1428A0"/>
            </a:solidFill>
            <a:prstDash val="solid"/>
          </a:ln>
        </p:spPr>
      </p:sp>
      <p:sp>
        <p:nvSpPr>
          <p:cNvPr id="3" name="Shape 1"/>
          <p:cNvSpPr/>
          <p:nvPr/>
        </p:nvSpPr>
        <p:spPr>
          <a:xfrm>
            <a:off x="0" y="658368"/>
            <a:ext cx="9144000" cy="41148"/>
          </a:xfrm>
          <a:prstGeom prst="rect">
            <a:avLst/>
          </a:prstGeom>
          <a:solidFill>
            <a:srgbClr val="0078D4"/>
          </a:solidFill>
          <a:ln w="12700">
            <a:solidFill>
              <a:srgbClr val="0078D4"/>
            </a:solidFill>
            <a:prstDash val="solid"/>
          </a:ln>
        </p:spPr>
      </p:sp>
      <p:sp>
        <p:nvSpPr>
          <p:cNvPr id="4" name="Text 2"/>
          <p:cNvSpPr/>
          <p:nvPr/>
        </p:nvSpPr>
        <p:spPr>
          <a:xfrm>
            <a:off x="411480" y="0"/>
            <a:ext cx="7315200" cy="658368"/>
          </a:xfrm>
          <a:prstGeom prst="rect">
            <a:avLst/>
          </a:prstGeom>
          <a:noFill/>
          <a:ln/>
        </p:spPr>
        <p:txBody>
          <a:bodyPr wrap="square" lIns="0" tIns="0" rIns="0" bIns="0" rtlCol="0" anchor="ctr"/>
          <a:lstStyle/>
          <a:p>
            <a:pPr indent="0" marL="0">
              <a:buNone/>
            </a:pPr>
            <a:r>
              <a:rPr lang="en-US" sz="1400" b="1" spc="200" kern="0" dirty="0">
                <a:solidFill>
                  <a:srgbClr val="FFFFFF"/>
                </a:solidFill>
              </a:rPr>
              <a:t>COMMERCIAL PROPOSAL</a:t>
            </a:r>
            <a:endParaRPr lang="en-US" sz="1400" dirty="0"/>
          </a:p>
        </p:txBody>
      </p:sp>
      <p:sp>
        <p:nvSpPr>
          <p:cNvPr id="5" name="Text 3"/>
          <p:cNvSpPr/>
          <p:nvPr/>
        </p:nvSpPr>
        <p:spPr>
          <a:xfrm>
            <a:off x="6400800" y="0"/>
            <a:ext cx="2514600" cy="658368"/>
          </a:xfrm>
          <a:prstGeom prst="rect">
            <a:avLst/>
          </a:prstGeom>
          <a:noFill/>
          <a:ln/>
        </p:spPr>
        <p:txBody>
          <a:bodyPr wrap="square" lIns="0" tIns="0" rIns="0" bIns="0" rtlCol="0" anchor="ctr"/>
          <a:lstStyle/>
          <a:p>
            <a:pPr algn="r" indent="0" marL="0">
              <a:buNone/>
            </a:pPr>
            <a:r>
              <a:rPr lang="en-US" sz="900" dirty="0">
                <a:solidFill>
                  <a:srgbClr val="8899CC"/>
                </a:solidFill>
              </a:rPr>
              <a:t>Project CLARITY  ·  Warranty Automation</a:t>
            </a:r>
            <a:endParaRPr lang="en-US" sz="900" dirty="0"/>
          </a:p>
        </p:txBody>
      </p:sp>
      <p:sp>
        <p:nvSpPr>
          <p:cNvPr id="6" name="Shape 4"/>
          <p:cNvSpPr/>
          <p:nvPr/>
        </p:nvSpPr>
        <p:spPr>
          <a:xfrm>
            <a:off x="411480" y="822960"/>
            <a:ext cx="8321040" cy="1051560"/>
          </a:xfrm>
          <a:prstGeom prst="rect">
            <a:avLst/>
          </a:prstGeom>
          <a:solidFill>
            <a:srgbClr val="E8EBFA"/>
          </a:solidFill>
          <a:ln w="12700">
            <a:solidFill>
              <a:srgbClr val="1428A0"/>
            </a:solidFill>
            <a:prstDash val="solid"/>
          </a:ln>
          <a:effectLst>
            <a:outerShdw sx="100000" sy="100000" kx="0" ky="0" algn="bl" rotWithShape="0" blurRad="127000" dist="38100" dir="8100000">
              <a:srgbClr val="000000">
                <a:alpha val="10000"/>
              </a:srgbClr>
            </a:outerShdw>
          </a:effectLst>
        </p:spPr>
      </p:sp>
      <p:sp>
        <p:nvSpPr>
          <p:cNvPr id="7" name="Shape 5"/>
          <p:cNvSpPr/>
          <p:nvPr/>
        </p:nvSpPr>
        <p:spPr>
          <a:xfrm>
            <a:off x="411480" y="822960"/>
            <a:ext cx="54864" cy="1051560"/>
          </a:xfrm>
          <a:prstGeom prst="rect">
            <a:avLst/>
          </a:prstGeom>
          <a:solidFill>
            <a:srgbClr val="1428A0"/>
          </a:solidFill>
          <a:ln w="12700">
            <a:solidFill>
              <a:srgbClr val="1428A0"/>
            </a:solidFill>
            <a:prstDash val="solid"/>
          </a:ln>
        </p:spPr>
      </p:sp>
      <p:sp>
        <p:nvSpPr>
          <p:cNvPr id="8" name="Text 6"/>
          <p:cNvSpPr/>
          <p:nvPr/>
        </p:nvSpPr>
        <p:spPr>
          <a:xfrm>
            <a:off x="640080" y="868680"/>
            <a:ext cx="3657600" cy="621792"/>
          </a:xfrm>
          <a:prstGeom prst="rect">
            <a:avLst/>
          </a:prstGeom>
          <a:noFill/>
          <a:ln/>
        </p:spPr>
        <p:txBody>
          <a:bodyPr wrap="square" lIns="0" tIns="0" rIns="0" bIns="0" rtlCol="0" anchor="ctr"/>
          <a:lstStyle/>
          <a:p>
            <a:pPr algn="l" indent="0" marL="0">
              <a:buNone/>
            </a:pPr>
            <a:r>
              <a:rPr lang="en-US" sz="4200" b="1" dirty="0">
                <a:solidFill>
                  <a:srgbClr val="1428A0"/>
                </a:solidFill>
              </a:rPr>
              <a:t>₹ 75 Lakhs</a:t>
            </a:r>
            <a:endParaRPr lang="en-US" sz="4200" dirty="0"/>
          </a:p>
        </p:txBody>
      </p:sp>
      <p:sp>
        <p:nvSpPr>
          <p:cNvPr id="9" name="Text 7"/>
          <p:cNvSpPr/>
          <p:nvPr/>
        </p:nvSpPr>
        <p:spPr>
          <a:xfrm>
            <a:off x="640080" y="1463040"/>
            <a:ext cx="3657600" cy="274320"/>
          </a:xfrm>
          <a:prstGeom prst="rect">
            <a:avLst/>
          </a:prstGeom>
          <a:noFill/>
          <a:ln/>
        </p:spPr>
        <p:txBody>
          <a:bodyPr wrap="square" lIns="0" tIns="0" rIns="0" bIns="0" rtlCol="0" anchor="ctr"/>
          <a:lstStyle/>
          <a:p>
            <a:pPr algn="l" indent="0" marL="0">
              <a:buNone/>
            </a:pPr>
            <a:r>
              <a:rPr lang="en-US" sz="1100" dirty="0">
                <a:solidFill>
                  <a:srgbClr val="4A5568"/>
                </a:solidFill>
              </a:rPr>
              <a:t>Per Annum  ·  All-inclusive</a:t>
            </a:r>
            <a:endParaRPr lang="en-US" sz="1100" dirty="0"/>
          </a:p>
        </p:txBody>
      </p:sp>
      <p:sp>
        <p:nvSpPr>
          <p:cNvPr id="10" name="Text 8"/>
          <p:cNvSpPr/>
          <p:nvPr/>
        </p:nvSpPr>
        <p:spPr>
          <a:xfrm>
            <a:off x="4754880" y="914400"/>
            <a:ext cx="3749040" cy="685800"/>
          </a:xfrm>
          <a:prstGeom prst="rect">
            <a:avLst/>
          </a:prstGeom>
          <a:noFill/>
          <a:ln/>
        </p:spPr>
        <p:txBody>
          <a:bodyPr wrap="square" lIns="0" tIns="0" rIns="0" bIns="0" rtlCol="0" anchor="ctr"/>
          <a:lstStyle/>
          <a:p>
            <a:pPr algn="l" indent="0" marL="0">
              <a:buNone/>
            </a:pPr>
            <a:r>
              <a:rPr lang="en-US" sz="1050" dirty="0">
                <a:solidFill>
                  <a:srgbClr val="4A5568"/>
                </a:solidFill>
              </a:rPr>
              <a:t>Covering: In-house OCR model  ·  In-house LLM engine</a:t>
            </a:r>
            <a:endParaRPr lang="en-US" sz="1050" dirty="0"/>
          </a:p>
          <a:p>
            <a:pPr algn="l" indent="0" marL="0">
              <a:buNone/>
            </a:pPr>
            <a:r>
              <a:rPr lang="en-US" sz="1050" dirty="0">
                <a:solidFill>
                  <a:srgbClr val="4A5568"/>
                </a:solidFill>
              </a:rPr>
              <a:t>Samsung Cloud GPU  ·  Integration &amp; API  ·  Annual support</a:t>
            </a:r>
            <a:endParaRPr lang="en-US" sz="1050" dirty="0"/>
          </a:p>
        </p:txBody>
      </p:sp>
      <p:sp>
        <p:nvSpPr>
          <p:cNvPr id="11" name="Text 9"/>
          <p:cNvSpPr/>
          <p:nvPr/>
        </p:nvSpPr>
        <p:spPr>
          <a:xfrm>
            <a:off x="4754880" y="1572768"/>
            <a:ext cx="3749040" cy="228600"/>
          </a:xfrm>
          <a:prstGeom prst="rect">
            <a:avLst/>
          </a:prstGeom>
          <a:noFill/>
          <a:ln/>
        </p:spPr>
        <p:txBody>
          <a:bodyPr wrap="square" lIns="0" tIns="0" rIns="0" bIns="0" rtlCol="0" anchor="ctr"/>
          <a:lstStyle/>
          <a:p>
            <a:pPr algn="l" indent="0" marL="0">
              <a:buNone/>
            </a:pPr>
            <a:r>
              <a:rPr lang="en-US" sz="950" b="1" dirty="0">
                <a:solidFill>
                  <a:srgbClr val="1428A0"/>
                </a:solidFill>
              </a:rPr>
              <a:t>Effective rate: ₹6.94 per claim   vs. ₹25–40 manual cost</a:t>
            </a:r>
            <a:endParaRPr lang="en-US" sz="9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11480" y="2011680"/>
          <a:ext cx="8321040" cy="2743200"/>
        </p:xfrm>
        <a:graphic>
          <a:graphicData uri="http://schemas.openxmlformats.org/drawingml/2006/table">
            <a:tbl>
              <a:tblPr/>
              <a:tblGrid>
                <a:gridCol w="1828800"/>
                <a:gridCol w="3520440"/>
                <a:gridCol w="1828800"/>
                <a:gridCol w="1143000"/>
              </a:tblGrid>
              <a:tr h="384048">
                <a:tc>
                  <a:txBody>
                    <a:bodyPr/>
                    <a:lstStyle/>
                    <a:p>
                      <a:pPr indent="0" marL="0">
                        <a:buNone/>
                      </a:pPr>
                      <a:r>
                        <a:rPr lang="en-US" sz="950" b="1" dirty="0">
                          <a:solidFill>
                            <a:srgbClr val="FFFFFF"/>
                          </a:solidFill>
                        </a:rPr>
                        <a:t>Component</a:t>
                      </a:r>
                      <a:endParaRPr lang="en-US" sz="950" dirty="0"/>
                    </a:p>
                  </a:txBody>
                  <a:tcPr marL="91440" marR="91440" marT="45720" marB="45720">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1428A0"/>
                    </a:solidFill>
                  </a:tcPr>
                </a:tc>
                <a:tc>
                  <a:txBody>
                    <a:bodyPr/>
                    <a:lstStyle/>
                    <a:p>
                      <a:pPr indent="0" marL="0">
                        <a:buNone/>
                      </a:pPr>
                      <a:r>
                        <a:rPr lang="en-US" sz="950" b="1" dirty="0">
                          <a:solidFill>
                            <a:srgbClr val="FFFFFF"/>
                          </a:solidFill>
                        </a:rPr>
                        <a:t>Scope</a:t>
                      </a:r>
                      <a:endParaRPr lang="en-US" sz="950" dirty="0"/>
                    </a:p>
                  </a:txBody>
                  <a:tcPr marL="91440" marR="91440" marT="45720" marB="45720">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1428A0"/>
                    </a:solidFill>
                  </a:tcPr>
                </a:tc>
                <a:tc>
                  <a:txBody>
                    <a:bodyPr/>
                    <a:lstStyle/>
                    <a:p>
                      <a:pPr indent="0" marL="0">
                        <a:buNone/>
                      </a:pPr>
                      <a:r>
                        <a:rPr lang="en-US" sz="950" b="1" dirty="0">
                          <a:solidFill>
                            <a:srgbClr val="FFFFFF"/>
                          </a:solidFill>
                        </a:rPr>
                        <a:t>Claim Types</a:t>
                      </a:r>
                      <a:endParaRPr lang="en-US" sz="950" dirty="0"/>
                    </a:p>
                  </a:txBody>
                  <a:tcPr marL="91440" marR="91440" marT="45720" marB="45720">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1428A0"/>
                    </a:solidFill>
                  </a:tcPr>
                </a:tc>
                <a:tc>
                  <a:txBody>
                    <a:bodyPr/>
                    <a:lstStyle/>
                    <a:p>
                      <a:pPr indent="0" marL="0">
                        <a:buNone/>
                      </a:pPr>
                      <a:r>
                        <a:rPr lang="en-US" sz="950" b="1" dirty="0">
                          <a:solidFill>
                            <a:srgbClr val="FFFFFF"/>
                          </a:solidFill>
                        </a:rPr>
                        <a:t>Annual Cost</a:t>
                      </a:r>
                      <a:endParaRPr lang="en-US" sz="950" dirty="0"/>
                    </a:p>
                  </a:txBody>
                  <a:tcPr marL="91440" marR="91440" marT="45720" marB="45720">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1428A0"/>
                    </a:solidFill>
                  </a:tcPr>
                </a:tc>
              </a:tr>
              <a:tr h="384048">
                <a:tc>
                  <a:txBody>
                    <a:bodyPr/>
                    <a:lstStyle/>
                    <a:p>
                      <a:pPr indent="0" marL="0">
                        <a:buNone/>
                      </a:pPr>
                      <a:r>
                        <a:rPr lang="en-US" sz="950" dirty="0">
                          <a:solidFill>
                            <a:srgbClr val="1A202C"/>
                          </a:solidFill>
                        </a:rPr>
                        <a:t>In-House OCR Model</a:t>
                      </a:r>
                      <a:endParaRPr lang="en-US" sz="950" dirty="0"/>
                    </a:p>
                  </a:txBody>
                  <a:tcPr marL="91440" marR="91440" marT="45720" marB="45720">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indent="0" marL="0">
                        <a:buNone/>
                      </a:pPr>
                      <a:r>
                        <a:rPr lang="en-US" sz="950" dirty="0">
                          <a:solidFill>
                            <a:srgbClr val="4A5568"/>
                          </a:solidFill>
                        </a:rPr>
                        <a:t>Development, training, maintenance &amp; versioning</a:t>
                      </a:r>
                      <a:endParaRPr lang="en-US" sz="950" dirty="0"/>
                    </a:p>
                  </a:txBody>
                  <a:tcPr marL="91440" marR="91440" marT="45720" marB="45720">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indent="0" marL="0">
                        <a:buNone/>
                      </a:pPr>
                      <a:r>
                        <a:rPr lang="en-US" sz="950" dirty="0">
                          <a:solidFill>
                            <a:srgbClr val="4A5568"/>
                          </a:solidFill>
                        </a:rPr>
                        <a:t>All 5 types</a:t>
                      </a:r>
                      <a:endParaRPr lang="en-US" sz="950" dirty="0"/>
                    </a:p>
                  </a:txBody>
                  <a:tcPr marL="91440" marR="91440" marT="45720" marB="45720">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indent="0" marL="0">
                        <a:buNone/>
                      </a:pPr>
                      <a:r>
                        <a:rPr lang="en-US" sz="950" b="1" dirty="0">
                          <a:solidFill>
                            <a:srgbClr val="1A202C"/>
                          </a:solidFill>
                        </a:rPr>
                        <a:t>₹ 20L</a:t>
                      </a:r>
                      <a:endParaRPr lang="en-US" sz="950" dirty="0"/>
                    </a:p>
                  </a:txBody>
                  <a:tcPr marL="91440" marR="91440" marT="45720" marB="45720">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r>
              <a:tr h="384048">
                <a:tc>
                  <a:txBody>
                    <a:bodyPr/>
                    <a:lstStyle/>
                    <a:p>
                      <a:pPr indent="0" marL="0">
                        <a:buNone/>
                      </a:pPr>
                      <a:r>
                        <a:rPr lang="en-US" sz="950" dirty="0">
                          <a:solidFill>
                            <a:srgbClr val="1A202C"/>
                          </a:solidFill>
                        </a:rPr>
                        <a:t>In-House LLM Engine</a:t>
                      </a:r>
                      <a:endParaRPr lang="en-US" sz="950" dirty="0"/>
                    </a:p>
                  </a:txBody>
                  <a:tcPr marL="91440" marR="91440" marT="45720" marB="45720">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indent="0" marL="0">
                        <a:buNone/>
                      </a:pPr>
                      <a:r>
                        <a:rPr lang="en-US" sz="950" dirty="0">
                          <a:solidFill>
                            <a:srgbClr val="4A5568"/>
                          </a:solidFill>
                        </a:rPr>
                        <a:t>Warranty rule-based validation &amp; discrepancy detection</a:t>
                      </a:r>
                      <a:endParaRPr lang="en-US" sz="950" dirty="0"/>
                    </a:p>
                  </a:txBody>
                  <a:tcPr marL="91440" marR="91440" marT="45720" marB="45720">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indent="0" marL="0">
                        <a:buNone/>
                      </a:pPr>
                      <a:r>
                        <a:rPr lang="en-US" sz="950" dirty="0">
                          <a:solidFill>
                            <a:srgbClr val="4A5568"/>
                          </a:solidFill>
                        </a:rPr>
                        <a:t>All 5 types</a:t>
                      </a:r>
                      <a:endParaRPr lang="en-US" sz="950" dirty="0"/>
                    </a:p>
                  </a:txBody>
                  <a:tcPr marL="91440" marR="91440" marT="45720" marB="45720">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indent="0" marL="0">
                        <a:buNone/>
                      </a:pPr>
                      <a:r>
                        <a:rPr lang="en-US" sz="950" b="1" dirty="0">
                          <a:solidFill>
                            <a:srgbClr val="1A202C"/>
                          </a:solidFill>
                        </a:rPr>
                        <a:t>₹ 22L</a:t>
                      </a:r>
                      <a:endParaRPr lang="en-US" sz="950" dirty="0"/>
                    </a:p>
                  </a:txBody>
                  <a:tcPr marL="91440" marR="91440" marT="45720" marB="45720">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r>
              <a:tr h="384048">
                <a:tc>
                  <a:txBody>
                    <a:bodyPr/>
                    <a:lstStyle/>
                    <a:p>
                      <a:pPr indent="0" marL="0">
                        <a:buNone/>
                      </a:pPr>
                      <a:r>
                        <a:rPr lang="en-US" sz="950" dirty="0">
                          <a:solidFill>
                            <a:srgbClr val="1A202C"/>
                          </a:solidFill>
                        </a:rPr>
                        <a:t>Samsung Cloud GPU</a:t>
                      </a:r>
                      <a:endParaRPr lang="en-US" sz="950" dirty="0"/>
                    </a:p>
                  </a:txBody>
                  <a:tcPr marL="91440" marR="91440" marT="45720" marB="45720">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indent="0" marL="0">
                        <a:buNone/>
                      </a:pPr>
                      <a:r>
                        <a:rPr lang="en-US" sz="950" dirty="0">
                          <a:solidFill>
                            <a:srgbClr val="4A5568"/>
                          </a:solidFill>
                        </a:rPr>
                        <a:t>GPU compute, storage, batch pipeline infrastructure</a:t>
                      </a:r>
                      <a:endParaRPr lang="en-US" sz="950" dirty="0"/>
                    </a:p>
                  </a:txBody>
                  <a:tcPr marL="91440" marR="91440" marT="45720" marB="45720">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indent="0" marL="0">
                        <a:buNone/>
                      </a:pPr>
                      <a:r>
                        <a:rPr lang="en-US" sz="950" dirty="0">
                          <a:solidFill>
                            <a:srgbClr val="4A5568"/>
                          </a:solidFill>
                        </a:rPr>
                        <a:t>All 5 types</a:t>
                      </a:r>
                      <a:endParaRPr lang="en-US" sz="950" dirty="0"/>
                    </a:p>
                  </a:txBody>
                  <a:tcPr marL="91440" marR="91440" marT="45720" marB="45720">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indent="0" marL="0">
                        <a:buNone/>
                      </a:pPr>
                      <a:r>
                        <a:rPr lang="en-US" sz="950" b="1" dirty="0">
                          <a:solidFill>
                            <a:srgbClr val="1A202C"/>
                          </a:solidFill>
                        </a:rPr>
                        <a:t>₹ 18L</a:t>
                      </a:r>
                      <a:endParaRPr lang="en-US" sz="950" dirty="0"/>
                    </a:p>
                  </a:txBody>
                  <a:tcPr marL="91440" marR="91440" marT="45720" marB="45720">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r>
              <a:tr h="384048">
                <a:tc>
                  <a:txBody>
                    <a:bodyPr/>
                    <a:lstStyle/>
                    <a:p>
                      <a:pPr indent="0" marL="0">
                        <a:buNone/>
                      </a:pPr>
                      <a:r>
                        <a:rPr lang="en-US" sz="950" dirty="0">
                          <a:solidFill>
                            <a:srgbClr val="1A202C"/>
                          </a:solidFill>
                        </a:rPr>
                        <a:t>Integration &amp; API</a:t>
                      </a:r>
                      <a:endParaRPr lang="en-US" sz="950" dirty="0"/>
                    </a:p>
                  </a:txBody>
                  <a:tcPr marL="91440" marR="91440" marT="45720" marB="45720">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indent="0" marL="0">
                        <a:buNone/>
                      </a:pPr>
                      <a:r>
                        <a:rPr lang="en-US" sz="950" dirty="0">
                          <a:solidFill>
                            <a:srgbClr val="4A5568"/>
                          </a:solidFill>
                        </a:rPr>
                        <a:t>CMS/ERP/CRM integration, result push, audit logs</a:t>
                      </a:r>
                      <a:endParaRPr lang="en-US" sz="950" dirty="0"/>
                    </a:p>
                  </a:txBody>
                  <a:tcPr marL="91440" marR="91440" marT="45720" marB="45720">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indent="0" marL="0">
                        <a:buNone/>
                      </a:pPr>
                      <a:r>
                        <a:rPr lang="en-US" sz="950" dirty="0">
                          <a:solidFill>
                            <a:srgbClr val="4A5568"/>
                          </a:solidFill>
                        </a:rPr>
                        <a:t>All 5 types</a:t>
                      </a:r>
                      <a:endParaRPr lang="en-US" sz="950" dirty="0"/>
                    </a:p>
                  </a:txBody>
                  <a:tcPr marL="91440" marR="91440" marT="45720" marB="45720">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indent="0" marL="0">
                        <a:buNone/>
                      </a:pPr>
                      <a:r>
                        <a:rPr lang="en-US" sz="950" b="1" dirty="0">
                          <a:solidFill>
                            <a:srgbClr val="1A202C"/>
                          </a:solidFill>
                        </a:rPr>
                        <a:t>₹ 8L</a:t>
                      </a:r>
                      <a:endParaRPr lang="en-US" sz="950" dirty="0"/>
                    </a:p>
                  </a:txBody>
                  <a:tcPr marL="91440" marR="91440" marT="45720" marB="45720">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r>
              <a:tr h="384048">
                <a:tc>
                  <a:txBody>
                    <a:bodyPr/>
                    <a:lstStyle/>
                    <a:p>
                      <a:pPr indent="0" marL="0">
                        <a:buNone/>
                      </a:pPr>
                      <a:r>
                        <a:rPr lang="en-US" sz="950" dirty="0">
                          <a:solidFill>
                            <a:srgbClr val="1A202C"/>
                          </a:solidFill>
                        </a:rPr>
                        <a:t>Support &amp; Maintenance</a:t>
                      </a:r>
                      <a:endParaRPr lang="en-US" sz="950" dirty="0"/>
                    </a:p>
                  </a:txBody>
                  <a:tcPr marL="91440" marR="91440" marT="45720" marB="45720">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indent="0" marL="0">
                        <a:buNone/>
                      </a:pPr>
                      <a:r>
                        <a:rPr lang="en-US" sz="950" dirty="0">
                          <a:solidFill>
                            <a:srgbClr val="4A5568"/>
                          </a:solidFill>
                        </a:rPr>
                        <a:t>Annual model refresh, monitoring, SLA &amp; helpdesk</a:t>
                      </a:r>
                      <a:endParaRPr lang="en-US" sz="950" dirty="0"/>
                    </a:p>
                  </a:txBody>
                  <a:tcPr marL="91440" marR="91440" marT="45720" marB="45720">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indent="0" marL="0">
                        <a:buNone/>
                      </a:pPr>
                      <a:r>
                        <a:rPr lang="en-US" sz="950" dirty="0">
                          <a:solidFill>
                            <a:srgbClr val="4A5568"/>
                          </a:solidFill>
                        </a:rPr>
                        <a:t>All 5 types</a:t>
                      </a:r>
                      <a:endParaRPr lang="en-US" sz="950" dirty="0"/>
                    </a:p>
                  </a:txBody>
                  <a:tcPr marL="91440" marR="91440" marT="45720" marB="45720">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c>
                  <a:txBody>
                    <a:bodyPr/>
                    <a:lstStyle/>
                    <a:p>
                      <a:pPr indent="0" marL="0">
                        <a:buNone/>
                      </a:pPr>
                      <a:r>
                        <a:rPr lang="en-US" sz="950" b="1" dirty="0">
                          <a:solidFill>
                            <a:srgbClr val="1A202C"/>
                          </a:solidFill>
                        </a:rPr>
                        <a:t>₹ 7L</a:t>
                      </a:r>
                      <a:endParaRPr lang="en-US" sz="950" dirty="0"/>
                    </a:p>
                  </a:txBody>
                  <a:tcPr marL="91440" marR="91440" marT="45720" marB="45720">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FFFFFF"/>
                    </a:solidFill>
                  </a:tcPr>
                </a:tc>
              </a:tr>
              <a:tr h="384048">
                <a:tc>
                  <a:txBody>
                    <a:bodyPr/>
                    <a:lstStyle/>
                    <a:p>
                      <a:pPr indent="0" marL="0">
                        <a:buNone/>
                      </a:pPr>
                      <a:r>
                        <a:rPr lang="en-US" sz="1000" b="1" dirty="0">
                          <a:solidFill>
                            <a:srgbClr val="FFFFFF"/>
                          </a:solidFill>
                        </a:rPr>
                        <a:t>TOTAL</a:t>
                      </a:r>
                      <a:endParaRPr lang="en-US" sz="1000" dirty="0"/>
                    </a:p>
                  </a:txBody>
                  <a:tcPr marL="91440" marR="91440" marT="45720" marB="45720">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1428A0"/>
                    </a:solidFill>
                  </a:tcPr>
                </a:tc>
                <a:tc>
                  <a:txBody>
                    <a:bodyPr/>
                    <a:lstStyle/>
                    <a:p>
                      <a:pPr indent="0" marL="0">
                        <a:buNone/>
                      </a:pPr>
                      <a:r>
                        <a:rPr lang="en-US" sz="950" b="1" dirty="0">
                          <a:solidFill>
                            <a:srgbClr val="FFFFFF"/>
                          </a:solidFill>
                        </a:rPr>
                        <a:t>9 Lakh claims/month across all warranty categories</a:t>
                      </a:r>
                      <a:endParaRPr lang="en-US" sz="950" dirty="0"/>
                    </a:p>
                  </a:txBody>
                  <a:tcPr marL="91440" marR="91440" marT="45720" marB="45720">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1428A0"/>
                    </a:solidFill>
                  </a:tcPr>
                </a:tc>
                <a:tc>
                  <a:txBody>
                    <a:bodyPr/>
                    <a:lstStyle/>
                    <a:p>
                      <a:pPr indent="0" marL="0">
                        <a:buNone/>
                      </a:pPr>
                      <a:r>
                        <a:rPr lang="en-US" sz="900" b="1" dirty="0">
                          <a:solidFill>
                            <a:srgbClr val="FFFFFF"/>
                          </a:solidFill>
                        </a:rPr>
                        <a:t>Gas · TV Panel · PCB · Compressor · Physical</a:t>
                      </a:r>
                      <a:endParaRPr lang="en-US" sz="900" dirty="0"/>
                    </a:p>
                  </a:txBody>
                  <a:tcPr marL="91440" marR="91440" marT="45720" marB="45720">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1428A0"/>
                    </a:solidFill>
                  </a:tcPr>
                </a:tc>
                <a:tc>
                  <a:txBody>
                    <a:bodyPr/>
                    <a:lstStyle/>
                    <a:p>
                      <a:pPr indent="0" marL="0">
                        <a:buNone/>
                      </a:pPr>
                      <a:r>
                        <a:rPr lang="en-US" sz="1050" b="1" dirty="0">
                          <a:solidFill>
                            <a:srgbClr val="00D4B8"/>
                          </a:solidFill>
                        </a:rPr>
                        <a:t>₹ 75 Lakhs/yr</a:t>
                      </a:r>
                      <a:endParaRPr lang="en-US" sz="1050" dirty="0"/>
                    </a:p>
                  </a:txBody>
                  <a:tcPr marL="91440" marR="91440" marT="45720" marB="45720">
                    <a:lnL w="6350" cap="flat" cmpd="sng" algn="ctr">
                      <a:solidFill>
                        <a:srgbClr val="D1D9E6"/>
                      </a:solidFill>
                      <a:prstDash val="solid"/>
                      <a:round/>
                      <a:headEnd type="none" w="med" len="med"/>
                      <a:tailEnd type="none" w="med" len="med"/>
                    </a:lnL>
                    <a:lnR w="6350" cap="flat" cmpd="sng" algn="ctr">
                      <a:solidFill>
                        <a:srgbClr val="D1D9E6"/>
                      </a:solidFill>
                      <a:prstDash val="solid"/>
                      <a:round/>
                      <a:headEnd type="none" w="med" len="med"/>
                      <a:tailEnd type="none" w="med" len="med"/>
                    </a:lnR>
                    <a:lnT w="6350" cap="flat" cmpd="sng" algn="ctr">
                      <a:solidFill>
                        <a:srgbClr val="D1D9E6"/>
                      </a:solidFill>
                      <a:prstDash val="solid"/>
                      <a:round/>
                      <a:headEnd type="none" w="med" len="med"/>
                      <a:tailEnd type="none" w="med" len="med"/>
                    </a:lnT>
                    <a:lnB w="6350" cap="flat" cmpd="sng" algn="ctr">
                      <a:solidFill>
                        <a:srgbClr val="D1D9E6"/>
                      </a:solidFill>
                      <a:prstDash val="solid"/>
                      <a:round/>
                      <a:headEnd type="none" w="med" len="med"/>
                      <a:tailEnd type="none" w="med" len="med"/>
                    </a:lnB>
                    <a:solidFill>
                      <a:srgbClr val="1428A0"/>
                    </a:solidFill>
                  </a:tcPr>
                </a:tc>
              </a:tr>
            </a:tbl>
          </a:graphicData>
        </a:graphic>
      </p:graphicFrame>
      <p:sp>
        <p:nvSpPr>
          <p:cNvPr id="13" name="Shape 10"/>
          <p:cNvSpPr/>
          <p:nvPr/>
        </p:nvSpPr>
        <p:spPr>
          <a:xfrm>
            <a:off x="0" y="4956048"/>
            <a:ext cx="9144000" cy="182880"/>
          </a:xfrm>
          <a:prstGeom prst="rect">
            <a:avLst/>
          </a:prstGeom>
          <a:solidFill>
            <a:srgbClr val="EDF0F7"/>
          </a:solidFill>
          <a:ln w="12700">
            <a:solidFill>
              <a:srgbClr val="EDF0F7"/>
            </a:solidFill>
            <a:prstDash val="solid"/>
          </a:ln>
        </p:spPr>
      </p:sp>
      <p:sp>
        <p:nvSpPr>
          <p:cNvPr id="14" name="Text 11"/>
          <p:cNvSpPr/>
          <p:nvPr/>
        </p:nvSpPr>
        <p:spPr>
          <a:xfrm>
            <a:off x="0" y="4956048"/>
            <a:ext cx="9144000" cy="182880"/>
          </a:xfrm>
          <a:prstGeom prst="rect">
            <a:avLst/>
          </a:prstGeom>
          <a:noFill/>
          <a:ln/>
        </p:spPr>
        <p:txBody>
          <a:bodyPr wrap="square" lIns="0" tIns="0" rIns="0" bIns="0" rtlCol="0" anchor="ctr"/>
          <a:lstStyle/>
          <a:p>
            <a:pPr algn="ctr" indent="0" marL="0">
              <a:buNone/>
            </a:pPr>
            <a:r>
              <a:rPr lang="en-US" sz="750" dirty="0">
                <a:solidFill>
                  <a:srgbClr val="8A94A8"/>
                </a:solidFill>
              </a:rPr>
              <a:t>CONFIDENTIAL  ·  Project CLARITY  ·  CTO Briefing  ·  May 2025</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428A0"/>
          </a:solidFill>
          <a:ln w="12700">
            <a:solidFill>
              <a:srgbClr val="1428A0"/>
            </a:solidFill>
            <a:prstDash val="solid"/>
          </a:ln>
        </p:spPr>
      </p:sp>
      <p:sp>
        <p:nvSpPr>
          <p:cNvPr id="3" name="Shape 1"/>
          <p:cNvSpPr/>
          <p:nvPr/>
        </p:nvSpPr>
        <p:spPr>
          <a:xfrm>
            <a:off x="0" y="658368"/>
            <a:ext cx="9144000" cy="41148"/>
          </a:xfrm>
          <a:prstGeom prst="rect">
            <a:avLst/>
          </a:prstGeom>
          <a:solidFill>
            <a:srgbClr val="0078D4"/>
          </a:solidFill>
          <a:ln w="12700">
            <a:solidFill>
              <a:srgbClr val="0078D4"/>
            </a:solidFill>
            <a:prstDash val="solid"/>
          </a:ln>
        </p:spPr>
      </p:sp>
      <p:sp>
        <p:nvSpPr>
          <p:cNvPr id="4" name="Text 2"/>
          <p:cNvSpPr/>
          <p:nvPr/>
        </p:nvSpPr>
        <p:spPr>
          <a:xfrm>
            <a:off x="411480" y="0"/>
            <a:ext cx="7315200" cy="658368"/>
          </a:xfrm>
          <a:prstGeom prst="rect">
            <a:avLst/>
          </a:prstGeom>
          <a:noFill/>
          <a:ln/>
        </p:spPr>
        <p:txBody>
          <a:bodyPr wrap="square" lIns="0" tIns="0" rIns="0" bIns="0" rtlCol="0" anchor="ctr"/>
          <a:lstStyle/>
          <a:p>
            <a:pPr indent="0" marL="0">
              <a:buNone/>
            </a:pPr>
            <a:r>
              <a:rPr lang="en-US" sz="1400" b="1" spc="200" kern="0" dirty="0">
                <a:solidFill>
                  <a:srgbClr val="FFFFFF"/>
                </a:solidFill>
              </a:rPr>
              <a:t>ROI &amp; BUSINESS BENEFITS</a:t>
            </a:r>
            <a:endParaRPr lang="en-US" sz="1400" dirty="0"/>
          </a:p>
        </p:txBody>
      </p:sp>
      <p:sp>
        <p:nvSpPr>
          <p:cNvPr id="5" name="Text 3"/>
          <p:cNvSpPr/>
          <p:nvPr/>
        </p:nvSpPr>
        <p:spPr>
          <a:xfrm>
            <a:off x="6400800" y="0"/>
            <a:ext cx="2514600" cy="658368"/>
          </a:xfrm>
          <a:prstGeom prst="rect">
            <a:avLst/>
          </a:prstGeom>
          <a:noFill/>
          <a:ln/>
        </p:spPr>
        <p:txBody>
          <a:bodyPr wrap="square" lIns="0" tIns="0" rIns="0" bIns="0" rtlCol="0" anchor="ctr"/>
          <a:lstStyle/>
          <a:p>
            <a:pPr algn="r" indent="0" marL="0">
              <a:buNone/>
            </a:pPr>
            <a:r>
              <a:rPr lang="en-US" sz="900" dirty="0">
                <a:solidFill>
                  <a:srgbClr val="8899CC"/>
                </a:solidFill>
              </a:rPr>
              <a:t>Project CLARITY  ·  Warranty Automation</a:t>
            </a:r>
            <a:endParaRPr lang="en-US" sz="900" dirty="0"/>
          </a:p>
        </p:txBody>
      </p:sp>
      <p:sp>
        <p:nvSpPr>
          <p:cNvPr id="6" name="Text 4"/>
          <p:cNvSpPr/>
          <p:nvPr/>
        </p:nvSpPr>
        <p:spPr>
          <a:xfrm>
            <a:off x="411480" y="822960"/>
            <a:ext cx="4114800" cy="274320"/>
          </a:xfrm>
          <a:prstGeom prst="rect">
            <a:avLst/>
          </a:prstGeom>
          <a:noFill/>
          <a:ln/>
        </p:spPr>
        <p:txBody>
          <a:bodyPr wrap="square" lIns="0" tIns="0" rIns="0" bIns="0" rtlCol="0" anchor="ctr"/>
          <a:lstStyle/>
          <a:p>
            <a:pPr indent="0" marL="0">
              <a:buNone/>
            </a:pPr>
            <a:r>
              <a:rPr lang="en-US" sz="1000" b="1" dirty="0">
                <a:solidFill>
                  <a:srgbClr val="4A5568"/>
                </a:solidFill>
              </a:rPr>
              <a:t>Annual Cost Comparison  (₹ Lakhs)</a:t>
            </a:r>
            <a:endParaRPr lang="en-US" sz="1000" dirty="0"/>
          </a:p>
        </p:txBody>
      </p:sp>
      <p:sp>
        <p:nvSpPr>
          <p:cNvPr id="7" name="Shape 5"/>
          <p:cNvSpPr/>
          <p:nvPr/>
        </p:nvSpPr>
        <p:spPr>
          <a:xfrm>
            <a:off x="502920" y="1170432"/>
            <a:ext cx="1005840" cy="2606040"/>
          </a:xfrm>
          <a:prstGeom prst="rect">
            <a:avLst/>
          </a:prstGeom>
          <a:solidFill>
            <a:srgbClr val="C53030"/>
          </a:solidFill>
          <a:ln w="12700">
            <a:solidFill>
              <a:srgbClr val="C53030"/>
            </a:solidFill>
            <a:prstDash val="solid"/>
          </a:ln>
          <a:effectLst>
            <a:outerShdw sx="100000" sy="100000" kx="0" ky="0" algn="bl" rotWithShape="0" blurRad="76200" dist="25400" dir="8100000">
              <a:srgbClr val="000000">
                <a:alpha val="8000"/>
              </a:srgbClr>
            </a:outerShdw>
          </a:effectLst>
        </p:spPr>
      </p:sp>
      <p:sp>
        <p:nvSpPr>
          <p:cNvPr id="8" name="Text 6"/>
          <p:cNvSpPr/>
          <p:nvPr/>
        </p:nvSpPr>
        <p:spPr>
          <a:xfrm>
            <a:off x="502920" y="850392"/>
            <a:ext cx="1005840" cy="274320"/>
          </a:xfrm>
          <a:prstGeom prst="rect">
            <a:avLst/>
          </a:prstGeom>
          <a:noFill/>
          <a:ln/>
        </p:spPr>
        <p:txBody>
          <a:bodyPr wrap="square" lIns="0" tIns="0" rIns="0" bIns="0" rtlCol="0" anchor="ctr"/>
          <a:lstStyle/>
          <a:p>
            <a:pPr algn="ctr" indent="0" marL="0">
              <a:buNone/>
            </a:pPr>
            <a:r>
              <a:rPr lang="en-US" sz="1400" b="1" dirty="0">
                <a:solidFill>
                  <a:srgbClr val="C53030"/>
                </a:solidFill>
              </a:rPr>
              <a:t>₹270L</a:t>
            </a:r>
            <a:endParaRPr lang="en-US" sz="1400" dirty="0"/>
          </a:p>
        </p:txBody>
      </p:sp>
      <p:sp>
        <p:nvSpPr>
          <p:cNvPr id="9" name="Text 7"/>
          <p:cNvSpPr/>
          <p:nvPr/>
        </p:nvSpPr>
        <p:spPr>
          <a:xfrm>
            <a:off x="411480" y="603504"/>
            <a:ext cx="1188720" cy="228600"/>
          </a:xfrm>
          <a:prstGeom prst="rect">
            <a:avLst/>
          </a:prstGeom>
          <a:noFill/>
          <a:ln/>
        </p:spPr>
        <p:txBody>
          <a:bodyPr wrap="square" lIns="0" tIns="0" rIns="0" bIns="0" rtlCol="0" anchor="ctr"/>
          <a:lstStyle/>
          <a:p>
            <a:pPr algn="ctr" indent="0" marL="0">
              <a:buNone/>
            </a:pPr>
            <a:r>
              <a:rPr lang="en-US" sz="750" dirty="0">
                <a:solidFill>
                  <a:srgbClr val="8A94A8"/>
                </a:solidFill>
              </a:rPr>
              <a:t>~₹30/claim × 9L/mo</a:t>
            </a:r>
            <a:endParaRPr lang="en-US" sz="750" dirty="0"/>
          </a:p>
        </p:txBody>
      </p:sp>
      <p:sp>
        <p:nvSpPr>
          <p:cNvPr id="10" name="Text 8"/>
          <p:cNvSpPr/>
          <p:nvPr/>
        </p:nvSpPr>
        <p:spPr>
          <a:xfrm>
            <a:off x="502920" y="3849624"/>
            <a:ext cx="1005840" cy="384048"/>
          </a:xfrm>
          <a:prstGeom prst="rect">
            <a:avLst/>
          </a:prstGeom>
          <a:noFill/>
          <a:ln/>
        </p:spPr>
        <p:txBody>
          <a:bodyPr wrap="square" lIns="0" tIns="0" rIns="0" bIns="0" rtlCol="0" anchor="ctr"/>
          <a:lstStyle/>
          <a:p>
            <a:pPr algn="ctr" indent="0" marL="0">
              <a:buNone/>
            </a:pPr>
            <a:r>
              <a:rPr lang="en-US" sz="850" dirty="0">
                <a:solidFill>
                  <a:srgbClr val="4A5568"/>
                </a:solidFill>
              </a:rPr>
              <a:t>Manual</a:t>
            </a:r>
            <a:endParaRPr lang="en-US" sz="850" dirty="0"/>
          </a:p>
          <a:p>
            <a:pPr algn="ctr" indent="0" marL="0">
              <a:buNone/>
            </a:pPr>
            <a:r>
              <a:rPr lang="en-US" sz="850" dirty="0">
                <a:solidFill>
                  <a:srgbClr val="4A5568"/>
                </a:solidFill>
              </a:rPr>
              <a:t>Review Cost</a:t>
            </a:r>
            <a:endParaRPr lang="en-US" sz="850" dirty="0"/>
          </a:p>
        </p:txBody>
      </p:sp>
      <p:sp>
        <p:nvSpPr>
          <p:cNvPr id="11" name="Shape 9"/>
          <p:cNvSpPr/>
          <p:nvPr/>
        </p:nvSpPr>
        <p:spPr>
          <a:xfrm>
            <a:off x="1874520" y="3051993"/>
            <a:ext cx="1005840" cy="724479"/>
          </a:xfrm>
          <a:prstGeom prst="rect">
            <a:avLst/>
          </a:prstGeom>
          <a:solidFill>
            <a:srgbClr val="1428A0"/>
          </a:solidFill>
          <a:ln w="12700">
            <a:solidFill>
              <a:srgbClr val="1428A0"/>
            </a:solidFill>
            <a:prstDash val="solid"/>
          </a:ln>
          <a:effectLst>
            <a:outerShdw sx="100000" sy="100000" kx="0" ky="0" algn="bl" rotWithShape="0" blurRad="76200" dist="25400" dir="8100000">
              <a:srgbClr val="000000">
                <a:alpha val="8000"/>
              </a:srgbClr>
            </a:outerShdw>
          </a:effectLst>
        </p:spPr>
      </p:sp>
      <p:sp>
        <p:nvSpPr>
          <p:cNvPr id="12" name="Text 10"/>
          <p:cNvSpPr/>
          <p:nvPr/>
        </p:nvSpPr>
        <p:spPr>
          <a:xfrm>
            <a:off x="1874520" y="2731953"/>
            <a:ext cx="1005840" cy="274320"/>
          </a:xfrm>
          <a:prstGeom prst="rect">
            <a:avLst/>
          </a:prstGeom>
          <a:noFill/>
          <a:ln/>
        </p:spPr>
        <p:txBody>
          <a:bodyPr wrap="square" lIns="0" tIns="0" rIns="0" bIns="0" rtlCol="0" anchor="ctr"/>
          <a:lstStyle/>
          <a:p>
            <a:pPr algn="ctr" indent="0" marL="0">
              <a:buNone/>
            </a:pPr>
            <a:r>
              <a:rPr lang="en-US" sz="1400" b="1" dirty="0">
                <a:solidFill>
                  <a:srgbClr val="1428A0"/>
                </a:solidFill>
              </a:rPr>
              <a:t>₹75L</a:t>
            </a:r>
            <a:endParaRPr lang="en-US" sz="1400" dirty="0"/>
          </a:p>
        </p:txBody>
      </p:sp>
      <p:sp>
        <p:nvSpPr>
          <p:cNvPr id="13" name="Text 11"/>
          <p:cNvSpPr/>
          <p:nvPr/>
        </p:nvSpPr>
        <p:spPr>
          <a:xfrm>
            <a:off x="1783080" y="2485065"/>
            <a:ext cx="1188720" cy="228600"/>
          </a:xfrm>
          <a:prstGeom prst="rect">
            <a:avLst/>
          </a:prstGeom>
          <a:noFill/>
          <a:ln/>
        </p:spPr>
        <p:txBody>
          <a:bodyPr wrap="square" lIns="0" tIns="0" rIns="0" bIns="0" rtlCol="0" anchor="ctr"/>
          <a:lstStyle/>
          <a:p>
            <a:pPr algn="ctr" indent="0" marL="0">
              <a:buNone/>
            </a:pPr>
            <a:r>
              <a:rPr lang="en-US" sz="750" dirty="0">
                <a:solidFill>
                  <a:srgbClr val="8A94A8"/>
                </a:solidFill>
              </a:rPr>
              <a:t>₹6.94/claim</a:t>
            </a:r>
            <a:endParaRPr lang="en-US" sz="750" dirty="0"/>
          </a:p>
        </p:txBody>
      </p:sp>
      <p:sp>
        <p:nvSpPr>
          <p:cNvPr id="14" name="Text 12"/>
          <p:cNvSpPr/>
          <p:nvPr/>
        </p:nvSpPr>
        <p:spPr>
          <a:xfrm>
            <a:off x="1874520" y="3849624"/>
            <a:ext cx="1005840" cy="384048"/>
          </a:xfrm>
          <a:prstGeom prst="rect">
            <a:avLst/>
          </a:prstGeom>
          <a:noFill/>
          <a:ln/>
        </p:spPr>
        <p:txBody>
          <a:bodyPr wrap="square" lIns="0" tIns="0" rIns="0" bIns="0" rtlCol="0" anchor="ctr"/>
          <a:lstStyle/>
          <a:p>
            <a:pPr algn="ctr" indent="0" marL="0">
              <a:buNone/>
            </a:pPr>
            <a:r>
              <a:rPr lang="en-US" sz="850" dirty="0">
                <a:solidFill>
                  <a:srgbClr val="4A5568"/>
                </a:solidFill>
              </a:rPr>
              <a:t>Project</a:t>
            </a:r>
            <a:endParaRPr lang="en-US" sz="850" dirty="0"/>
          </a:p>
          <a:p>
            <a:pPr algn="ctr" indent="0" marL="0">
              <a:buNone/>
            </a:pPr>
            <a:r>
              <a:rPr lang="en-US" sz="850" dirty="0">
                <a:solidFill>
                  <a:srgbClr val="4A5568"/>
                </a:solidFill>
              </a:rPr>
              <a:t>CLARITY Cost</a:t>
            </a:r>
            <a:endParaRPr lang="en-US" sz="850" dirty="0"/>
          </a:p>
        </p:txBody>
      </p:sp>
      <p:sp>
        <p:nvSpPr>
          <p:cNvPr id="15" name="Shape 13"/>
          <p:cNvSpPr/>
          <p:nvPr/>
        </p:nvSpPr>
        <p:spPr>
          <a:xfrm>
            <a:off x="3246120" y="1894911"/>
            <a:ext cx="1005840" cy="1881561"/>
          </a:xfrm>
          <a:prstGeom prst="rect">
            <a:avLst/>
          </a:prstGeom>
          <a:solidFill>
            <a:srgbClr val="0F7B6C"/>
          </a:solidFill>
          <a:ln w="12700">
            <a:solidFill>
              <a:srgbClr val="0F7B6C"/>
            </a:solidFill>
            <a:prstDash val="solid"/>
          </a:ln>
          <a:effectLst>
            <a:outerShdw sx="100000" sy="100000" kx="0" ky="0" algn="bl" rotWithShape="0" blurRad="76200" dist="25400" dir="8100000">
              <a:srgbClr val="000000">
                <a:alpha val="8000"/>
              </a:srgbClr>
            </a:outerShdw>
          </a:effectLst>
        </p:spPr>
      </p:sp>
      <p:sp>
        <p:nvSpPr>
          <p:cNvPr id="16" name="Text 14"/>
          <p:cNvSpPr/>
          <p:nvPr/>
        </p:nvSpPr>
        <p:spPr>
          <a:xfrm>
            <a:off x="3246120" y="1574871"/>
            <a:ext cx="1005840" cy="274320"/>
          </a:xfrm>
          <a:prstGeom prst="rect">
            <a:avLst/>
          </a:prstGeom>
          <a:noFill/>
          <a:ln/>
        </p:spPr>
        <p:txBody>
          <a:bodyPr wrap="square" lIns="0" tIns="0" rIns="0" bIns="0" rtlCol="0" anchor="ctr"/>
          <a:lstStyle/>
          <a:p>
            <a:pPr algn="ctr" indent="0" marL="0">
              <a:buNone/>
            </a:pPr>
            <a:r>
              <a:rPr lang="en-US" sz="1400" b="1" dirty="0">
                <a:solidFill>
                  <a:srgbClr val="0F7B6C"/>
                </a:solidFill>
              </a:rPr>
              <a:t>₹195L</a:t>
            </a:r>
            <a:endParaRPr lang="en-US" sz="1400" dirty="0"/>
          </a:p>
        </p:txBody>
      </p:sp>
      <p:sp>
        <p:nvSpPr>
          <p:cNvPr id="17" name="Text 15"/>
          <p:cNvSpPr/>
          <p:nvPr/>
        </p:nvSpPr>
        <p:spPr>
          <a:xfrm>
            <a:off x="3154680" y="1327983"/>
            <a:ext cx="1188720" cy="228600"/>
          </a:xfrm>
          <a:prstGeom prst="rect">
            <a:avLst/>
          </a:prstGeom>
          <a:noFill/>
          <a:ln/>
        </p:spPr>
        <p:txBody>
          <a:bodyPr wrap="square" lIns="0" tIns="0" rIns="0" bIns="0" rtlCol="0" anchor="ctr"/>
          <a:lstStyle/>
          <a:p>
            <a:pPr algn="ctr" indent="0" marL="0">
              <a:buNone/>
            </a:pPr>
            <a:r>
              <a:rPr lang="en-US" sz="750" dirty="0">
                <a:solidFill>
                  <a:srgbClr val="8A94A8"/>
                </a:solidFill>
              </a:rPr>
              <a:t>~72% reduction</a:t>
            </a:r>
            <a:endParaRPr lang="en-US" sz="750" dirty="0"/>
          </a:p>
        </p:txBody>
      </p:sp>
      <p:sp>
        <p:nvSpPr>
          <p:cNvPr id="18" name="Text 16"/>
          <p:cNvSpPr/>
          <p:nvPr/>
        </p:nvSpPr>
        <p:spPr>
          <a:xfrm>
            <a:off x="3246120" y="3849624"/>
            <a:ext cx="1005840" cy="384048"/>
          </a:xfrm>
          <a:prstGeom prst="rect">
            <a:avLst/>
          </a:prstGeom>
          <a:noFill/>
          <a:ln/>
        </p:spPr>
        <p:txBody>
          <a:bodyPr wrap="square" lIns="0" tIns="0" rIns="0" bIns="0" rtlCol="0" anchor="ctr"/>
          <a:lstStyle/>
          <a:p>
            <a:pPr algn="ctr" indent="0" marL="0">
              <a:buNone/>
            </a:pPr>
            <a:r>
              <a:rPr lang="en-US" sz="850" dirty="0">
                <a:solidFill>
                  <a:srgbClr val="4A5568"/>
                </a:solidFill>
              </a:rPr>
              <a:t>Net Annual</a:t>
            </a:r>
            <a:endParaRPr lang="en-US" sz="850" dirty="0"/>
          </a:p>
          <a:p>
            <a:pPr algn="ctr" indent="0" marL="0">
              <a:buNone/>
            </a:pPr>
            <a:r>
              <a:rPr lang="en-US" sz="850" dirty="0">
                <a:solidFill>
                  <a:srgbClr val="4A5568"/>
                </a:solidFill>
              </a:rPr>
              <a:t>Savings</a:t>
            </a:r>
            <a:endParaRPr lang="en-US" sz="850" dirty="0"/>
          </a:p>
        </p:txBody>
      </p:sp>
      <p:sp>
        <p:nvSpPr>
          <p:cNvPr id="19" name="Shape 17"/>
          <p:cNvSpPr/>
          <p:nvPr/>
        </p:nvSpPr>
        <p:spPr>
          <a:xfrm>
            <a:off x="411480" y="3776472"/>
            <a:ext cx="4114800" cy="27432"/>
          </a:xfrm>
          <a:prstGeom prst="rect">
            <a:avLst/>
          </a:prstGeom>
          <a:solidFill>
            <a:srgbClr val="4A5568"/>
          </a:solidFill>
          <a:ln w="12700">
            <a:solidFill>
              <a:srgbClr val="4A5568"/>
            </a:solidFill>
            <a:prstDash val="solid"/>
          </a:ln>
        </p:spPr>
      </p:sp>
      <p:sp>
        <p:nvSpPr>
          <p:cNvPr id="20" name="Shape 18"/>
          <p:cNvSpPr/>
          <p:nvPr/>
        </p:nvSpPr>
        <p:spPr>
          <a:xfrm>
            <a:off x="411480" y="4343400"/>
            <a:ext cx="4114800" cy="475488"/>
          </a:xfrm>
          <a:prstGeom prst="rect">
            <a:avLst/>
          </a:prstGeom>
          <a:solidFill>
            <a:srgbClr val="E8EBFA"/>
          </a:solidFill>
          <a:ln w="12700">
            <a:solidFill>
              <a:srgbClr val="1428A0"/>
            </a:solidFill>
            <a:prstDash val="solid"/>
          </a:ln>
        </p:spPr>
      </p:sp>
      <p:sp>
        <p:nvSpPr>
          <p:cNvPr id="21" name="Text 19"/>
          <p:cNvSpPr/>
          <p:nvPr/>
        </p:nvSpPr>
        <p:spPr>
          <a:xfrm>
            <a:off x="411480" y="4343400"/>
            <a:ext cx="4114800" cy="475488"/>
          </a:xfrm>
          <a:prstGeom prst="rect">
            <a:avLst/>
          </a:prstGeom>
          <a:noFill/>
          <a:ln/>
        </p:spPr>
        <p:txBody>
          <a:bodyPr wrap="square" lIns="0" tIns="0" rIns="0" bIns="0" rtlCol="0" anchor="ctr"/>
          <a:lstStyle/>
          <a:p>
            <a:pPr algn="ctr" indent="0" marL="0">
              <a:buNone/>
            </a:pPr>
            <a:r>
              <a:rPr lang="en-US" sz="1000" b="1" dirty="0">
                <a:solidFill>
                  <a:srgbClr val="1428A0"/>
                </a:solidFill>
              </a:rPr>
              <a:t>ROI: 3–5×  ·  Break-even: Month 4–5  ·  Payback horizon: &lt; 1 Year</a:t>
            </a:r>
            <a:endParaRPr lang="en-US" sz="1000" dirty="0"/>
          </a:p>
        </p:txBody>
      </p:sp>
      <p:sp>
        <p:nvSpPr>
          <p:cNvPr id="22" name="Shape 20"/>
          <p:cNvSpPr/>
          <p:nvPr/>
        </p:nvSpPr>
        <p:spPr>
          <a:xfrm>
            <a:off x="4754880" y="841248"/>
            <a:ext cx="2103120" cy="1353312"/>
          </a:xfrm>
          <a:prstGeom prst="rect">
            <a:avLst/>
          </a:prstGeom>
          <a:solidFill>
            <a:srgbClr val="FFFFFF"/>
          </a:solidFill>
          <a:ln w="12700">
            <a:solidFill>
              <a:srgbClr val="D1D9E6"/>
            </a:solidFill>
            <a:prstDash val="solid"/>
          </a:ln>
          <a:effectLst>
            <a:outerShdw sx="100000" sy="100000" kx="0" ky="0" algn="bl" rotWithShape="0" blurRad="127000" dist="38100" dir="8100000">
              <a:srgbClr val="000000">
                <a:alpha val="10000"/>
              </a:srgbClr>
            </a:outerShdw>
          </a:effectLst>
        </p:spPr>
      </p:sp>
      <p:sp>
        <p:nvSpPr>
          <p:cNvPr id="23" name="Shape 21"/>
          <p:cNvSpPr/>
          <p:nvPr/>
        </p:nvSpPr>
        <p:spPr>
          <a:xfrm>
            <a:off x="4754880" y="841248"/>
            <a:ext cx="54864" cy="1353312"/>
          </a:xfrm>
          <a:prstGeom prst="rect">
            <a:avLst/>
          </a:prstGeom>
          <a:solidFill>
            <a:srgbClr val="1428A0"/>
          </a:solidFill>
          <a:ln w="12700">
            <a:solidFill>
              <a:srgbClr val="1428A0"/>
            </a:solidFill>
            <a:prstDash val="solid"/>
          </a:ln>
        </p:spPr>
      </p:sp>
      <p:sp>
        <p:nvSpPr>
          <p:cNvPr id="24" name="Text 22"/>
          <p:cNvSpPr/>
          <p:nvPr/>
        </p:nvSpPr>
        <p:spPr>
          <a:xfrm>
            <a:off x="4892040" y="932688"/>
            <a:ext cx="1874520" cy="292608"/>
          </a:xfrm>
          <a:prstGeom prst="rect">
            <a:avLst/>
          </a:prstGeom>
          <a:noFill/>
          <a:ln/>
        </p:spPr>
        <p:txBody>
          <a:bodyPr wrap="square" lIns="0" tIns="0" rIns="0" bIns="0" rtlCol="0" anchor="ctr"/>
          <a:lstStyle/>
          <a:p>
            <a:pPr indent="0" marL="0">
              <a:buNone/>
            </a:pPr>
            <a:r>
              <a:rPr lang="en-US" sz="1050" b="1" dirty="0">
                <a:solidFill>
                  <a:srgbClr val="1428A0"/>
                </a:solidFill>
              </a:rPr>
              <a:t>80%+ Automation</a:t>
            </a:r>
            <a:endParaRPr lang="en-US" sz="1050" dirty="0"/>
          </a:p>
        </p:txBody>
      </p:sp>
      <p:sp>
        <p:nvSpPr>
          <p:cNvPr id="25" name="Shape 23"/>
          <p:cNvSpPr/>
          <p:nvPr/>
        </p:nvSpPr>
        <p:spPr>
          <a:xfrm>
            <a:off x="4892040" y="1243584"/>
            <a:ext cx="1783080" cy="22860"/>
          </a:xfrm>
          <a:prstGeom prst="rect">
            <a:avLst/>
          </a:prstGeom>
          <a:solidFill>
            <a:srgbClr val="D1D9E6"/>
          </a:solidFill>
          <a:ln w="12700">
            <a:solidFill>
              <a:srgbClr val="D1D9E6"/>
            </a:solidFill>
            <a:prstDash val="solid"/>
          </a:ln>
        </p:spPr>
      </p:sp>
      <p:sp>
        <p:nvSpPr>
          <p:cNvPr id="26" name="Text 24"/>
          <p:cNvSpPr/>
          <p:nvPr/>
        </p:nvSpPr>
        <p:spPr>
          <a:xfrm>
            <a:off x="4892040" y="1335024"/>
            <a:ext cx="1874520" cy="822960"/>
          </a:xfrm>
          <a:prstGeom prst="rect">
            <a:avLst/>
          </a:prstGeom>
          <a:noFill/>
          <a:ln/>
        </p:spPr>
        <p:txBody>
          <a:bodyPr wrap="square" lIns="0" tIns="0" rIns="0" bIns="0" rtlCol="0" anchor="ctr"/>
          <a:lstStyle/>
          <a:p>
            <a:pPr indent="0" marL="0">
              <a:buNone/>
            </a:pPr>
            <a:r>
              <a:rPr lang="en-US" sz="950" dirty="0">
                <a:solidFill>
                  <a:srgbClr val="4A5568"/>
                </a:solidFill>
              </a:rPr>
              <a:t>Near-full elimination of manual claim review effort — staff reallocated to escalations.</a:t>
            </a:r>
            <a:endParaRPr lang="en-US" sz="950" dirty="0"/>
          </a:p>
        </p:txBody>
      </p:sp>
      <p:sp>
        <p:nvSpPr>
          <p:cNvPr id="27" name="Shape 25"/>
          <p:cNvSpPr/>
          <p:nvPr/>
        </p:nvSpPr>
        <p:spPr>
          <a:xfrm>
            <a:off x="6995160" y="841248"/>
            <a:ext cx="2103120" cy="1353312"/>
          </a:xfrm>
          <a:prstGeom prst="rect">
            <a:avLst/>
          </a:prstGeom>
          <a:solidFill>
            <a:srgbClr val="FFFFFF"/>
          </a:solidFill>
          <a:ln w="12700">
            <a:solidFill>
              <a:srgbClr val="D1D9E6"/>
            </a:solidFill>
            <a:prstDash val="solid"/>
          </a:ln>
          <a:effectLst>
            <a:outerShdw sx="100000" sy="100000" kx="0" ky="0" algn="bl" rotWithShape="0" blurRad="127000" dist="38100" dir="8100000">
              <a:srgbClr val="000000">
                <a:alpha val="10000"/>
              </a:srgbClr>
            </a:outerShdw>
          </a:effectLst>
        </p:spPr>
      </p:sp>
      <p:sp>
        <p:nvSpPr>
          <p:cNvPr id="28" name="Shape 26"/>
          <p:cNvSpPr/>
          <p:nvPr/>
        </p:nvSpPr>
        <p:spPr>
          <a:xfrm>
            <a:off x="6995160" y="841248"/>
            <a:ext cx="54864" cy="1353312"/>
          </a:xfrm>
          <a:prstGeom prst="rect">
            <a:avLst/>
          </a:prstGeom>
          <a:solidFill>
            <a:srgbClr val="0078D4"/>
          </a:solidFill>
          <a:ln w="12700">
            <a:solidFill>
              <a:srgbClr val="0078D4"/>
            </a:solidFill>
            <a:prstDash val="solid"/>
          </a:ln>
        </p:spPr>
      </p:sp>
      <p:sp>
        <p:nvSpPr>
          <p:cNvPr id="29" name="Text 27"/>
          <p:cNvSpPr/>
          <p:nvPr/>
        </p:nvSpPr>
        <p:spPr>
          <a:xfrm>
            <a:off x="7132320" y="932688"/>
            <a:ext cx="1874520" cy="292608"/>
          </a:xfrm>
          <a:prstGeom prst="rect">
            <a:avLst/>
          </a:prstGeom>
          <a:noFill/>
          <a:ln/>
        </p:spPr>
        <p:txBody>
          <a:bodyPr wrap="square" lIns="0" tIns="0" rIns="0" bIns="0" rtlCol="0" anchor="ctr"/>
          <a:lstStyle/>
          <a:p>
            <a:pPr indent="0" marL="0">
              <a:buNone/>
            </a:pPr>
            <a:r>
              <a:rPr lang="en-US" sz="1050" b="1" dirty="0">
                <a:solidFill>
                  <a:srgbClr val="0078D4"/>
                </a:solidFill>
              </a:rPr>
              <a:t>Accuracy &amp; Consistency</a:t>
            </a:r>
            <a:endParaRPr lang="en-US" sz="1050" dirty="0"/>
          </a:p>
        </p:txBody>
      </p:sp>
      <p:sp>
        <p:nvSpPr>
          <p:cNvPr id="30" name="Shape 28"/>
          <p:cNvSpPr/>
          <p:nvPr/>
        </p:nvSpPr>
        <p:spPr>
          <a:xfrm>
            <a:off x="7132320" y="1243584"/>
            <a:ext cx="1783080" cy="22860"/>
          </a:xfrm>
          <a:prstGeom prst="rect">
            <a:avLst/>
          </a:prstGeom>
          <a:solidFill>
            <a:srgbClr val="D1D9E6"/>
          </a:solidFill>
          <a:ln w="12700">
            <a:solidFill>
              <a:srgbClr val="D1D9E6"/>
            </a:solidFill>
            <a:prstDash val="solid"/>
          </a:ln>
        </p:spPr>
      </p:sp>
      <p:sp>
        <p:nvSpPr>
          <p:cNvPr id="31" name="Text 29"/>
          <p:cNvSpPr/>
          <p:nvPr/>
        </p:nvSpPr>
        <p:spPr>
          <a:xfrm>
            <a:off x="7132320" y="1335024"/>
            <a:ext cx="1874520" cy="822960"/>
          </a:xfrm>
          <a:prstGeom prst="rect">
            <a:avLst/>
          </a:prstGeom>
          <a:noFill/>
          <a:ln/>
        </p:spPr>
        <p:txBody>
          <a:bodyPr wrap="square" lIns="0" tIns="0" rIns="0" bIns="0" rtlCol="0" anchor="ctr"/>
          <a:lstStyle/>
          <a:p>
            <a:pPr indent="0" marL="0">
              <a:buNone/>
            </a:pPr>
            <a:r>
              <a:rPr lang="en-US" sz="950" dirty="0">
                <a:solidFill>
                  <a:srgbClr val="4A5568"/>
                </a:solidFill>
              </a:rPr>
              <a:t>Rule-based AI removes human fatigue and bias from every single claim decision.</a:t>
            </a:r>
            <a:endParaRPr lang="en-US" sz="950" dirty="0"/>
          </a:p>
        </p:txBody>
      </p:sp>
      <p:sp>
        <p:nvSpPr>
          <p:cNvPr id="32" name="Shape 30"/>
          <p:cNvSpPr/>
          <p:nvPr/>
        </p:nvSpPr>
        <p:spPr>
          <a:xfrm>
            <a:off x="4754880" y="2304288"/>
            <a:ext cx="2103120" cy="1353312"/>
          </a:xfrm>
          <a:prstGeom prst="rect">
            <a:avLst/>
          </a:prstGeom>
          <a:solidFill>
            <a:srgbClr val="FFFFFF"/>
          </a:solidFill>
          <a:ln w="12700">
            <a:solidFill>
              <a:srgbClr val="D1D9E6"/>
            </a:solidFill>
            <a:prstDash val="solid"/>
          </a:ln>
          <a:effectLst>
            <a:outerShdw sx="100000" sy="100000" kx="0" ky="0" algn="bl" rotWithShape="0" blurRad="127000" dist="38100" dir="8100000">
              <a:srgbClr val="000000">
                <a:alpha val="10000"/>
              </a:srgbClr>
            </a:outerShdw>
          </a:effectLst>
        </p:spPr>
      </p:sp>
      <p:sp>
        <p:nvSpPr>
          <p:cNvPr id="33" name="Shape 31"/>
          <p:cNvSpPr/>
          <p:nvPr/>
        </p:nvSpPr>
        <p:spPr>
          <a:xfrm>
            <a:off x="4754880" y="2304288"/>
            <a:ext cx="54864" cy="1353312"/>
          </a:xfrm>
          <a:prstGeom prst="rect">
            <a:avLst/>
          </a:prstGeom>
          <a:solidFill>
            <a:srgbClr val="0F7B6C"/>
          </a:solidFill>
          <a:ln w="12700">
            <a:solidFill>
              <a:srgbClr val="0F7B6C"/>
            </a:solidFill>
            <a:prstDash val="solid"/>
          </a:ln>
        </p:spPr>
      </p:sp>
      <p:sp>
        <p:nvSpPr>
          <p:cNvPr id="34" name="Text 32"/>
          <p:cNvSpPr/>
          <p:nvPr/>
        </p:nvSpPr>
        <p:spPr>
          <a:xfrm>
            <a:off x="4892040" y="2395728"/>
            <a:ext cx="1874520" cy="292608"/>
          </a:xfrm>
          <a:prstGeom prst="rect">
            <a:avLst/>
          </a:prstGeom>
          <a:noFill/>
          <a:ln/>
        </p:spPr>
        <p:txBody>
          <a:bodyPr wrap="square" lIns="0" tIns="0" rIns="0" bIns="0" rtlCol="0" anchor="ctr"/>
          <a:lstStyle/>
          <a:p>
            <a:pPr indent="0" marL="0">
              <a:buNone/>
            </a:pPr>
            <a:r>
              <a:rPr lang="en-US" sz="1050" b="1" dirty="0">
                <a:solidFill>
                  <a:srgbClr val="0F7B6C"/>
                </a:solidFill>
              </a:rPr>
              <a:t>Revenue Protection</a:t>
            </a:r>
            <a:endParaRPr lang="en-US" sz="1050" dirty="0"/>
          </a:p>
        </p:txBody>
      </p:sp>
      <p:sp>
        <p:nvSpPr>
          <p:cNvPr id="35" name="Shape 33"/>
          <p:cNvSpPr/>
          <p:nvPr/>
        </p:nvSpPr>
        <p:spPr>
          <a:xfrm>
            <a:off x="4892040" y="2706624"/>
            <a:ext cx="1783080" cy="22860"/>
          </a:xfrm>
          <a:prstGeom prst="rect">
            <a:avLst/>
          </a:prstGeom>
          <a:solidFill>
            <a:srgbClr val="D1D9E6"/>
          </a:solidFill>
          <a:ln w="12700">
            <a:solidFill>
              <a:srgbClr val="D1D9E6"/>
            </a:solidFill>
            <a:prstDash val="solid"/>
          </a:ln>
        </p:spPr>
      </p:sp>
      <p:sp>
        <p:nvSpPr>
          <p:cNvPr id="36" name="Text 34"/>
          <p:cNvSpPr/>
          <p:nvPr/>
        </p:nvSpPr>
        <p:spPr>
          <a:xfrm>
            <a:off x="4892040" y="2798064"/>
            <a:ext cx="1874520" cy="822960"/>
          </a:xfrm>
          <a:prstGeom prst="rect">
            <a:avLst/>
          </a:prstGeom>
          <a:noFill/>
          <a:ln/>
        </p:spPr>
        <p:txBody>
          <a:bodyPr wrap="square" lIns="0" tIns="0" rIns="0" bIns="0" rtlCol="0" anchor="ctr"/>
          <a:lstStyle/>
          <a:p>
            <a:pPr indent="0" marL="0">
              <a:buNone/>
            </a:pPr>
            <a:r>
              <a:rPr lang="en-US" sz="950" dirty="0">
                <a:solidFill>
                  <a:srgbClr val="4A5568"/>
                </a:solidFill>
              </a:rPr>
              <a:t>Structured discrepancy detection prevents incorrect FOC approvals and leakage.</a:t>
            </a:r>
            <a:endParaRPr lang="en-US" sz="950" dirty="0"/>
          </a:p>
        </p:txBody>
      </p:sp>
      <p:sp>
        <p:nvSpPr>
          <p:cNvPr id="37" name="Shape 35"/>
          <p:cNvSpPr/>
          <p:nvPr/>
        </p:nvSpPr>
        <p:spPr>
          <a:xfrm>
            <a:off x="6995160" y="2304288"/>
            <a:ext cx="2103120" cy="1353312"/>
          </a:xfrm>
          <a:prstGeom prst="rect">
            <a:avLst/>
          </a:prstGeom>
          <a:solidFill>
            <a:srgbClr val="FFFFFF"/>
          </a:solidFill>
          <a:ln w="12700">
            <a:solidFill>
              <a:srgbClr val="D1D9E6"/>
            </a:solidFill>
            <a:prstDash val="solid"/>
          </a:ln>
          <a:effectLst>
            <a:outerShdw sx="100000" sy="100000" kx="0" ky="0" algn="bl" rotWithShape="0" blurRad="127000" dist="38100" dir="8100000">
              <a:srgbClr val="000000">
                <a:alpha val="10000"/>
              </a:srgbClr>
            </a:outerShdw>
          </a:effectLst>
        </p:spPr>
      </p:sp>
      <p:sp>
        <p:nvSpPr>
          <p:cNvPr id="38" name="Shape 36"/>
          <p:cNvSpPr/>
          <p:nvPr/>
        </p:nvSpPr>
        <p:spPr>
          <a:xfrm>
            <a:off x="6995160" y="2304288"/>
            <a:ext cx="54864" cy="1353312"/>
          </a:xfrm>
          <a:prstGeom prst="rect">
            <a:avLst/>
          </a:prstGeom>
          <a:solidFill>
            <a:srgbClr val="6D3FBC"/>
          </a:solidFill>
          <a:ln w="12700">
            <a:solidFill>
              <a:srgbClr val="6D3FBC"/>
            </a:solidFill>
            <a:prstDash val="solid"/>
          </a:ln>
        </p:spPr>
      </p:sp>
      <p:sp>
        <p:nvSpPr>
          <p:cNvPr id="39" name="Text 37"/>
          <p:cNvSpPr/>
          <p:nvPr/>
        </p:nvSpPr>
        <p:spPr>
          <a:xfrm>
            <a:off x="7132320" y="2395728"/>
            <a:ext cx="1874520" cy="292608"/>
          </a:xfrm>
          <a:prstGeom prst="rect">
            <a:avLst/>
          </a:prstGeom>
          <a:noFill/>
          <a:ln/>
        </p:spPr>
        <p:txBody>
          <a:bodyPr wrap="square" lIns="0" tIns="0" rIns="0" bIns="0" rtlCol="0" anchor="ctr"/>
          <a:lstStyle/>
          <a:p>
            <a:pPr indent="0" marL="0">
              <a:buNone/>
            </a:pPr>
            <a:r>
              <a:rPr lang="en-US" sz="1050" b="1" dirty="0">
                <a:solidFill>
                  <a:srgbClr val="6D3FBC"/>
                </a:solidFill>
              </a:rPr>
              <a:t>Scalability</a:t>
            </a:r>
            <a:endParaRPr lang="en-US" sz="1050" dirty="0"/>
          </a:p>
        </p:txBody>
      </p:sp>
      <p:sp>
        <p:nvSpPr>
          <p:cNvPr id="40" name="Shape 38"/>
          <p:cNvSpPr/>
          <p:nvPr/>
        </p:nvSpPr>
        <p:spPr>
          <a:xfrm>
            <a:off x="7132320" y="2706624"/>
            <a:ext cx="1783080" cy="22860"/>
          </a:xfrm>
          <a:prstGeom prst="rect">
            <a:avLst/>
          </a:prstGeom>
          <a:solidFill>
            <a:srgbClr val="D1D9E6"/>
          </a:solidFill>
          <a:ln w="12700">
            <a:solidFill>
              <a:srgbClr val="D1D9E6"/>
            </a:solidFill>
            <a:prstDash val="solid"/>
          </a:ln>
        </p:spPr>
      </p:sp>
      <p:sp>
        <p:nvSpPr>
          <p:cNvPr id="41" name="Text 39"/>
          <p:cNvSpPr/>
          <p:nvPr/>
        </p:nvSpPr>
        <p:spPr>
          <a:xfrm>
            <a:off x="7132320" y="2798064"/>
            <a:ext cx="1874520" cy="822960"/>
          </a:xfrm>
          <a:prstGeom prst="rect">
            <a:avLst/>
          </a:prstGeom>
          <a:noFill/>
          <a:ln/>
        </p:spPr>
        <p:txBody>
          <a:bodyPr wrap="square" lIns="0" tIns="0" rIns="0" bIns="0" rtlCol="0" anchor="ctr"/>
          <a:lstStyle/>
          <a:p>
            <a:pPr indent="0" marL="0">
              <a:buNone/>
            </a:pPr>
            <a:r>
              <a:rPr lang="en-US" sz="950" dirty="0">
                <a:solidFill>
                  <a:srgbClr val="4A5568"/>
                </a:solidFill>
              </a:rPr>
              <a:t>Samsung Cloud GPU auto-scales — handles 9L to 15L+ claims with zero added headcount.</a:t>
            </a:r>
            <a:endParaRPr lang="en-US" sz="950" dirty="0"/>
          </a:p>
        </p:txBody>
      </p:sp>
      <p:sp>
        <p:nvSpPr>
          <p:cNvPr id="42" name="Shape 40"/>
          <p:cNvSpPr/>
          <p:nvPr/>
        </p:nvSpPr>
        <p:spPr>
          <a:xfrm>
            <a:off x="4754880" y="3767328"/>
            <a:ext cx="2103120" cy="1353312"/>
          </a:xfrm>
          <a:prstGeom prst="rect">
            <a:avLst/>
          </a:prstGeom>
          <a:solidFill>
            <a:srgbClr val="FFFFFF"/>
          </a:solidFill>
          <a:ln w="12700">
            <a:solidFill>
              <a:srgbClr val="D1D9E6"/>
            </a:solidFill>
            <a:prstDash val="solid"/>
          </a:ln>
          <a:effectLst>
            <a:outerShdw sx="100000" sy="100000" kx="0" ky="0" algn="bl" rotWithShape="0" blurRad="127000" dist="38100" dir="8100000">
              <a:srgbClr val="000000">
                <a:alpha val="10000"/>
              </a:srgbClr>
            </a:outerShdw>
          </a:effectLst>
        </p:spPr>
      </p:sp>
      <p:sp>
        <p:nvSpPr>
          <p:cNvPr id="43" name="Shape 41"/>
          <p:cNvSpPr/>
          <p:nvPr/>
        </p:nvSpPr>
        <p:spPr>
          <a:xfrm>
            <a:off x="4754880" y="3767328"/>
            <a:ext cx="54864" cy="1353312"/>
          </a:xfrm>
          <a:prstGeom prst="rect">
            <a:avLst/>
          </a:prstGeom>
          <a:solidFill>
            <a:srgbClr val="C05800"/>
          </a:solidFill>
          <a:ln w="12700">
            <a:solidFill>
              <a:srgbClr val="C05800"/>
            </a:solidFill>
            <a:prstDash val="solid"/>
          </a:ln>
        </p:spPr>
      </p:sp>
      <p:sp>
        <p:nvSpPr>
          <p:cNvPr id="44" name="Text 42"/>
          <p:cNvSpPr/>
          <p:nvPr/>
        </p:nvSpPr>
        <p:spPr>
          <a:xfrm>
            <a:off x="4892040" y="3858768"/>
            <a:ext cx="1874520" cy="292608"/>
          </a:xfrm>
          <a:prstGeom prst="rect">
            <a:avLst/>
          </a:prstGeom>
          <a:noFill/>
          <a:ln/>
        </p:spPr>
        <p:txBody>
          <a:bodyPr wrap="square" lIns="0" tIns="0" rIns="0" bIns="0" rtlCol="0" anchor="ctr"/>
          <a:lstStyle/>
          <a:p>
            <a:pPr indent="0" marL="0">
              <a:buNone/>
            </a:pPr>
            <a:r>
              <a:rPr lang="en-US" sz="1050" b="1" dirty="0">
                <a:solidFill>
                  <a:srgbClr val="C05800"/>
                </a:solidFill>
              </a:rPr>
              <a:t>Full Audit Trail</a:t>
            </a:r>
            <a:endParaRPr lang="en-US" sz="1050" dirty="0"/>
          </a:p>
        </p:txBody>
      </p:sp>
      <p:sp>
        <p:nvSpPr>
          <p:cNvPr id="45" name="Shape 43"/>
          <p:cNvSpPr/>
          <p:nvPr/>
        </p:nvSpPr>
        <p:spPr>
          <a:xfrm>
            <a:off x="4892040" y="4169664"/>
            <a:ext cx="1783080" cy="22860"/>
          </a:xfrm>
          <a:prstGeom prst="rect">
            <a:avLst/>
          </a:prstGeom>
          <a:solidFill>
            <a:srgbClr val="D1D9E6"/>
          </a:solidFill>
          <a:ln w="12700">
            <a:solidFill>
              <a:srgbClr val="D1D9E6"/>
            </a:solidFill>
            <a:prstDash val="solid"/>
          </a:ln>
        </p:spPr>
      </p:sp>
      <p:sp>
        <p:nvSpPr>
          <p:cNvPr id="46" name="Text 44"/>
          <p:cNvSpPr/>
          <p:nvPr/>
        </p:nvSpPr>
        <p:spPr>
          <a:xfrm>
            <a:off x="4892040" y="4261104"/>
            <a:ext cx="1874520" cy="822960"/>
          </a:xfrm>
          <a:prstGeom prst="rect">
            <a:avLst/>
          </a:prstGeom>
          <a:noFill/>
          <a:ln/>
        </p:spPr>
        <p:txBody>
          <a:bodyPr wrap="square" lIns="0" tIns="0" rIns="0" bIns="0" rtlCol="0" anchor="ctr"/>
          <a:lstStyle/>
          <a:p>
            <a:pPr indent="0" marL="0">
              <a:buNone/>
            </a:pPr>
            <a:r>
              <a:rPr lang="en-US" sz="950" dirty="0">
                <a:solidFill>
                  <a:srgbClr val="4A5568"/>
                </a:solidFill>
              </a:rPr>
              <a:t>Every decision is logged with structured rationale — ready for dispute and compliance.</a:t>
            </a:r>
            <a:endParaRPr lang="en-US" sz="950" dirty="0"/>
          </a:p>
        </p:txBody>
      </p:sp>
      <p:sp>
        <p:nvSpPr>
          <p:cNvPr id="47" name="Shape 45"/>
          <p:cNvSpPr/>
          <p:nvPr/>
        </p:nvSpPr>
        <p:spPr>
          <a:xfrm>
            <a:off x="6995160" y="3767328"/>
            <a:ext cx="2103120" cy="1353312"/>
          </a:xfrm>
          <a:prstGeom prst="rect">
            <a:avLst/>
          </a:prstGeom>
          <a:solidFill>
            <a:srgbClr val="FFFFFF"/>
          </a:solidFill>
          <a:ln w="12700">
            <a:solidFill>
              <a:srgbClr val="D1D9E6"/>
            </a:solidFill>
            <a:prstDash val="solid"/>
          </a:ln>
          <a:effectLst>
            <a:outerShdw sx="100000" sy="100000" kx="0" ky="0" algn="bl" rotWithShape="0" blurRad="127000" dist="38100" dir="8100000">
              <a:srgbClr val="000000">
                <a:alpha val="10000"/>
              </a:srgbClr>
            </a:outerShdw>
          </a:effectLst>
        </p:spPr>
      </p:sp>
      <p:sp>
        <p:nvSpPr>
          <p:cNvPr id="48" name="Shape 46"/>
          <p:cNvSpPr/>
          <p:nvPr/>
        </p:nvSpPr>
        <p:spPr>
          <a:xfrm>
            <a:off x="6995160" y="3767328"/>
            <a:ext cx="54864" cy="1353312"/>
          </a:xfrm>
          <a:prstGeom prst="rect">
            <a:avLst/>
          </a:prstGeom>
          <a:solidFill>
            <a:srgbClr val="1A5276"/>
          </a:solidFill>
          <a:ln w="12700">
            <a:solidFill>
              <a:srgbClr val="1A5276"/>
            </a:solidFill>
            <a:prstDash val="solid"/>
          </a:ln>
        </p:spPr>
      </p:sp>
      <p:sp>
        <p:nvSpPr>
          <p:cNvPr id="49" name="Text 47"/>
          <p:cNvSpPr/>
          <p:nvPr/>
        </p:nvSpPr>
        <p:spPr>
          <a:xfrm>
            <a:off x="7132320" y="3858768"/>
            <a:ext cx="1874520" cy="292608"/>
          </a:xfrm>
          <a:prstGeom prst="rect">
            <a:avLst/>
          </a:prstGeom>
          <a:noFill/>
          <a:ln/>
        </p:spPr>
        <p:txBody>
          <a:bodyPr wrap="square" lIns="0" tIns="0" rIns="0" bIns="0" rtlCol="0" anchor="ctr"/>
          <a:lstStyle/>
          <a:p>
            <a:pPr indent="0" marL="0">
              <a:buNone/>
            </a:pPr>
            <a:r>
              <a:rPr lang="en-US" sz="1050" b="1" dirty="0">
                <a:solidFill>
                  <a:srgbClr val="1A5276"/>
                </a:solidFill>
              </a:rPr>
              <a:t>Faster TAT</a:t>
            </a:r>
            <a:endParaRPr lang="en-US" sz="1050" dirty="0"/>
          </a:p>
        </p:txBody>
      </p:sp>
      <p:sp>
        <p:nvSpPr>
          <p:cNvPr id="50" name="Shape 48"/>
          <p:cNvSpPr/>
          <p:nvPr/>
        </p:nvSpPr>
        <p:spPr>
          <a:xfrm>
            <a:off x="7132320" y="4169664"/>
            <a:ext cx="1783080" cy="22860"/>
          </a:xfrm>
          <a:prstGeom prst="rect">
            <a:avLst/>
          </a:prstGeom>
          <a:solidFill>
            <a:srgbClr val="D1D9E6"/>
          </a:solidFill>
          <a:ln w="12700">
            <a:solidFill>
              <a:srgbClr val="D1D9E6"/>
            </a:solidFill>
            <a:prstDash val="solid"/>
          </a:ln>
        </p:spPr>
      </p:sp>
      <p:sp>
        <p:nvSpPr>
          <p:cNvPr id="51" name="Text 49"/>
          <p:cNvSpPr/>
          <p:nvPr/>
        </p:nvSpPr>
        <p:spPr>
          <a:xfrm>
            <a:off x="7132320" y="4261104"/>
            <a:ext cx="1874520" cy="822960"/>
          </a:xfrm>
          <a:prstGeom prst="rect">
            <a:avLst/>
          </a:prstGeom>
          <a:noFill/>
          <a:ln/>
        </p:spPr>
        <p:txBody>
          <a:bodyPr wrap="square" lIns="0" tIns="0" rIns="0" bIns="0" rtlCol="0" anchor="ctr"/>
          <a:lstStyle/>
          <a:p>
            <a:pPr indent="0" marL="0">
              <a:buNone/>
            </a:pPr>
            <a:r>
              <a:rPr lang="en-US" sz="950" dirty="0">
                <a:solidFill>
                  <a:srgbClr val="4A5568"/>
                </a:solidFill>
              </a:rPr>
              <a:t>Batch processing delivers results in hours vs. days — improving service center experience.</a:t>
            </a:r>
            <a:endParaRPr lang="en-US" sz="950" dirty="0"/>
          </a:p>
        </p:txBody>
      </p:sp>
      <p:sp>
        <p:nvSpPr>
          <p:cNvPr id="52" name="Shape 50"/>
          <p:cNvSpPr/>
          <p:nvPr/>
        </p:nvSpPr>
        <p:spPr>
          <a:xfrm>
            <a:off x="0" y="4956048"/>
            <a:ext cx="9144000" cy="182880"/>
          </a:xfrm>
          <a:prstGeom prst="rect">
            <a:avLst/>
          </a:prstGeom>
          <a:solidFill>
            <a:srgbClr val="EDF0F7"/>
          </a:solidFill>
          <a:ln w="12700">
            <a:solidFill>
              <a:srgbClr val="EDF0F7"/>
            </a:solidFill>
            <a:prstDash val="solid"/>
          </a:ln>
        </p:spPr>
      </p:sp>
      <p:sp>
        <p:nvSpPr>
          <p:cNvPr id="53" name="Text 51"/>
          <p:cNvSpPr/>
          <p:nvPr/>
        </p:nvSpPr>
        <p:spPr>
          <a:xfrm>
            <a:off x="0" y="4956048"/>
            <a:ext cx="9144000" cy="182880"/>
          </a:xfrm>
          <a:prstGeom prst="rect">
            <a:avLst/>
          </a:prstGeom>
          <a:noFill/>
          <a:ln/>
        </p:spPr>
        <p:txBody>
          <a:bodyPr wrap="square" lIns="0" tIns="0" rIns="0" bIns="0" rtlCol="0" anchor="ctr"/>
          <a:lstStyle/>
          <a:p>
            <a:pPr algn="ctr" indent="0" marL="0">
              <a:buNone/>
            </a:pPr>
            <a:r>
              <a:rPr lang="en-US" sz="750" dirty="0">
                <a:solidFill>
                  <a:srgbClr val="8A94A8"/>
                </a:solidFill>
              </a:rPr>
              <a:t>CONFIDENTIAL  ·  Project CLARITY  ·  CTO Briefing  ·  May 2025</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428A0"/>
          </a:solidFill>
          <a:ln w="12700">
            <a:solidFill>
              <a:srgbClr val="1428A0"/>
            </a:solidFill>
            <a:prstDash val="solid"/>
          </a:ln>
        </p:spPr>
      </p:sp>
      <p:sp>
        <p:nvSpPr>
          <p:cNvPr id="3" name="Shape 1"/>
          <p:cNvSpPr/>
          <p:nvPr/>
        </p:nvSpPr>
        <p:spPr>
          <a:xfrm>
            <a:off x="0" y="658368"/>
            <a:ext cx="9144000" cy="41148"/>
          </a:xfrm>
          <a:prstGeom prst="rect">
            <a:avLst/>
          </a:prstGeom>
          <a:solidFill>
            <a:srgbClr val="0078D4"/>
          </a:solidFill>
          <a:ln w="12700">
            <a:solidFill>
              <a:srgbClr val="0078D4"/>
            </a:solidFill>
            <a:prstDash val="solid"/>
          </a:ln>
        </p:spPr>
      </p:sp>
      <p:sp>
        <p:nvSpPr>
          <p:cNvPr id="4" name="Text 2"/>
          <p:cNvSpPr/>
          <p:nvPr/>
        </p:nvSpPr>
        <p:spPr>
          <a:xfrm>
            <a:off x="411480" y="0"/>
            <a:ext cx="7315200" cy="658368"/>
          </a:xfrm>
          <a:prstGeom prst="rect">
            <a:avLst/>
          </a:prstGeom>
          <a:noFill/>
          <a:ln/>
        </p:spPr>
        <p:txBody>
          <a:bodyPr wrap="square" lIns="0" tIns="0" rIns="0" bIns="0" rtlCol="0" anchor="ctr"/>
          <a:lstStyle/>
          <a:p>
            <a:pPr indent="0" marL="0">
              <a:buNone/>
            </a:pPr>
            <a:r>
              <a:rPr lang="en-US" sz="1400" b="1" spc="200" kern="0" dirty="0">
                <a:solidFill>
                  <a:srgbClr val="FFFFFF"/>
                </a:solidFill>
              </a:rPr>
              <a:t>IMPLEMENTATION ROADMAP</a:t>
            </a:r>
            <a:endParaRPr lang="en-US" sz="1400" dirty="0"/>
          </a:p>
        </p:txBody>
      </p:sp>
      <p:sp>
        <p:nvSpPr>
          <p:cNvPr id="5" name="Text 3"/>
          <p:cNvSpPr/>
          <p:nvPr/>
        </p:nvSpPr>
        <p:spPr>
          <a:xfrm>
            <a:off x="6400800" y="0"/>
            <a:ext cx="2514600" cy="658368"/>
          </a:xfrm>
          <a:prstGeom prst="rect">
            <a:avLst/>
          </a:prstGeom>
          <a:noFill/>
          <a:ln/>
        </p:spPr>
        <p:txBody>
          <a:bodyPr wrap="square" lIns="0" tIns="0" rIns="0" bIns="0" rtlCol="0" anchor="ctr"/>
          <a:lstStyle/>
          <a:p>
            <a:pPr algn="r" indent="0" marL="0">
              <a:buNone/>
            </a:pPr>
            <a:r>
              <a:rPr lang="en-US" sz="900" dirty="0">
                <a:solidFill>
                  <a:srgbClr val="8899CC"/>
                </a:solidFill>
              </a:rPr>
              <a:t>10-Month Go-Live Plan</a:t>
            </a:r>
            <a:endParaRPr lang="en-US" sz="900" dirty="0"/>
          </a:p>
        </p:txBody>
      </p:sp>
      <p:sp>
        <p:nvSpPr>
          <p:cNvPr id="6" name="Shape 4"/>
          <p:cNvSpPr/>
          <p:nvPr/>
        </p:nvSpPr>
        <p:spPr>
          <a:xfrm>
            <a:off x="411480" y="1207008"/>
            <a:ext cx="8321040" cy="45720"/>
          </a:xfrm>
          <a:prstGeom prst="rect">
            <a:avLst/>
          </a:prstGeom>
          <a:solidFill>
            <a:srgbClr val="D1D9E6"/>
          </a:solidFill>
          <a:ln w="12700">
            <a:solidFill>
              <a:srgbClr val="D1D9E6"/>
            </a:solidFill>
            <a:prstDash val="solid"/>
          </a:ln>
        </p:spPr>
      </p:sp>
      <p:sp>
        <p:nvSpPr>
          <p:cNvPr id="7" name="Shape 5"/>
          <p:cNvSpPr/>
          <p:nvPr/>
        </p:nvSpPr>
        <p:spPr>
          <a:xfrm>
            <a:off x="1188720" y="1115568"/>
            <a:ext cx="201168" cy="201168"/>
          </a:xfrm>
          <a:prstGeom prst="ellipse">
            <a:avLst/>
          </a:prstGeom>
          <a:solidFill>
            <a:srgbClr val="C05800"/>
          </a:solidFill>
          <a:ln w="12700">
            <a:solidFill>
              <a:srgbClr val="C05800"/>
            </a:solidFill>
            <a:prstDash val="solid"/>
          </a:ln>
        </p:spPr>
      </p:sp>
      <p:sp>
        <p:nvSpPr>
          <p:cNvPr id="8" name="Shape 6"/>
          <p:cNvSpPr/>
          <p:nvPr/>
        </p:nvSpPr>
        <p:spPr>
          <a:xfrm>
            <a:off x="411480" y="1389888"/>
            <a:ext cx="1965960" cy="3429000"/>
          </a:xfrm>
          <a:prstGeom prst="rect">
            <a:avLst/>
          </a:prstGeom>
          <a:solidFill>
            <a:srgbClr val="FFFFFF"/>
          </a:solidFill>
          <a:ln w="12700">
            <a:solidFill>
              <a:srgbClr val="D1D9E6"/>
            </a:solidFill>
            <a:prstDash val="solid"/>
          </a:ln>
          <a:effectLst>
            <a:outerShdw sx="100000" sy="100000" kx="0" ky="0" algn="bl" rotWithShape="0" blurRad="127000" dist="38100" dir="8100000">
              <a:srgbClr val="000000">
                <a:alpha val="10000"/>
              </a:srgbClr>
            </a:outerShdw>
          </a:effectLst>
        </p:spPr>
      </p:sp>
      <p:sp>
        <p:nvSpPr>
          <p:cNvPr id="9" name="Shape 7"/>
          <p:cNvSpPr/>
          <p:nvPr/>
        </p:nvSpPr>
        <p:spPr>
          <a:xfrm>
            <a:off x="411480" y="1389888"/>
            <a:ext cx="1965960" cy="54864"/>
          </a:xfrm>
          <a:prstGeom prst="rect">
            <a:avLst/>
          </a:prstGeom>
          <a:solidFill>
            <a:srgbClr val="C05800"/>
          </a:solidFill>
          <a:ln w="12700">
            <a:solidFill>
              <a:srgbClr val="C05800"/>
            </a:solidFill>
            <a:prstDash val="solid"/>
          </a:ln>
        </p:spPr>
      </p:sp>
      <p:sp>
        <p:nvSpPr>
          <p:cNvPr id="10" name="Shape 8"/>
          <p:cNvSpPr/>
          <p:nvPr/>
        </p:nvSpPr>
        <p:spPr>
          <a:xfrm>
            <a:off x="411480" y="1444752"/>
            <a:ext cx="1965960" cy="475488"/>
          </a:xfrm>
          <a:prstGeom prst="rect">
            <a:avLst/>
          </a:prstGeom>
          <a:solidFill>
            <a:srgbClr val="F8F9FC"/>
          </a:solidFill>
          <a:ln w="12700">
            <a:solidFill>
              <a:srgbClr val="F8F9FC"/>
            </a:solidFill>
            <a:prstDash val="solid"/>
          </a:ln>
        </p:spPr>
      </p:sp>
      <p:sp>
        <p:nvSpPr>
          <p:cNvPr id="11" name="Text 9"/>
          <p:cNvSpPr/>
          <p:nvPr/>
        </p:nvSpPr>
        <p:spPr>
          <a:xfrm>
            <a:off x="502920" y="1463040"/>
            <a:ext cx="914400" cy="201168"/>
          </a:xfrm>
          <a:prstGeom prst="rect">
            <a:avLst/>
          </a:prstGeom>
          <a:noFill/>
          <a:ln/>
        </p:spPr>
        <p:txBody>
          <a:bodyPr wrap="square" lIns="0" tIns="0" rIns="0" bIns="0" rtlCol="0" anchor="ctr"/>
          <a:lstStyle/>
          <a:p>
            <a:pPr indent="0" marL="0">
              <a:buNone/>
            </a:pPr>
            <a:r>
              <a:rPr lang="en-US" sz="900" b="1" dirty="0">
                <a:solidFill>
                  <a:srgbClr val="C05800"/>
                </a:solidFill>
              </a:rPr>
              <a:t>Phase 1</a:t>
            </a:r>
            <a:endParaRPr lang="en-US" sz="900" dirty="0"/>
          </a:p>
        </p:txBody>
      </p:sp>
      <p:sp>
        <p:nvSpPr>
          <p:cNvPr id="12" name="Text 10"/>
          <p:cNvSpPr/>
          <p:nvPr/>
        </p:nvSpPr>
        <p:spPr>
          <a:xfrm>
            <a:off x="502920" y="1664208"/>
            <a:ext cx="1783080" cy="201168"/>
          </a:xfrm>
          <a:prstGeom prst="rect">
            <a:avLst/>
          </a:prstGeom>
          <a:noFill/>
          <a:ln/>
        </p:spPr>
        <p:txBody>
          <a:bodyPr wrap="square" lIns="0" tIns="0" rIns="0" bIns="0" rtlCol="0" anchor="ctr"/>
          <a:lstStyle/>
          <a:p>
            <a:pPr indent="0" marL="0">
              <a:buNone/>
            </a:pPr>
            <a:r>
              <a:rPr lang="en-US" sz="800" dirty="0">
                <a:solidFill>
                  <a:srgbClr val="8A94A8"/>
                </a:solidFill>
              </a:rPr>
              <a:t>Month 1–2</a:t>
            </a:r>
            <a:endParaRPr lang="en-US" sz="800" dirty="0"/>
          </a:p>
        </p:txBody>
      </p:sp>
      <p:sp>
        <p:nvSpPr>
          <p:cNvPr id="13" name="Text 11"/>
          <p:cNvSpPr/>
          <p:nvPr/>
        </p:nvSpPr>
        <p:spPr>
          <a:xfrm>
            <a:off x="502920" y="1993392"/>
            <a:ext cx="1783080" cy="310896"/>
          </a:xfrm>
          <a:prstGeom prst="rect">
            <a:avLst/>
          </a:prstGeom>
          <a:noFill/>
          <a:ln/>
        </p:spPr>
        <p:txBody>
          <a:bodyPr wrap="square" lIns="0" tIns="0" rIns="0" bIns="0" rtlCol="0" anchor="ctr"/>
          <a:lstStyle/>
          <a:p>
            <a:pPr indent="0" marL="0">
              <a:buNone/>
            </a:pPr>
            <a:r>
              <a:rPr lang="en-US" sz="1200" b="1" dirty="0">
                <a:solidFill>
                  <a:srgbClr val="1A202C"/>
                </a:solidFill>
              </a:rPr>
              <a:t>Foundation</a:t>
            </a:r>
            <a:endParaRPr lang="en-US" sz="1200" dirty="0"/>
          </a:p>
        </p:txBody>
      </p:sp>
      <p:sp>
        <p:nvSpPr>
          <p:cNvPr id="14" name="Shape 12"/>
          <p:cNvSpPr/>
          <p:nvPr/>
        </p:nvSpPr>
        <p:spPr>
          <a:xfrm>
            <a:off x="502920" y="2340864"/>
            <a:ext cx="1783080" cy="22860"/>
          </a:xfrm>
          <a:prstGeom prst="rect">
            <a:avLst/>
          </a:prstGeom>
          <a:solidFill>
            <a:srgbClr val="D1D9E6"/>
          </a:solidFill>
          <a:ln w="12700">
            <a:solidFill>
              <a:srgbClr val="D1D9E6"/>
            </a:solidFill>
            <a:prstDash val="solid"/>
          </a:ln>
        </p:spPr>
      </p:sp>
      <p:sp>
        <p:nvSpPr>
          <p:cNvPr id="15" name="Text 13"/>
          <p:cNvSpPr/>
          <p:nvPr/>
        </p:nvSpPr>
        <p:spPr>
          <a:xfrm>
            <a:off x="502920" y="2395728"/>
            <a:ext cx="1783080" cy="2377440"/>
          </a:xfrm>
          <a:prstGeom prst="rect">
            <a:avLst/>
          </a:prstGeom>
          <a:noFill/>
          <a:ln/>
        </p:spPr>
        <p:txBody>
          <a:bodyPr wrap="square" rtlCol="0" anchor="ctr"/>
          <a:lstStyle/>
          <a:p>
            <a:pPr marL="342900" indent="-342900">
              <a:buSzPct val="100000"/>
              <a:buChar char="•"/>
            </a:pPr>
            <a:r>
              <a:rPr lang="en-US" sz="950" dirty="0">
                <a:solidFill>
                  <a:srgbClr val="4A5568"/>
                </a:solidFill>
              </a:rPr>
              <a:t>Requirements &amp; stakeholder alignment</a:t>
            </a:r>
            <a:endParaRPr lang="en-US" sz="950" dirty="0"/>
          </a:p>
          <a:p>
            <a:pPr marL="342900" indent="-342900">
              <a:buSzPct val="100000"/>
              <a:buChar char="•"/>
            </a:pPr>
            <a:r>
              <a:rPr lang="en-US" sz="950" dirty="0">
                <a:solidFill>
                  <a:srgbClr val="4A5568"/>
                </a:solidFill>
              </a:rPr>
              <a:t>Warranty rule documentation</a:t>
            </a:r>
            <a:endParaRPr lang="en-US" sz="950" dirty="0"/>
          </a:p>
          <a:p>
            <a:pPr marL="342900" indent="-342900">
              <a:buSzPct val="100000"/>
              <a:buChar char="•"/>
            </a:pPr>
            <a:r>
              <a:rPr lang="en-US" sz="950" dirty="0">
                <a:solidFill>
                  <a:srgbClr val="4A5568"/>
                </a:solidFill>
              </a:rPr>
              <a:t>Data collection &amp; annotation</a:t>
            </a:r>
            <a:endParaRPr lang="en-US" sz="950" dirty="0"/>
          </a:p>
          <a:p>
            <a:pPr marL="342900" indent="-342900">
              <a:buSzPct val="100000"/>
              <a:buChar char="•"/>
            </a:pPr>
            <a:r>
              <a:rPr lang="en-US" sz="950" dirty="0">
                <a:solidFill>
                  <a:srgbClr val="4A5568"/>
                </a:solidFill>
              </a:rPr>
              <a:t>Samsung Cloud GPU provisioning</a:t>
            </a:r>
            <a:endParaRPr lang="en-US" sz="950" dirty="0"/>
          </a:p>
        </p:txBody>
      </p:sp>
      <p:sp>
        <p:nvSpPr>
          <p:cNvPr id="16" name="Shape 14"/>
          <p:cNvSpPr/>
          <p:nvPr/>
        </p:nvSpPr>
        <p:spPr>
          <a:xfrm>
            <a:off x="3310128" y="1115568"/>
            <a:ext cx="201168" cy="201168"/>
          </a:xfrm>
          <a:prstGeom prst="ellipse">
            <a:avLst/>
          </a:prstGeom>
          <a:solidFill>
            <a:srgbClr val="0078D4"/>
          </a:solidFill>
          <a:ln w="12700">
            <a:solidFill>
              <a:srgbClr val="0078D4"/>
            </a:solidFill>
            <a:prstDash val="solid"/>
          </a:ln>
        </p:spPr>
      </p:sp>
      <p:sp>
        <p:nvSpPr>
          <p:cNvPr id="17" name="Shape 15"/>
          <p:cNvSpPr/>
          <p:nvPr/>
        </p:nvSpPr>
        <p:spPr>
          <a:xfrm>
            <a:off x="2532888" y="1389888"/>
            <a:ext cx="1965960" cy="3429000"/>
          </a:xfrm>
          <a:prstGeom prst="rect">
            <a:avLst/>
          </a:prstGeom>
          <a:solidFill>
            <a:srgbClr val="FFFFFF"/>
          </a:solidFill>
          <a:ln w="12700">
            <a:solidFill>
              <a:srgbClr val="D1D9E6"/>
            </a:solidFill>
            <a:prstDash val="solid"/>
          </a:ln>
          <a:effectLst>
            <a:outerShdw sx="100000" sy="100000" kx="0" ky="0" algn="bl" rotWithShape="0" blurRad="127000" dist="38100" dir="8100000">
              <a:srgbClr val="000000">
                <a:alpha val="10000"/>
              </a:srgbClr>
            </a:outerShdw>
          </a:effectLst>
        </p:spPr>
      </p:sp>
      <p:sp>
        <p:nvSpPr>
          <p:cNvPr id="18" name="Shape 16"/>
          <p:cNvSpPr/>
          <p:nvPr/>
        </p:nvSpPr>
        <p:spPr>
          <a:xfrm>
            <a:off x="2532888" y="1389888"/>
            <a:ext cx="1965960" cy="54864"/>
          </a:xfrm>
          <a:prstGeom prst="rect">
            <a:avLst/>
          </a:prstGeom>
          <a:solidFill>
            <a:srgbClr val="0078D4"/>
          </a:solidFill>
          <a:ln w="12700">
            <a:solidFill>
              <a:srgbClr val="0078D4"/>
            </a:solidFill>
            <a:prstDash val="solid"/>
          </a:ln>
        </p:spPr>
      </p:sp>
      <p:sp>
        <p:nvSpPr>
          <p:cNvPr id="19" name="Shape 17"/>
          <p:cNvSpPr/>
          <p:nvPr/>
        </p:nvSpPr>
        <p:spPr>
          <a:xfrm>
            <a:off x="2532888" y="1444752"/>
            <a:ext cx="1965960" cy="475488"/>
          </a:xfrm>
          <a:prstGeom prst="rect">
            <a:avLst/>
          </a:prstGeom>
          <a:solidFill>
            <a:srgbClr val="F8F9FC"/>
          </a:solidFill>
          <a:ln w="12700">
            <a:solidFill>
              <a:srgbClr val="F8F9FC"/>
            </a:solidFill>
            <a:prstDash val="solid"/>
          </a:ln>
        </p:spPr>
      </p:sp>
      <p:sp>
        <p:nvSpPr>
          <p:cNvPr id="20" name="Text 18"/>
          <p:cNvSpPr/>
          <p:nvPr/>
        </p:nvSpPr>
        <p:spPr>
          <a:xfrm>
            <a:off x="2624328" y="1463040"/>
            <a:ext cx="914400" cy="201168"/>
          </a:xfrm>
          <a:prstGeom prst="rect">
            <a:avLst/>
          </a:prstGeom>
          <a:noFill/>
          <a:ln/>
        </p:spPr>
        <p:txBody>
          <a:bodyPr wrap="square" lIns="0" tIns="0" rIns="0" bIns="0" rtlCol="0" anchor="ctr"/>
          <a:lstStyle/>
          <a:p>
            <a:pPr indent="0" marL="0">
              <a:buNone/>
            </a:pPr>
            <a:r>
              <a:rPr lang="en-US" sz="900" b="1" dirty="0">
                <a:solidFill>
                  <a:srgbClr val="0078D4"/>
                </a:solidFill>
              </a:rPr>
              <a:t>Phase 2</a:t>
            </a:r>
            <a:endParaRPr lang="en-US" sz="900" dirty="0"/>
          </a:p>
        </p:txBody>
      </p:sp>
      <p:sp>
        <p:nvSpPr>
          <p:cNvPr id="21" name="Text 19"/>
          <p:cNvSpPr/>
          <p:nvPr/>
        </p:nvSpPr>
        <p:spPr>
          <a:xfrm>
            <a:off x="2624328" y="1664208"/>
            <a:ext cx="1783080" cy="201168"/>
          </a:xfrm>
          <a:prstGeom prst="rect">
            <a:avLst/>
          </a:prstGeom>
          <a:noFill/>
          <a:ln/>
        </p:spPr>
        <p:txBody>
          <a:bodyPr wrap="square" lIns="0" tIns="0" rIns="0" bIns="0" rtlCol="0" anchor="ctr"/>
          <a:lstStyle/>
          <a:p>
            <a:pPr indent="0" marL="0">
              <a:buNone/>
            </a:pPr>
            <a:r>
              <a:rPr lang="en-US" sz="800" dirty="0">
                <a:solidFill>
                  <a:srgbClr val="8A94A8"/>
                </a:solidFill>
              </a:rPr>
              <a:t>Month 3–5</a:t>
            </a:r>
            <a:endParaRPr lang="en-US" sz="800" dirty="0"/>
          </a:p>
        </p:txBody>
      </p:sp>
      <p:sp>
        <p:nvSpPr>
          <p:cNvPr id="22" name="Text 20"/>
          <p:cNvSpPr/>
          <p:nvPr/>
        </p:nvSpPr>
        <p:spPr>
          <a:xfrm>
            <a:off x="2624328" y="1993392"/>
            <a:ext cx="1783080" cy="310896"/>
          </a:xfrm>
          <a:prstGeom prst="rect">
            <a:avLst/>
          </a:prstGeom>
          <a:noFill/>
          <a:ln/>
        </p:spPr>
        <p:txBody>
          <a:bodyPr wrap="square" lIns="0" tIns="0" rIns="0" bIns="0" rtlCol="0" anchor="ctr"/>
          <a:lstStyle/>
          <a:p>
            <a:pPr indent="0" marL="0">
              <a:buNone/>
            </a:pPr>
            <a:r>
              <a:rPr lang="en-US" sz="1200" b="1" dirty="0">
                <a:solidFill>
                  <a:srgbClr val="1A202C"/>
                </a:solidFill>
              </a:rPr>
              <a:t>Model Development</a:t>
            </a:r>
            <a:endParaRPr lang="en-US" sz="1200" dirty="0"/>
          </a:p>
        </p:txBody>
      </p:sp>
      <p:sp>
        <p:nvSpPr>
          <p:cNvPr id="23" name="Shape 21"/>
          <p:cNvSpPr/>
          <p:nvPr/>
        </p:nvSpPr>
        <p:spPr>
          <a:xfrm>
            <a:off x="2624328" y="2340864"/>
            <a:ext cx="1783080" cy="22860"/>
          </a:xfrm>
          <a:prstGeom prst="rect">
            <a:avLst/>
          </a:prstGeom>
          <a:solidFill>
            <a:srgbClr val="D1D9E6"/>
          </a:solidFill>
          <a:ln w="12700">
            <a:solidFill>
              <a:srgbClr val="D1D9E6"/>
            </a:solidFill>
            <a:prstDash val="solid"/>
          </a:ln>
        </p:spPr>
      </p:sp>
      <p:sp>
        <p:nvSpPr>
          <p:cNvPr id="24" name="Text 22"/>
          <p:cNvSpPr/>
          <p:nvPr/>
        </p:nvSpPr>
        <p:spPr>
          <a:xfrm>
            <a:off x="2624328" y="2395728"/>
            <a:ext cx="1783080" cy="2377440"/>
          </a:xfrm>
          <a:prstGeom prst="rect">
            <a:avLst/>
          </a:prstGeom>
          <a:noFill/>
          <a:ln/>
        </p:spPr>
        <p:txBody>
          <a:bodyPr wrap="square" rtlCol="0" anchor="ctr"/>
          <a:lstStyle/>
          <a:p>
            <a:pPr marL="342900" indent="-342900">
              <a:buSzPct val="100000"/>
              <a:buChar char="•"/>
            </a:pPr>
            <a:r>
              <a:rPr lang="en-US" sz="950" dirty="0">
                <a:solidFill>
                  <a:srgbClr val="4A5568"/>
                </a:solidFill>
              </a:rPr>
              <a:t>OCR model training on claim images</a:t>
            </a:r>
            <a:endParaRPr lang="en-US" sz="950" dirty="0"/>
          </a:p>
          <a:p>
            <a:pPr marL="342900" indent="-342900">
              <a:buSzPct val="100000"/>
              <a:buChar char="•"/>
            </a:pPr>
            <a:r>
              <a:rPr lang="en-US" sz="950" dirty="0">
                <a:solidFill>
                  <a:srgbClr val="4A5568"/>
                </a:solidFill>
              </a:rPr>
              <a:t>LLM fine-tuning on warranty rules</a:t>
            </a:r>
            <a:endParaRPr lang="en-US" sz="950" dirty="0"/>
          </a:p>
          <a:p>
            <a:pPr marL="342900" indent="-342900">
              <a:buSzPct val="100000"/>
              <a:buChar char="•"/>
            </a:pPr>
            <a:r>
              <a:rPr lang="en-US" sz="950" dirty="0">
                <a:solidFill>
                  <a:srgbClr val="4A5568"/>
                </a:solidFill>
              </a:rPr>
              <a:t>Batch processing pipeline build</a:t>
            </a:r>
            <a:endParaRPr lang="en-US" sz="950" dirty="0"/>
          </a:p>
          <a:p>
            <a:pPr marL="342900" indent="-342900">
              <a:buSzPct val="100000"/>
              <a:buChar char="•"/>
            </a:pPr>
            <a:r>
              <a:rPr lang="en-US" sz="950" dirty="0">
                <a:solidFill>
                  <a:srgbClr val="4A5568"/>
                </a:solidFill>
              </a:rPr>
              <a:t>Accuracy benchmarking (&gt;92% target)</a:t>
            </a:r>
            <a:endParaRPr lang="en-US" sz="950" dirty="0"/>
          </a:p>
        </p:txBody>
      </p:sp>
      <p:sp>
        <p:nvSpPr>
          <p:cNvPr id="25" name="Shape 23"/>
          <p:cNvSpPr/>
          <p:nvPr/>
        </p:nvSpPr>
        <p:spPr>
          <a:xfrm>
            <a:off x="5431536" y="1115568"/>
            <a:ext cx="201168" cy="201168"/>
          </a:xfrm>
          <a:prstGeom prst="ellipse">
            <a:avLst/>
          </a:prstGeom>
          <a:solidFill>
            <a:srgbClr val="6D3FBC"/>
          </a:solidFill>
          <a:ln w="12700">
            <a:solidFill>
              <a:srgbClr val="6D3FBC"/>
            </a:solidFill>
            <a:prstDash val="solid"/>
          </a:ln>
        </p:spPr>
      </p:sp>
      <p:sp>
        <p:nvSpPr>
          <p:cNvPr id="26" name="Shape 24"/>
          <p:cNvSpPr/>
          <p:nvPr/>
        </p:nvSpPr>
        <p:spPr>
          <a:xfrm>
            <a:off x="4654296" y="1389888"/>
            <a:ext cx="1965960" cy="3429000"/>
          </a:xfrm>
          <a:prstGeom prst="rect">
            <a:avLst/>
          </a:prstGeom>
          <a:solidFill>
            <a:srgbClr val="FFFFFF"/>
          </a:solidFill>
          <a:ln w="12700">
            <a:solidFill>
              <a:srgbClr val="D1D9E6"/>
            </a:solidFill>
            <a:prstDash val="solid"/>
          </a:ln>
          <a:effectLst>
            <a:outerShdw sx="100000" sy="100000" kx="0" ky="0" algn="bl" rotWithShape="0" blurRad="127000" dist="38100" dir="8100000">
              <a:srgbClr val="000000">
                <a:alpha val="10000"/>
              </a:srgbClr>
            </a:outerShdw>
          </a:effectLst>
        </p:spPr>
      </p:sp>
      <p:sp>
        <p:nvSpPr>
          <p:cNvPr id="27" name="Shape 25"/>
          <p:cNvSpPr/>
          <p:nvPr/>
        </p:nvSpPr>
        <p:spPr>
          <a:xfrm>
            <a:off x="4654296" y="1389888"/>
            <a:ext cx="1965960" cy="54864"/>
          </a:xfrm>
          <a:prstGeom prst="rect">
            <a:avLst/>
          </a:prstGeom>
          <a:solidFill>
            <a:srgbClr val="6D3FBC"/>
          </a:solidFill>
          <a:ln w="12700">
            <a:solidFill>
              <a:srgbClr val="6D3FBC"/>
            </a:solidFill>
            <a:prstDash val="solid"/>
          </a:ln>
        </p:spPr>
      </p:sp>
      <p:sp>
        <p:nvSpPr>
          <p:cNvPr id="28" name="Shape 26"/>
          <p:cNvSpPr/>
          <p:nvPr/>
        </p:nvSpPr>
        <p:spPr>
          <a:xfrm>
            <a:off x="4654296" y="1444752"/>
            <a:ext cx="1965960" cy="475488"/>
          </a:xfrm>
          <a:prstGeom prst="rect">
            <a:avLst/>
          </a:prstGeom>
          <a:solidFill>
            <a:srgbClr val="F8F9FC"/>
          </a:solidFill>
          <a:ln w="12700">
            <a:solidFill>
              <a:srgbClr val="F8F9FC"/>
            </a:solidFill>
            <a:prstDash val="solid"/>
          </a:ln>
        </p:spPr>
      </p:sp>
      <p:sp>
        <p:nvSpPr>
          <p:cNvPr id="29" name="Text 27"/>
          <p:cNvSpPr/>
          <p:nvPr/>
        </p:nvSpPr>
        <p:spPr>
          <a:xfrm>
            <a:off x="4745736" y="1463040"/>
            <a:ext cx="914400" cy="201168"/>
          </a:xfrm>
          <a:prstGeom prst="rect">
            <a:avLst/>
          </a:prstGeom>
          <a:noFill/>
          <a:ln/>
        </p:spPr>
        <p:txBody>
          <a:bodyPr wrap="square" lIns="0" tIns="0" rIns="0" bIns="0" rtlCol="0" anchor="ctr"/>
          <a:lstStyle/>
          <a:p>
            <a:pPr indent="0" marL="0">
              <a:buNone/>
            </a:pPr>
            <a:r>
              <a:rPr lang="en-US" sz="900" b="1" dirty="0">
                <a:solidFill>
                  <a:srgbClr val="6D3FBC"/>
                </a:solidFill>
              </a:rPr>
              <a:t>Phase 3</a:t>
            </a:r>
            <a:endParaRPr lang="en-US" sz="900" dirty="0"/>
          </a:p>
        </p:txBody>
      </p:sp>
      <p:sp>
        <p:nvSpPr>
          <p:cNvPr id="30" name="Text 28"/>
          <p:cNvSpPr/>
          <p:nvPr/>
        </p:nvSpPr>
        <p:spPr>
          <a:xfrm>
            <a:off x="4745736" y="1664208"/>
            <a:ext cx="1783080" cy="201168"/>
          </a:xfrm>
          <a:prstGeom prst="rect">
            <a:avLst/>
          </a:prstGeom>
          <a:noFill/>
          <a:ln/>
        </p:spPr>
        <p:txBody>
          <a:bodyPr wrap="square" lIns="0" tIns="0" rIns="0" bIns="0" rtlCol="0" anchor="ctr"/>
          <a:lstStyle/>
          <a:p>
            <a:pPr indent="0" marL="0">
              <a:buNone/>
            </a:pPr>
            <a:r>
              <a:rPr lang="en-US" sz="800" dirty="0">
                <a:solidFill>
                  <a:srgbClr val="8A94A8"/>
                </a:solidFill>
              </a:rPr>
              <a:t>Month 6–7</a:t>
            </a:r>
            <a:endParaRPr lang="en-US" sz="800" dirty="0"/>
          </a:p>
        </p:txBody>
      </p:sp>
      <p:sp>
        <p:nvSpPr>
          <p:cNvPr id="31" name="Text 29"/>
          <p:cNvSpPr/>
          <p:nvPr/>
        </p:nvSpPr>
        <p:spPr>
          <a:xfrm>
            <a:off x="4745736" y="1993392"/>
            <a:ext cx="1783080" cy="310896"/>
          </a:xfrm>
          <a:prstGeom prst="rect">
            <a:avLst/>
          </a:prstGeom>
          <a:noFill/>
          <a:ln/>
        </p:spPr>
        <p:txBody>
          <a:bodyPr wrap="square" lIns="0" tIns="0" rIns="0" bIns="0" rtlCol="0" anchor="ctr"/>
          <a:lstStyle/>
          <a:p>
            <a:pPr indent="0" marL="0">
              <a:buNone/>
            </a:pPr>
            <a:r>
              <a:rPr lang="en-US" sz="1200" b="1" dirty="0">
                <a:solidFill>
                  <a:srgbClr val="1A202C"/>
                </a:solidFill>
              </a:rPr>
              <a:t>Integration &amp; UAT</a:t>
            </a:r>
            <a:endParaRPr lang="en-US" sz="1200" dirty="0"/>
          </a:p>
        </p:txBody>
      </p:sp>
      <p:sp>
        <p:nvSpPr>
          <p:cNvPr id="32" name="Shape 30"/>
          <p:cNvSpPr/>
          <p:nvPr/>
        </p:nvSpPr>
        <p:spPr>
          <a:xfrm>
            <a:off x="4745736" y="2340864"/>
            <a:ext cx="1783080" cy="22860"/>
          </a:xfrm>
          <a:prstGeom prst="rect">
            <a:avLst/>
          </a:prstGeom>
          <a:solidFill>
            <a:srgbClr val="D1D9E6"/>
          </a:solidFill>
          <a:ln w="12700">
            <a:solidFill>
              <a:srgbClr val="D1D9E6"/>
            </a:solidFill>
            <a:prstDash val="solid"/>
          </a:ln>
        </p:spPr>
      </p:sp>
      <p:sp>
        <p:nvSpPr>
          <p:cNvPr id="33" name="Text 31"/>
          <p:cNvSpPr/>
          <p:nvPr/>
        </p:nvSpPr>
        <p:spPr>
          <a:xfrm>
            <a:off x="4745736" y="2395728"/>
            <a:ext cx="1783080" cy="2377440"/>
          </a:xfrm>
          <a:prstGeom prst="rect">
            <a:avLst/>
          </a:prstGeom>
          <a:noFill/>
          <a:ln/>
        </p:spPr>
        <p:txBody>
          <a:bodyPr wrap="square" rtlCol="0" anchor="ctr"/>
          <a:lstStyle/>
          <a:p>
            <a:pPr marL="342900" indent="-342900">
              <a:buSzPct val="100000"/>
              <a:buChar char="•"/>
            </a:pPr>
            <a:r>
              <a:rPr lang="en-US" sz="950" dirty="0">
                <a:solidFill>
                  <a:srgbClr val="4A5568"/>
                </a:solidFill>
              </a:rPr>
              <a:t>API integration with claim system</a:t>
            </a:r>
            <a:endParaRPr lang="en-US" sz="950" dirty="0"/>
          </a:p>
          <a:p>
            <a:pPr marL="342900" indent="-342900">
              <a:buSzPct val="100000"/>
              <a:buChar char="•"/>
            </a:pPr>
            <a:r>
              <a:rPr lang="en-US" sz="950" dirty="0">
                <a:solidFill>
                  <a:srgbClr val="4A5568"/>
                </a:solidFill>
              </a:rPr>
              <a:t>UAT with service ops team</a:t>
            </a:r>
            <a:endParaRPr lang="en-US" sz="950" dirty="0"/>
          </a:p>
          <a:p>
            <a:pPr marL="342900" indent="-342900">
              <a:buSzPct val="100000"/>
              <a:buChar char="•"/>
            </a:pPr>
            <a:r>
              <a:rPr lang="en-US" sz="950" dirty="0">
                <a:solidFill>
                  <a:srgbClr val="4A5568"/>
                </a:solidFill>
              </a:rPr>
              <a:t>Performance &amp; load testing</a:t>
            </a:r>
            <a:endParaRPr lang="en-US" sz="950" dirty="0"/>
          </a:p>
          <a:p>
            <a:pPr marL="342900" indent="-342900">
              <a:buSzPct val="100000"/>
              <a:buChar char="•"/>
            </a:pPr>
            <a:r>
              <a:rPr lang="en-US" sz="950" dirty="0">
                <a:solidFill>
                  <a:srgbClr val="4A5568"/>
                </a:solidFill>
              </a:rPr>
              <a:t>Pilot: 2 claim categories</a:t>
            </a:r>
            <a:endParaRPr lang="en-US" sz="950" dirty="0"/>
          </a:p>
        </p:txBody>
      </p:sp>
      <p:sp>
        <p:nvSpPr>
          <p:cNvPr id="34" name="Shape 32"/>
          <p:cNvSpPr/>
          <p:nvPr/>
        </p:nvSpPr>
        <p:spPr>
          <a:xfrm>
            <a:off x="7552944" y="1115568"/>
            <a:ext cx="201168" cy="201168"/>
          </a:xfrm>
          <a:prstGeom prst="ellipse">
            <a:avLst/>
          </a:prstGeom>
          <a:solidFill>
            <a:srgbClr val="0F7B6C"/>
          </a:solidFill>
          <a:ln w="12700">
            <a:solidFill>
              <a:srgbClr val="0F7B6C"/>
            </a:solidFill>
            <a:prstDash val="solid"/>
          </a:ln>
        </p:spPr>
      </p:sp>
      <p:sp>
        <p:nvSpPr>
          <p:cNvPr id="35" name="Shape 33"/>
          <p:cNvSpPr/>
          <p:nvPr/>
        </p:nvSpPr>
        <p:spPr>
          <a:xfrm>
            <a:off x="6775704" y="1389888"/>
            <a:ext cx="1965960" cy="3429000"/>
          </a:xfrm>
          <a:prstGeom prst="rect">
            <a:avLst/>
          </a:prstGeom>
          <a:solidFill>
            <a:srgbClr val="FFFFFF"/>
          </a:solidFill>
          <a:ln w="12700">
            <a:solidFill>
              <a:srgbClr val="D1D9E6"/>
            </a:solidFill>
            <a:prstDash val="solid"/>
          </a:ln>
          <a:effectLst>
            <a:outerShdw sx="100000" sy="100000" kx="0" ky="0" algn="bl" rotWithShape="0" blurRad="127000" dist="38100" dir="8100000">
              <a:srgbClr val="000000">
                <a:alpha val="10000"/>
              </a:srgbClr>
            </a:outerShdw>
          </a:effectLst>
        </p:spPr>
      </p:sp>
      <p:sp>
        <p:nvSpPr>
          <p:cNvPr id="36" name="Shape 34"/>
          <p:cNvSpPr/>
          <p:nvPr/>
        </p:nvSpPr>
        <p:spPr>
          <a:xfrm>
            <a:off x="6775704" y="1389888"/>
            <a:ext cx="1965960" cy="54864"/>
          </a:xfrm>
          <a:prstGeom prst="rect">
            <a:avLst/>
          </a:prstGeom>
          <a:solidFill>
            <a:srgbClr val="0F7B6C"/>
          </a:solidFill>
          <a:ln w="12700">
            <a:solidFill>
              <a:srgbClr val="0F7B6C"/>
            </a:solidFill>
            <a:prstDash val="solid"/>
          </a:ln>
        </p:spPr>
      </p:sp>
      <p:sp>
        <p:nvSpPr>
          <p:cNvPr id="37" name="Shape 35"/>
          <p:cNvSpPr/>
          <p:nvPr/>
        </p:nvSpPr>
        <p:spPr>
          <a:xfrm>
            <a:off x="6775704" y="1444752"/>
            <a:ext cx="1965960" cy="475488"/>
          </a:xfrm>
          <a:prstGeom prst="rect">
            <a:avLst/>
          </a:prstGeom>
          <a:solidFill>
            <a:srgbClr val="F8F9FC"/>
          </a:solidFill>
          <a:ln w="12700">
            <a:solidFill>
              <a:srgbClr val="F8F9FC"/>
            </a:solidFill>
            <a:prstDash val="solid"/>
          </a:ln>
        </p:spPr>
      </p:sp>
      <p:sp>
        <p:nvSpPr>
          <p:cNvPr id="38" name="Text 36"/>
          <p:cNvSpPr/>
          <p:nvPr/>
        </p:nvSpPr>
        <p:spPr>
          <a:xfrm>
            <a:off x="6867144" y="1463040"/>
            <a:ext cx="914400" cy="201168"/>
          </a:xfrm>
          <a:prstGeom prst="rect">
            <a:avLst/>
          </a:prstGeom>
          <a:noFill/>
          <a:ln/>
        </p:spPr>
        <p:txBody>
          <a:bodyPr wrap="square" lIns="0" tIns="0" rIns="0" bIns="0" rtlCol="0" anchor="ctr"/>
          <a:lstStyle/>
          <a:p>
            <a:pPr indent="0" marL="0">
              <a:buNone/>
            </a:pPr>
            <a:r>
              <a:rPr lang="en-US" sz="900" b="1" dirty="0">
                <a:solidFill>
                  <a:srgbClr val="0F7B6C"/>
                </a:solidFill>
              </a:rPr>
              <a:t>Phase 4</a:t>
            </a:r>
            <a:endParaRPr lang="en-US" sz="900" dirty="0"/>
          </a:p>
        </p:txBody>
      </p:sp>
      <p:sp>
        <p:nvSpPr>
          <p:cNvPr id="39" name="Text 37"/>
          <p:cNvSpPr/>
          <p:nvPr/>
        </p:nvSpPr>
        <p:spPr>
          <a:xfrm>
            <a:off x="6867144" y="1664208"/>
            <a:ext cx="1783080" cy="201168"/>
          </a:xfrm>
          <a:prstGeom prst="rect">
            <a:avLst/>
          </a:prstGeom>
          <a:noFill/>
          <a:ln/>
        </p:spPr>
        <p:txBody>
          <a:bodyPr wrap="square" lIns="0" tIns="0" rIns="0" bIns="0" rtlCol="0" anchor="ctr"/>
          <a:lstStyle/>
          <a:p>
            <a:pPr indent="0" marL="0">
              <a:buNone/>
            </a:pPr>
            <a:r>
              <a:rPr lang="en-US" sz="800" dirty="0">
                <a:solidFill>
                  <a:srgbClr val="8A94A8"/>
                </a:solidFill>
              </a:rPr>
              <a:t>Month 8–10</a:t>
            </a:r>
            <a:endParaRPr lang="en-US" sz="800" dirty="0"/>
          </a:p>
        </p:txBody>
      </p:sp>
      <p:sp>
        <p:nvSpPr>
          <p:cNvPr id="40" name="Text 38"/>
          <p:cNvSpPr/>
          <p:nvPr/>
        </p:nvSpPr>
        <p:spPr>
          <a:xfrm>
            <a:off x="6867144" y="1993392"/>
            <a:ext cx="1783080" cy="310896"/>
          </a:xfrm>
          <a:prstGeom prst="rect">
            <a:avLst/>
          </a:prstGeom>
          <a:noFill/>
          <a:ln/>
        </p:spPr>
        <p:txBody>
          <a:bodyPr wrap="square" lIns="0" tIns="0" rIns="0" bIns="0" rtlCol="0" anchor="ctr"/>
          <a:lstStyle/>
          <a:p>
            <a:pPr indent="0" marL="0">
              <a:buNone/>
            </a:pPr>
            <a:r>
              <a:rPr lang="en-US" sz="1200" b="1" dirty="0">
                <a:solidFill>
                  <a:srgbClr val="1A202C"/>
                </a:solidFill>
              </a:rPr>
              <a:t>Go-Live &amp; Scale</a:t>
            </a:r>
            <a:endParaRPr lang="en-US" sz="1200" dirty="0"/>
          </a:p>
        </p:txBody>
      </p:sp>
      <p:sp>
        <p:nvSpPr>
          <p:cNvPr id="41" name="Shape 39"/>
          <p:cNvSpPr/>
          <p:nvPr/>
        </p:nvSpPr>
        <p:spPr>
          <a:xfrm>
            <a:off x="6867144" y="2340864"/>
            <a:ext cx="1783080" cy="22860"/>
          </a:xfrm>
          <a:prstGeom prst="rect">
            <a:avLst/>
          </a:prstGeom>
          <a:solidFill>
            <a:srgbClr val="D1D9E6"/>
          </a:solidFill>
          <a:ln w="12700">
            <a:solidFill>
              <a:srgbClr val="D1D9E6"/>
            </a:solidFill>
            <a:prstDash val="solid"/>
          </a:ln>
        </p:spPr>
      </p:sp>
      <p:sp>
        <p:nvSpPr>
          <p:cNvPr id="42" name="Text 40"/>
          <p:cNvSpPr/>
          <p:nvPr/>
        </p:nvSpPr>
        <p:spPr>
          <a:xfrm>
            <a:off x="6867144" y="2395728"/>
            <a:ext cx="1783080" cy="2377440"/>
          </a:xfrm>
          <a:prstGeom prst="rect">
            <a:avLst/>
          </a:prstGeom>
          <a:noFill/>
          <a:ln/>
        </p:spPr>
        <p:txBody>
          <a:bodyPr wrap="square" rtlCol="0" anchor="ctr"/>
          <a:lstStyle/>
          <a:p>
            <a:pPr marL="342900" indent="-342900">
              <a:buSzPct val="100000"/>
              <a:buChar char="•"/>
            </a:pPr>
            <a:r>
              <a:rPr lang="en-US" sz="950" dirty="0">
                <a:solidFill>
                  <a:srgbClr val="4A5568"/>
                </a:solidFill>
              </a:rPr>
              <a:t>Production rollout — all 5 categories</a:t>
            </a:r>
            <a:endParaRPr lang="en-US" sz="950" dirty="0"/>
          </a:p>
          <a:p>
            <a:pPr marL="342900" indent="-342900">
              <a:buSzPct val="100000"/>
              <a:buChar char="•"/>
            </a:pPr>
            <a:r>
              <a:rPr lang="en-US" sz="950" dirty="0">
                <a:solidFill>
                  <a:srgbClr val="4A5568"/>
                </a:solidFill>
              </a:rPr>
              <a:t>Real-time monitoring &amp; alerting</a:t>
            </a:r>
            <a:endParaRPr lang="en-US" sz="950" dirty="0"/>
          </a:p>
          <a:p>
            <a:pPr marL="342900" indent="-342900">
              <a:buSzPct val="100000"/>
              <a:buChar char="•"/>
            </a:pPr>
            <a:r>
              <a:rPr lang="en-US" sz="950" dirty="0">
                <a:solidFill>
                  <a:srgbClr val="4A5568"/>
                </a:solidFill>
              </a:rPr>
              <a:t>Model retraining pipeline active</a:t>
            </a:r>
            <a:endParaRPr lang="en-US" sz="950" dirty="0"/>
          </a:p>
          <a:p>
            <a:pPr marL="342900" indent="-342900">
              <a:buSzPct val="100000"/>
              <a:buChar char="•"/>
            </a:pPr>
            <a:r>
              <a:rPr lang="en-US" sz="950" dirty="0">
                <a:solidFill>
                  <a:srgbClr val="4A5568"/>
                </a:solidFill>
              </a:rPr>
              <a:t>Ops team training &amp; handover</a:t>
            </a:r>
            <a:endParaRPr lang="en-US" sz="950" dirty="0"/>
          </a:p>
        </p:txBody>
      </p:sp>
      <p:sp>
        <p:nvSpPr>
          <p:cNvPr id="43" name="Shape 41"/>
          <p:cNvSpPr/>
          <p:nvPr/>
        </p:nvSpPr>
        <p:spPr>
          <a:xfrm>
            <a:off x="411480" y="4645152"/>
            <a:ext cx="8321040" cy="256032"/>
          </a:xfrm>
          <a:prstGeom prst="rect">
            <a:avLst/>
          </a:prstGeom>
          <a:solidFill>
            <a:srgbClr val="E8EBFA"/>
          </a:solidFill>
          <a:ln w="12700">
            <a:solidFill>
              <a:srgbClr val="1428A0"/>
            </a:solidFill>
            <a:prstDash val="solid"/>
          </a:ln>
        </p:spPr>
      </p:sp>
      <p:sp>
        <p:nvSpPr>
          <p:cNvPr id="44" name="Text 42"/>
          <p:cNvSpPr/>
          <p:nvPr/>
        </p:nvSpPr>
        <p:spPr>
          <a:xfrm>
            <a:off x="411480" y="4645152"/>
            <a:ext cx="8321040" cy="256032"/>
          </a:xfrm>
          <a:prstGeom prst="rect">
            <a:avLst/>
          </a:prstGeom>
          <a:noFill/>
          <a:ln/>
        </p:spPr>
        <p:txBody>
          <a:bodyPr wrap="square" lIns="0" tIns="0" rIns="0" bIns="0" rtlCol="0" anchor="ctr"/>
          <a:lstStyle/>
          <a:p>
            <a:pPr algn="ctr" indent="0" marL="0">
              <a:buNone/>
            </a:pPr>
            <a:r>
              <a:rPr lang="en-US" sz="900" b="1" dirty="0">
                <a:solidFill>
                  <a:srgbClr val="1428A0"/>
                </a:solidFill>
              </a:rPr>
              <a:t>🎯  Full Production Go-Live: Month 10  ·  Model Refresh Cycle: Quarterly  ·  SLA: 99.5% Uptime</a:t>
            </a:r>
            <a:endParaRPr lang="en-US" sz="900" dirty="0"/>
          </a:p>
        </p:txBody>
      </p:sp>
      <p:sp>
        <p:nvSpPr>
          <p:cNvPr id="45" name="Shape 43"/>
          <p:cNvSpPr/>
          <p:nvPr/>
        </p:nvSpPr>
        <p:spPr>
          <a:xfrm>
            <a:off x="0" y="4956048"/>
            <a:ext cx="9144000" cy="182880"/>
          </a:xfrm>
          <a:prstGeom prst="rect">
            <a:avLst/>
          </a:prstGeom>
          <a:solidFill>
            <a:srgbClr val="EDF0F7"/>
          </a:solidFill>
          <a:ln w="12700">
            <a:solidFill>
              <a:srgbClr val="EDF0F7"/>
            </a:solidFill>
            <a:prstDash val="solid"/>
          </a:ln>
        </p:spPr>
      </p:sp>
      <p:sp>
        <p:nvSpPr>
          <p:cNvPr id="46" name="Text 44"/>
          <p:cNvSpPr/>
          <p:nvPr/>
        </p:nvSpPr>
        <p:spPr>
          <a:xfrm>
            <a:off x="0" y="4956048"/>
            <a:ext cx="9144000" cy="182880"/>
          </a:xfrm>
          <a:prstGeom prst="rect">
            <a:avLst/>
          </a:prstGeom>
          <a:noFill/>
          <a:ln/>
        </p:spPr>
        <p:txBody>
          <a:bodyPr wrap="square" lIns="0" tIns="0" rIns="0" bIns="0" rtlCol="0" anchor="ctr"/>
          <a:lstStyle/>
          <a:p>
            <a:pPr algn="ctr" indent="0" marL="0">
              <a:buNone/>
            </a:pPr>
            <a:r>
              <a:rPr lang="en-US" sz="750" dirty="0">
                <a:solidFill>
                  <a:srgbClr val="8A94A8"/>
                </a:solidFill>
              </a:rPr>
              <a:t>CONFIDENTIAL  ·  Project CLARITY  ·  CTO Briefing  ·  May 2025</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291840" cy="5143500"/>
          </a:xfrm>
          <a:prstGeom prst="rect">
            <a:avLst/>
          </a:prstGeom>
          <a:solidFill>
            <a:srgbClr val="1428A0"/>
          </a:solidFill>
          <a:ln w="12700">
            <a:solidFill>
              <a:srgbClr val="1428A0"/>
            </a:solidFill>
            <a:prstDash val="solid"/>
          </a:ln>
        </p:spPr>
      </p:sp>
      <p:sp>
        <p:nvSpPr>
          <p:cNvPr id="3" name="Shape 1"/>
          <p:cNvSpPr/>
          <p:nvPr/>
        </p:nvSpPr>
        <p:spPr>
          <a:xfrm>
            <a:off x="3246120" y="0"/>
            <a:ext cx="54864" cy="5143500"/>
          </a:xfrm>
          <a:prstGeom prst="rect">
            <a:avLst/>
          </a:prstGeom>
          <a:solidFill>
            <a:srgbClr val="0078D4"/>
          </a:solidFill>
          <a:ln w="12700">
            <a:solidFill>
              <a:srgbClr val="0078D4"/>
            </a:solidFill>
            <a:prstDash val="solid"/>
          </a:ln>
        </p:spPr>
      </p:sp>
      <p:sp>
        <p:nvSpPr>
          <p:cNvPr id="4" name="Text 2"/>
          <p:cNvSpPr/>
          <p:nvPr/>
        </p:nvSpPr>
        <p:spPr>
          <a:xfrm>
            <a:off x="365760" y="365760"/>
            <a:ext cx="2560320" cy="274320"/>
          </a:xfrm>
          <a:prstGeom prst="rect">
            <a:avLst/>
          </a:prstGeom>
          <a:noFill/>
          <a:ln/>
        </p:spPr>
        <p:txBody>
          <a:bodyPr wrap="square" lIns="0" tIns="0" rIns="0" bIns="0" rtlCol="0" anchor="ctr"/>
          <a:lstStyle/>
          <a:p>
            <a:pPr indent="0" marL="0">
              <a:buNone/>
            </a:pPr>
            <a:r>
              <a:rPr lang="en-US" sz="1200" b="1" spc="500" kern="0" dirty="0">
                <a:solidFill>
                  <a:srgbClr val="FFFFFF"/>
                </a:solidFill>
              </a:rPr>
              <a:t>SAMSUNG</a:t>
            </a:r>
            <a:endParaRPr lang="en-US" sz="1200" dirty="0"/>
          </a:p>
        </p:txBody>
      </p:sp>
      <p:sp>
        <p:nvSpPr>
          <p:cNvPr id="5" name="Shape 3"/>
          <p:cNvSpPr/>
          <p:nvPr/>
        </p:nvSpPr>
        <p:spPr>
          <a:xfrm>
            <a:off x="365760" y="713232"/>
            <a:ext cx="411480" cy="36576"/>
          </a:xfrm>
          <a:prstGeom prst="rect">
            <a:avLst/>
          </a:prstGeom>
          <a:solidFill>
            <a:srgbClr val="0078D4"/>
          </a:solidFill>
          <a:ln w="12700">
            <a:solidFill>
              <a:srgbClr val="0078D4"/>
            </a:solidFill>
            <a:prstDash val="solid"/>
          </a:ln>
        </p:spPr>
      </p:sp>
      <p:sp>
        <p:nvSpPr>
          <p:cNvPr id="6" name="Text 4"/>
          <p:cNvSpPr/>
          <p:nvPr/>
        </p:nvSpPr>
        <p:spPr>
          <a:xfrm>
            <a:off x="365760" y="914400"/>
            <a:ext cx="2560320" cy="1097280"/>
          </a:xfrm>
          <a:prstGeom prst="rect">
            <a:avLst/>
          </a:prstGeom>
          <a:noFill/>
          <a:ln/>
        </p:spPr>
        <p:txBody>
          <a:bodyPr wrap="square" lIns="0" tIns="0" rIns="0" bIns="0" rtlCol="0" anchor="ctr"/>
          <a:lstStyle/>
          <a:p>
            <a:pPr indent="0" marL="0">
              <a:buNone/>
            </a:pPr>
            <a:r>
              <a:rPr lang="en-US" sz="3200" b="1" dirty="0">
                <a:solidFill>
                  <a:srgbClr val="FFFFFF"/>
                </a:solidFill>
              </a:rPr>
              <a:t>Project</a:t>
            </a:r>
            <a:endParaRPr lang="en-US" sz="3200" dirty="0"/>
          </a:p>
          <a:p>
            <a:pPr indent="0" marL="0">
              <a:buNone/>
            </a:pPr>
            <a:r>
              <a:rPr lang="en-US" sz="3200" b="1" dirty="0">
                <a:solidFill>
                  <a:srgbClr val="FFFFFF"/>
                </a:solidFill>
              </a:rPr>
              <a:t>CLARITY</a:t>
            </a:r>
            <a:endParaRPr lang="en-US" sz="3200" dirty="0"/>
          </a:p>
        </p:txBody>
      </p:sp>
      <p:sp>
        <p:nvSpPr>
          <p:cNvPr id="7" name="Text 5"/>
          <p:cNvSpPr/>
          <p:nvPr/>
        </p:nvSpPr>
        <p:spPr>
          <a:xfrm>
            <a:off x="365760" y="2121408"/>
            <a:ext cx="2560320" cy="640080"/>
          </a:xfrm>
          <a:prstGeom prst="rect">
            <a:avLst/>
          </a:prstGeom>
          <a:noFill/>
          <a:ln/>
        </p:spPr>
        <p:txBody>
          <a:bodyPr wrap="square" lIns="0" tIns="0" rIns="0" bIns="0" rtlCol="0" anchor="ctr"/>
          <a:lstStyle/>
          <a:p>
            <a:pPr indent="0" marL="0">
              <a:buNone/>
            </a:pPr>
            <a:r>
              <a:rPr lang="en-US" sz="1400" dirty="0">
                <a:solidFill>
                  <a:srgbClr val="B8C4E8"/>
                </a:solidFill>
              </a:rPr>
              <a:t>Next Steps &amp;</a:t>
            </a:r>
            <a:endParaRPr lang="en-US" sz="1400" dirty="0"/>
          </a:p>
          <a:p>
            <a:pPr indent="0" marL="0">
              <a:buNone/>
            </a:pPr>
            <a:r>
              <a:rPr lang="en-US" sz="1400" dirty="0">
                <a:solidFill>
                  <a:srgbClr val="B8C4E8"/>
                </a:solidFill>
              </a:rPr>
              <a:t>Approval Request</a:t>
            </a:r>
            <a:endParaRPr lang="en-US" sz="1400" dirty="0"/>
          </a:p>
        </p:txBody>
      </p:sp>
      <p:sp>
        <p:nvSpPr>
          <p:cNvPr id="8" name="Shape 6"/>
          <p:cNvSpPr/>
          <p:nvPr/>
        </p:nvSpPr>
        <p:spPr>
          <a:xfrm>
            <a:off x="365760" y="2880360"/>
            <a:ext cx="2194560" cy="27432"/>
          </a:xfrm>
          <a:prstGeom prst="rect">
            <a:avLst/>
          </a:prstGeom>
          <a:solidFill>
            <a:srgbClr val="3A52B8"/>
          </a:solidFill>
          <a:ln w="12700">
            <a:solidFill>
              <a:srgbClr val="3A52B8"/>
            </a:solidFill>
            <a:prstDash val="solid"/>
          </a:ln>
        </p:spPr>
      </p:sp>
      <p:sp>
        <p:nvSpPr>
          <p:cNvPr id="9" name="Text 7"/>
          <p:cNvSpPr/>
          <p:nvPr/>
        </p:nvSpPr>
        <p:spPr>
          <a:xfrm>
            <a:off x="365760" y="3035808"/>
            <a:ext cx="2651760" cy="594360"/>
          </a:xfrm>
          <a:prstGeom prst="rect">
            <a:avLst/>
          </a:prstGeom>
          <a:noFill/>
          <a:ln/>
        </p:spPr>
        <p:txBody>
          <a:bodyPr wrap="square" lIns="0" tIns="0" rIns="0" bIns="0" rtlCol="0" anchor="ctr"/>
          <a:lstStyle/>
          <a:p>
            <a:pPr indent="0" marL="0">
              <a:buNone/>
            </a:pPr>
            <a:r>
              <a:rPr lang="en-US" sz="1050" dirty="0">
                <a:solidFill>
                  <a:srgbClr val="8899CC"/>
                </a:solidFill>
              </a:rPr>
              <a:t>We seek CTO &amp; Senior Management</a:t>
            </a:r>
            <a:endParaRPr lang="en-US" sz="1050" dirty="0"/>
          </a:p>
          <a:p>
            <a:pPr indent="0" marL="0">
              <a:buNone/>
            </a:pPr>
            <a:r>
              <a:rPr lang="en-US" sz="1050" dirty="0">
                <a:solidFill>
                  <a:srgbClr val="8899CC"/>
                </a:solidFill>
              </a:rPr>
              <a:t>approval to initiate this programme.</a:t>
            </a:r>
            <a:endParaRPr lang="en-US" sz="1050" dirty="0"/>
          </a:p>
        </p:txBody>
      </p:sp>
      <p:sp>
        <p:nvSpPr>
          <p:cNvPr id="10" name="Text 8"/>
          <p:cNvSpPr/>
          <p:nvPr/>
        </p:nvSpPr>
        <p:spPr>
          <a:xfrm>
            <a:off x="365760" y="3749040"/>
            <a:ext cx="2651760" cy="274320"/>
          </a:xfrm>
          <a:prstGeom prst="rect">
            <a:avLst/>
          </a:prstGeom>
          <a:noFill/>
          <a:ln/>
        </p:spPr>
        <p:txBody>
          <a:bodyPr wrap="square" lIns="0" tIns="0" rIns="0" bIns="0" rtlCol="0" anchor="ctr"/>
          <a:lstStyle/>
          <a:p>
            <a:pPr indent="0" marL="0">
              <a:buNone/>
            </a:pPr>
            <a:r>
              <a:rPr lang="en-US" sz="1100" b="1" dirty="0">
                <a:solidFill>
                  <a:srgbClr val="FFFFFF"/>
                </a:solidFill>
              </a:rPr>
              <a:t>Total Ask: ₹75 Lakhs / Year</a:t>
            </a:r>
            <a:endParaRPr lang="en-US" sz="1100" dirty="0"/>
          </a:p>
        </p:txBody>
      </p:sp>
      <p:sp>
        <p:nvSpPr>
          <p:cNvPr id="11" name="Text 9"/>
          <p:cNvSpPr/>
          <p:nvPr/>
        </p:nvSpPr>
        <p:spPr>
          <a:xfrm>
            <a:off x="365760" y="4059936"/>
            <a:ext cx="2651760" cy="228600"/>
          </a:xfrm>
          <a:prstGeom prst="rect">
            <a:avLst/>
          </a:prstGeom>
          <a:noFill/>
          <a:ln/>
        </p:spPr>
        <p:txBody>
          <a:bodyPr wrap="square" lIns="0" tIns="0" rIns="0" bIns="0" rtlCol="0" anchor="ctr"/>
          <a:lstStyle/>
          <a:p>
            <a:pPr indent="0" marL="0">
              <a:buNone/>
            </a:pPr>
            <a:r>
              <a:rPr lang="en-US" sz="950" dirty="0">
                <a:solidFill>
                  <a:srgbClr val="8899CC"/>
                </a:solidFill>
              </a:rPr>
              <a:t>ROI: 3–5×  ·  Go-Live: Month 10</a:t>
            </a:r>
            <a:endParaRPr lang="en-US" sz="950" dirty="0"/>
          </a:p>
        </p:txBody>
      </p:sp>
      <p:sp>
        <p:nvSpPr>
          <p:cNvPr id="12" name="Text 10"/>
          <p:cNvSpPr/>
          <p:nvPr/>
        </p:nvSpPr>
        <p:spPr>
          <a:xfrm>
            <a:off x="365760" y="4773168"/>
            <a:ext cx="2651760" cy="201168"/>
          </a:xfrm>
          <a:prstGeom prst="rect">
            <a:avLst/>
          </a:prstGeom>
          <a:noFill/>
          <a:ln/>
        </p:spPr>
        <p:txBody>
          <a:bodyPr wrap="square" lIns="0" tIns="0" rIns="0" bIns="0" rtlCol="0" anchor="ctr"/>
          <a:lstStyle/>
          <a:p>
            <a:pPr indent="0" marL="0">
              <a:buNone/>
            </a:pPr>
            <a:r>
              <a:rPr lang="en-US" sz="800" dirty="0">
                <a:solidFill>
                  <a:srgbClr val="667799"/>
                </a:solidFill>
              </a:rPr>
              <a:t>May 2025  ·  Confidential</a:t>
            </a:r>
            <a:endParaRPr lang="en-US" sz="800" dirty="0"/>
          </a:p>
        </p:txBody>
      </p:sp>
      <p:sp>
        <p:nvSpPr>
          <p:cNvPr id="13" name="Text 11"/>
          <p:cNvSpPr/>
          <p:nvPr/>
        </p:nvSpPr>
        <p:spPr>
          <a:xfrm>
            <a:off x="3520440" y="384048"/>
            <a:ext cx="5303520" cy="347472"/>
          </a:xfrm>
          <a:prstGeom prst="rect">
            <a:avLst/>
          </a:prstGeom>
          <a:noFill/>
          <a:ln/>
        </p:spPr>
        <p:txBody>
          <a:bodyPr wrap="square" lIns="0" tIns="0" rIns="0" bIns="0" rtlCol="0" anchor="ctr"/>
          <a:lstStyle/>
          <a:p>
            <a:pPr indent="0" marL="0">
              <a:buNone/>
            </a:pPr>
            <a:r>
              <a:rPr lang="en-US" sz="1600" b="1" dirty="0">
                <a:solidFill>
                  <a:srgbClr val="1A202C"/>
                </a:solidFill>
              </a:rPr>
              <a:t>Immediate Actions Required</a:t>
            </a:r>
            <a:endParaRPr lang="en-US" sz="1600" dirty="0"/>
          </a:p>
        </p:txBody>
      </p:sp>
      <p:sp>
        <p:nvSpPr>
          <p:cNvPr id="14" name="Shape 12"/>
          <p:cNvSpPr/>
          <p:nvPr/>
        </p:nvSpPr>
        <p:spPr>
          <a:xfrm>
            <a:off x="3520440" y="786384"/>
            <a:ext cx="5303520" cy="27432"/>
          </a:xfrm>
          <a:prstGeom prst="rect">
            <a:avLst/>
          </a:prstGeom>
          <a:solidFill>
            <a:srgbClr val="D1D9E6"/>
          </a:solidFill>
          <a:ln w="12700">
            <a:solidFill>
              <a:srgbClr val="D1D9E6"/>
            </a:solidFill>
            <a:prstDash val="solid"/>
          </a:ln>
        </p:spPr>
      </p:sp>
      <p:sp>
        <p:nvSpPr>
          <p:cNvPr id="15" name="Shape 13"/>
          <p:cNvSpPr/>
          <p:nvPr/>
        </p:nvSpPr>
        <p:spPr>
          <a:xfrm>
            <a:off x="3520440" y="932688"/>
            <a:ext cx="5303520" cy="658368"/>
          </a:xfrm>
          <a:prstGeom prst="rect">
            <a:avLst/>
          </a:prstGeom>
          <a:solidFill>
            <a:srgbClr val="FFFFFF"/>
          </a:solidFill>
          <a:ln w="12700">
            <a:solidFill>
              <a:srgbClr val="D1D9E6"/>
            </a:solidFill>
            <a:prstDash val="solid"/>
          </a:ln>
          <a:effectLst>
            <a:outerShdw sx="100000" sy="100000" kx="0" ky="0" algn="bl" rotWithShape="0" blurRad="76200" dist="25400" dir="8100000">
              <a:srgbClr val="000000">
                <a:alpha val="8000"/>
              </a:srgbClr>
            </a:outerShdw>
          </a:effectLst>
        </p:spPr>
      </p:sp>
      <p:sp>
        <p:nvSpPr>
          <p:cNvPr id="16" name="Shape 14"/>
          <p:cNvSpPr/>
          <p:nvPr/>
        </p:nvSpPr>
        <p:spPr>
          <a:xfrm>
            <a:off x="3520440" y="932688"/>
            <a:ext cx="54864" cy="658368"/>
          </a:xfrm>
          <a:prstGeom prst="rect">
            <a:avLst/>
          </a:prstGeom>
          <a:solidFill>
            <a:srgbClr val="1428A0"/>
          </a:solidFill>
          <a:ln w="12700">
            <a:solidFill>
              <a:srgbClr val="1428A0"/>
            </a:solidFill>
            <a:prstDash val="solid"/>
          </a:ln>
        </p:spPr>
      </p:sp>
      <p:sp>
        <p:nvSpPr>
          <p:cNvPr id="17" name="Shape 15"/>
          <p:cNvSpPr/>
          <p:nvPr/>
        </p:nvSpPr>
        <p:spPr>
          <a:xfrm>
            <a:off x="3575304" y="932688"/>
            <a:ext cx="475488" cy="658368"/>
          </a:xfrm>
          <a:prstGeom prst="rect">
            <a:avLst/>
          </a:prstGeom>
          <a:solidFill>
            <a:srgbClr val="E8EBFA"/>
          </a:solidFill>
          <a:ln w="12700">
            <a:solidFill>
              <a:srgbClr val="E8EBFA"/>
            </a:solidFill>
            <a:prstDash val="solid"/>
          </a:ln>
        </p:spPr>
      </p:sp>
      <p:sp>
        <p:nvSpPr>
          <p:cNvPr id="18" name="Text 16"/>
          <p:cNvSpPr/>
          <p:nvPr/>
        </p:nvSpPr>
        <p:spPr>
          <a:xfrm>
            <a:off x="3575304" y="932688"/>
            <a:ext cx="475488" cy="658368"/>
          </a:xfrm>
          <a:prstGeom prst="rect">
            <a:avLst/>
          </a:prstGeom>
          <a:noFill/>
          <a:ln/>
        </p:spPr>
        <p:txBody>
          <a:bodyPr wrap="square" lIns="0" tIns="0" rIns="0" bIns="0" rtlCol="0" anchor="ctr"/>
          <a:lstStyle/>
          <a:p>
            <a:pPr algn="ctr" indent="0" marL="0">
              <a:buNone/>
            </a:pPr>
            <a:r>
              <a:rPr lang="en-US" sz="1300" b="1" dirty="0">
                <a:solidFill>
                  <a:srgbClr val="1428A0"/>
                </a:solidFill>
              </a:rPr>
              <a:t>01</a:t>
            </a:r>
            <a:endParaRPr lang="en-US" sz="1300" dirty="0"/>
          </a:p>
        </p:txBody>
      </p:sp>
      <p:sp>
        <p:nvSpPr>
          <p:cNvPr id="19" name="Text 17"/>
          <p:cNvSpPr/>
          <p:nvPr/>
        </p:nvSpPr>
        <p:spPr>
          <a:xfrm>
            <a:off x="4133088" y="1005840"/>
            <a:ext cx="3310128" cy="256032"/>
          </a:xfrm>
          <a:prstGeom prst="rect">
            <a:avLst/>
          </a:prstGeom>
          <a:noFill/>
          <a:ln/>
        </p:spPr>
        <p:txBody>
          <a:bodyPr wrap="square" lIns="0" tIns="0" rIns="0" bIns="0" rtlCol="0" anchor="ctr"/>
          <a:lstStyle/>
          <a:p>
            <a:pPr indent="0" marL="0">
              <a:buNone/>
            </a:pPr>
            <a:r>
              <a:rPr lang="en-US" sz="1050" b="1" dirty="0">
                <a:solidFill>
                  <a:srgbClr val="1A202C"/>
                </a:solidFill>
              </a:rPr>
              <a:t>Approve project budget of ₹75L per annum</a:t>
            </a:r>
            <a:endParaRPr lang="en-US" sz="1050" dirty="0"/>
          </a:p>
        </p:txBody>
      </p:sp>
      <p:sp>
        <p:nvSpPr>
          <p:cNvPr id="20" name="Text 18"/>
          <p:cNvSpPr/>
          <p:nvPr/>
        </p:nvSpPr>
        <p:spPr>
          <a:xfrm>
            <a:off x="4133088" y="1298448"/>
            <a:ext cx="3310128" cy="219456"/>
          </a:xfrm>
          <a:prstGeom prst="rect">
            <a:avLst/>
          </a:prstGeom>
          <a:noFill/>
          <a:ln/>
        </p:spPr>
        <p:txBody>
          <a:bodyPr wrap="square" lIns="0" tIns="0" rIns="0" bIns="0" rtlCol="0" anchor="ctr"/>
          <a:lstStyle/>
          <a:p>
            <a:pPr indent="0" marL="0">
              <a:buNone/>
            </a:pPr>
            <a:r>
              <a:rPr lang="en-US" sz="850" dirty="0">
                <a:solidFill>
                  <a:srgbClr val="8A94A8"/>
                </a:solidFill>
              </a:rPr>
              <a:t>CTO / Senior Management  ·  Immediate</a:t>
            </a:r>
            <a:endParaRPr lang="en-US" sz="850" dirty="0"/>
          </a:p>
        </p:txBody>
      </p:sp>
      <p:sp>
        <p:nvSpPr>
          <p:cNvPr id="21" name="Text 19"/>
          <p:cNvSpPr/>
          <p:nvPr/>
        </p:nvSpPr>
        <p:spPr>
          <a:xfrm>
            <a:off x="7516368" y="1024128"/>
            <a:ext cx="1234440" cy="256032"/>
          </a:xfrm>
          <a:prstGeom prst="rect">
            <a:avLst/>
          </a:prstGeom>
          <a:noFill/>
          <a:ln/>
        </p:spPr>
        <p:txBody>
          <a:bodyPr wrap="square" lIns="0" tIns="0" rIns="0" bIns="0" rtlCol="0" anchor="ctr"/>
          <a:lstStyle/>
          <a:p>
            <a:pPr algn="r" indent="0" marL="0">
              <a:buNone/>
            </a:pPr>
            <a:r>
              <a:rPr lang="en-US" sz="900" b="1" dirty="0">
                <a:solidFill>
                  <a:srgbClr val="1428A0"/>
                </a:solidFill>
              </a:rPr>
              <a:t>Immediate</a:t>
            </a:r>
            <a:endParaRPr lang="en-US" sz="900" dirty="0"/>
          </a:p>
        </p:txBody>
      </p:sp>
      <p:sp>
        <p:nvSpPr>
          <p:cNvPr id="22" name="Shape 20"/>
          <p:cNvSpPr/>
          <p:nvPr/>
        </p:nvSpPr>
        <p:spPr>
          <a:xfrm>
            <a:off x="3520440" y="1709928"/>
            <a:ext cx="5303520" cy="658368"/>
          </a:xfrm>
          <a:prstGeom prst="rect">
            <a:avLst/>
          </a:prstGeom>
          <a:solidFill>
            <a:srgbClr val="FFFFFF"/>
          </a:solidFill>
          <a:ln w="12700">
            <a:solidFill>
              <a:srgbClr val="D1D9E6"/>
            </a:solidFill>
            <a:prstDash val="solid"/>
          </a:ln>
          <a:effectLst>
            <a:outerShdw sx="100000" sy="100000" kx="0" ky="0" algn="bl" rotWithShape="0" blurRad="76200" dist="25400" dir="8100000">
              <a:srgbClr val="000000">
                <a:alpha val="8000"/>
              </a:srgbClr>
            </a:outerShdw>
          </a:effectLst>
        </p:spPr>
      </p:sp>
      <p:sp>
        <p:nvSpPr>
          <p:cNvPr id="23" name="Shape 21"/>
          <p:cNvSpPr/>
          <p:nvPr/>
        </p:nvSpPr>
        <p:spPr>
          <a:xfrm>
            <a:off x="3520440" y="1709928"/>
            <a:ext cx="54864" cy="658368"/>
          </a:xfrm>
          <a:prstGeom prst="rect">
            <a:avLst/>
          </a:prstGeom>
          <a:solidFill>
            <a:srgbClr val="1428A0"/>
          </a:solidFill>
          <a:ln w="12700">
            <a:solidFill>
              <a:srgbClr val="1428A0"/>
            </a:solidFill>
            <a:prstDash val="solid"/>
          </a:ln>
        </p:spPr>
      </p:sp>
      <p:sp>
        <p:nvSpPr>
          <p:cNvPr id="24" name="Shape 22"/>
          <p:cNvSpPr/>
          <p:nvPr/>
        </p:nvSpPr>
        <p:spPr>
          <a:xfrm>
            <a:off x="3575304" y="1709928"/>
            <a:ext cx="475488" cy="658368"/>
          </a:xfrm>
          <a:prstGeom prst="rect">
            <a:avLst/>
          </a:prstGeom>
          <a:solidFill>
            <a:srgbClr val="E8EBFA"/>
          </a:solidFill>
          <a:ln w="12700">
            <a:solidFill>
              <a:srgbClr val="E8EBFA"/>
            </a:solidFill>
            <a:prstDash val="solid"/>
          </a:ln>
        </p:spPr>
      </p:sp>
      <p:sp>
        <p:nvSpPr>
          <p:cNvPr id="25" name="Text 23"/>
          <p:cNvSpPr/>
          <p:nvPr/>
        </p:nvSpPr>
        <p:spPr>
          <a:xfrm>
            <a:off x="3575304" y="1709928"/>
            <a:ext cx="475488" cy="658368"/>
          </a:xfrm>
          <a:prstGeom prst="rect">
            <a:avLst/>
          </a:prstGeom>
          <a:noFill/>
          <a:ln/>
        </p:spPr>
        <p:txBody>
          <a:bodyPr wrap="square" lIns="0" tIns="0" rIns="0" bIns="0" rtlCol="0" anchor="ctr"/>
          <a:lstStyle/>
          <a:p>
            <a:pPr algn="ctr" indent="0" marL="0">
              <a:buNone/>
            </a:pPr>
            <a:r>
              <a:rPr lang="en-US" sz="1300" b="1" dirty="0">
                <a:solidFill>
                  <a:srgbClr val="1428A0"/>
                </a:solidFill>
              </a:rPr>
              <a:t>02</a:t>
            </a:r>
            <a:endParaRPr lang="en-US" sz="1300" dirty="0"/>
          </a:p>
        </p:txBody>
      </p:sp>
      <p:sp>
        <p:nvSpPr>
          <p:cNvPr id="26" name="Text 24"/>
          <p:cNvSpPr/>
          <p:nvPr/>
        </p:nvSpPr>
        <p:spPr>
          <a:xfrm>
            <a:off x="4133088" y="1783080"/>
            <a:ext cx="3310128" cy="256032"/>
          </a:xfrm>
          <a:prstGeom prst="rect">
            <a:avLst/>
          </a:prstGeom>
          <a:noFill/>
          <a:ln/>
        </p:spPr>
        <p:txBody>
          <a:bodyPr wrap="square" lIns="0" tIns="0" rIns="0" bIns="0" rtlCol="0" anchor="ctr"/>
          <a:lstStyle/>
          <a:p>
            <a:pPr indent="0" marL="0">
              <a:buNone/>
            </a:pPr>
            <a:r>
              <a:rPr lang="en-US" sz="1050" b="1" dirty="0">
                <a:solidFill>
                  <a:srgbClr val="1A202C"/>
                </a:solidFill>
              </a:rPr>
              <a:t>Constitute core project team — AI/ML, IT Infra, Service Ops</a:t>
            </a:r>
            <a:endParaRPr lang="en-US" sz="1050" dirty="0"/>
          </a:p>
        </p:txBody>
      </p:sp>
      <p:sp>
        <p:nvSpPr>
          <p:cNvPr id="27" name="Text 25"/>
          <p:cNvSpPr/>
          <p:nvPr/>
        </p:nvSpPr>
        <p:spPr>
          <a:xfrm>
            <a:off x="4133088" y="2075688"/>
            <a:ext cx="3310128" cy="219456"/>
          </a:xfrm>
          <a:prstGeom prst="rect">
            <a:avLst/>
          </a:prstGeom>
          <a:noFill/>
          <a:ln/>
        </p:spPr>
        <p:txBody>
          <a:bodyPr wrap="square" lIns="0" tIns="0" rIns="0" bIns="0" rtlCol="0" anchor="ctr"/>
          <a:lstStyle/>
          <a:p>
            <a:pPr indent="0" marL="0">
              <a:buNone/>
            </a:pPr>
            <a:r>
              <a:rPr lang="en-US" sz="850" dirty="0">
                <a:solidFill>
                  <a:srgbClr val="8A94A8"/>
                </a:solidFill>
              </a:rPr>
              <a:t>IT + HR  ·  Week 1</a:t>
            </a:r>
            <a:endParaRPr lang="en-US" sz="850" dirty="0"/>
          </a:p>
        </p:txBody>
      </p:sp>
      <p:sp>
        <p:nvSpPr>
          <p:cNvPr id="28" name="Text 26"/>
          <p:cNvSpPr/>
          <p:nvPr/>
        </p:nvSpPr>
        <p:spPr>
          <a:xfrm>
            <a:off x="7516368" y="1801368"/>
            <a:ext cx="1234440" cy="256032"/>
          </a:xfrm>
          <a:prstGeom prst="rect">
            <a:avLst/>
          </a:prstGeom>
          <a:noFill/>
          <a:ln/>
        </p:spPr>
        <p:txBody>
          <a:bodyPr wrap="square" lIns="0" tIns="0" rIns="0" bIns="0" rtlCol="0" anchor="ctr"/>
          <a:lstStyle/>
          <a:p>
            <a:pPr algn="r" indent="0" marL="0">
              <a:buNone/>
            </a:pPr>
            <a:r>
              <a:rPr lang="en-US" sz="900" b="1" dirty="0">
                <a:solidFill>
                  <a:srgbClr val="1428A0"/>
                </a:solidFill>
              </a:rPr>
              <a:t>Week 1</a:t>
            </a:r>
            <a:endParaRPr lang="en-US" sz="900" dirty="0"/>
          </a:p>
        </p:txBody>
      </p:sp>
      <p:sp>
        <p:nvSpPr>
          <p:cNvPr id="29" name="Shape 27"/>
          <p:cNvSpPr/>
          <p:nvPr/>
        </p:nvSpPr>
        <p:spPr>
          <a:xfrm>
            <a:off x="3520440" y="2487168"/>
            <a:ext cx="5303520" cy="658368"/>
          </a:xfrm>
          <a:prstGeom prst="rect">
            <a:avLst/>
          </a:prstGeom>
          <a:solidFill>
            <a:srgbClr val="FFFFFF"/>
          </a:solidFill>
          <a:ln w="12700">
            <a:solidFill>
              <a:srgbClr val="D1D9E6"/>
            </a:solidFill>
            <a:prstDash val="solid"/>
          </a:ln>
          <a:effectLst>
            <a:outerShdw sx="100000" sy="100000" kx="0" ky="0" algn="bl" rotWithShape="0" blurRad="76200" dist="25400" dir="8100000">
              <a:srgbClr val="000000">
                <a:alpha val="8000"/>
              </a:srgbClr>
            </a:outerShdw>
          </a:effectLst>
        </p:spPr>
      </p:sp>
      <p:sp>
        <p:nvSpPr>
          <p:cNvPr id="30" name="Shape 28"/>
          <p:cNvSpPr/>
          <p:nvPr/>
        </p:nvSpPr>
        <p:spPr>
          <a:xfrm>
            <a:off x="3520440" y="2487168"/>
            <a:ext cx="54864" cy="658368"/>
          </a:xfrm>
          <a:prstGeom prst="rect">
            <a:avLst/>
          </a:prstGeom>
          <a:solidFill>
            <a:srgbClr val="1428A0"/>
          </a:solidFill>
          <a:ln w="12700">
            <a:solidFill>
              <a:srgbClr val="1428A0"/>
            </a:solidFill>
            <a:prstDash val="solid"/>
          </a:ln>
        </p:spPr>
      </p:sp>
      <p:sp>
        <p:nvSpPr>
          <p:cNvPr id="31" name="Shape 29"/>
          <p:cNvSpPr/>
          <p:nvPr/>
        </p:nvSpPr>
        <p:spPr>
          <a:xfrm>
            <a:off x="3575304" y="2487168"/>
            <a:ext cx="475488" cy="658368"/>
          </a:xfrm>
          <a:prstGeom prst="rect">
            <a:avLst/>
          </a:prstGeom>
          <a:solidFill>
            <a:srgbClr val="E8EBFA"/>
          </a:solidFill>
          <a:ln w="12700">
            <a:solidFill>
              <a:srgbClr val="E8EBFA"/>
            </a:solidFill>
            <a:prstDash val="solid"/>
          </a:ln>
        </p:spPr>
      </p:sp>
      <p:sp>
        <p:nvSpPr>
          <p:cNvPr id="32" name="Text 30"/>
          <p:cNvSpPr/>
          <p:nvPr/>
        </p:nvSpPr>
        <p:spPr>
          <a:xfrm>
            <a:off x="3575304" y="2487168"/>
            <a:ext cx="475488" cy="658368"/>
          </a:xfrm>
          <a:prstGeom prst="rect">
            <a:avLst/>
          </a:prstGeom>
          <a:noFill/>
          <a:ln/>
        </p:spPr>
        <p:txBody>
          <a:bodyPr wrap="square" lIns="0" tIns="0" rIns="0" bIns="0" rtlCol="0" anchor="ctr"/>
          <a:lstStyle/>
          <a:p>
            <a:pPr algn="ctr" indent="0" marL="0">
              <a:buNone/>
            </a:pPr>
            <a:r>
              <a:rPr lang="en-US" sz="1300" b="1" dirty="0">
                <a:solidFill>
                  <a:srgbClr val="1428A0"/>
                </a:solidFill>
              </a:rPr>
              <a:t>03</a:t>
            </a:r>
            <a:endParaRPr lang="en-US" sz="1300" dirty="0"/>
          </a:p>
        </p:txBody>
      </p:sp>
      <p:sp>
        <p:nvSpPr>
          <p:cNvPr id="33" name="Text 31"/>
          <p:cNvSpPr/>
          <p:nvPr/>
        </p:nvSpPr>
        <p:spPr>
          <a:xfrm>
            <a:off x="4133088" y="2560320"/>
            <a:ext cx="3310128" cy="256032"/>
          </a:xfrm>
          <a:prstGeom prst="rect">
            <a:avLst/>
          </a:prstGeom>
          <a:noFill/>
          <a:ln/>
        </p:spPr>
        <p:txBody>
          <a:bodyPr wrap="square" lIns="0" tIns="0" rIns="0" bIns="0" rtlCol="0" anchor="ctr"/>
          <a:lstStyle/>
          <a:p>
            <a:pPr indent="0" marL="0">
              <a:buNone/>
            </a:pPr>
            <a:r>
              <a:rPr lang="en-US" sz="1050" b="1" dirty="0">
                <a:solidFill>
                  <a:srgbClr val="1A202C"/>
                </a:solidFill>
              </a:rPr>
              <a:t>Initiate warranty data collection &amp; rule documentation</a:t>
            </a:r>
            <a:endParaRPr lang="en-US" sz="1050" dirty="0"/>
          </a:p>
        </p:txBody>
      </p:sp>
      <p:sp>
        <p:nvSpPr>
          <p:cNvPr id="34" name="Text 32"/>
          <p:cNvSpPr/>
          <p:nvPr/>
        </p:nvSpPr>
        <p:spPr>
          <a:xfrm>
            <a:off x="4133088" y="2852928"/>
            <a:ext cx="3310128" cy="219456"/>
          </a:xfrm>
          <a:prstGeom prst="rect">
            <a:avLst/>
          </a:prstGeom>
          <a:noFill/>
          <a:ln/>
        </p:spPr>
        <p:txBody>
          <a:bodyPr wrap="square" lIns="0" tIns="0" rIns="0" bIns="0" rtlCol="0" anchor="ctr"/>
          <a:lstStyle/>
          <a:p>
            <a:pPr indent="0" marL="0">
              <a:buNone/>
            </a:pPr>
            <a:r>
              <a:rPr lang="en-US" sz="850" dirty="0">
                <a:solidFill>
                  <a:srgbClr val="8A94A8"/>
                </a:solidFill>
              </a:rPr>
              <a:t>Service Operations  ·  Week 2</a:t>
            </a:r>
            <a:endParaRPr lang="en-US" sz="850" dirty="0"/>
          </a:p>
        </p:txBody>
      </p:sp>
      <p:sp>
        <p:nvSpPr>
          <p:cNvPr id="35" name="Text 33"/>
          <p:cNvSpPr/>
          <p:nvPr/>
        </p:nvSpPr>
        <p:spPr>
          <a:xfrm>
            <a:off x="7516368" y="2578608"/>
            <a:ext cx="1234440" cy="256032"/>
          </a:xfrm>
          <a:prstGeom prst="rect">
            <a:avLst/>
          </a:prstGeom>
          <a:noFill/>
          <a:ln/>
        </p:spPr>
        <p:txBody>
          <a:bodyPr wrap="square" lIns="0" tIns="0" rIns="0" bIns="0" rtlCol="0" anchor="ctr"/>
          <a:lstStyle/>
          <a:p>
            <a:pPr algn="r" indent="0" marL="0">
              <a:buNone/>
            </a:pPr>
            <a:r>
              <a:rPr lang="en-US" sz="900" b="1" dirty="0">
                <a:solidFill>
                  <a:srgbClr val="1428A0"/>
                </a:solidFill>
              </a:rPr>
              <a:t>Week 2</a:t>
            </a:r>
            <a:endParaRPr lang="en-US" sz="900" dirty="0"/>
          </a:p>
        </p:txBody>
      </p:sp>
      <p:sp>
        <p:nvSpPr>
          <p:cNvPr id="36" name="Shape 34"/>
          <p:cNvSpPr/>
          <p:nvPr/>
        </p:nvSpPr>
        <p:spPr>
          <a:xfrm>
            <a:off x="3520440" y="3264408"/>
            <a:ext cx="5303520" cy="658368"/>
          </a:xfrm>
          <a:prstGeom prst="rect">
            <a:avLst/>
          </a:prstGeom>
          <a:solidFill>
            <a:srgbClr val="FFFFFF"/>
          </a:solidFill>
          <a:ln w="12700">
            <a:solidFill>
              <a:srgbClr val="D1D9E6"/>
            </a:solidFill>
            <a:prstDash val="solid"/>
          </a:ln>
          <a:effectLst>
            <a:outerShdw sx="100000" sy="100000" kx="0" ky="0" algn="bl" rotWithShape="0" blurRad="76200" dist="25400" dir="8100000">
              <a:srgbClr val="000000">
                <a:alpha val="8000"/>
              </a:srgbClr>
            </a:outerShdw>
          </a:effectLst>
        </p:spPr>
      </p:sp>
      <p:sp>
        <p:nvSpPr>
          <p:cNvPr id="37" name="Shape 35"/>
          <p:cNvSpPr/>
          <p:nvPr/>
        </p:nvSpPr>
        <p:spPr>
          <a:xfrm>
            <a:off x="3520440" y="3264408"/>
            <a:ext cx="54864" cy="658368"/>
          </a:xfrm>
          <a:prstGeom prst="rect">
            <a:avLst/>
          </a:prstGeom>
          <a:solidFill>
            <a:srgbClr val="1428A0"/>
          </a:solidFill>
          <a:ln w="12700">
            <a:solidFill>
              <a:srgbClr val="1428A0"/>
            </a:solidFill>
            <a:prstDash val="solid"/>
          </a:ln>
        </p:spPr>
      </p:sp>
      <p:sp>
        <p:nvSpPr>
          <p:cNvPr id="38" name="Shape 36"/>
          <p:cNvSpPr/>
          <p:nvPr/>
        </p:nvSpPr>
        <p:spPr>
          <a:xfrm>
            <a:off x="3575304" y="3264408"/>
            <a:ext cx="475488" cy="658368"/>
          </a:xfrm>
          <a:prstGeom prst="rect">
            <a:avLst/>
          </a:prstGeom>
          <a:solidFill>
            <a:srgbClr val="E8EBFA"/>
          </a:solidFill>
          <a:ln w="12700">
            <a:solidFill>
              <a:srgbClr val="E8EBFA"/>
            </a:solidFill>
            <a:prstDash val="solid"/>
          </a:ln>
        </p:spPr>
      </p:sp>
      <p:sp>
        <p:nvSpPr>
          <p:cNvPr id="39" name="Text 37"/>
          <p:cNvSpPr/>
          <p:nvPr/>
        </p:nvSpPr>
        <p:spPr>
          <a:xfrm>
            <a:off x="3575304" y="3264408"/>
            <a:ext cx="475488" cy="658368"/>
          </a:xfrm>
          <a:prstGeom prst="rect">
            <a:avLst/>
          </a:prstGeom>
          <a:noFill/>
          <a:ln/>
        </p:spPr>
        <p:txBody>
          <a:bodyPr wrap="square" lIns="0" tIns="0" rIns="0" bIns="0" rtlCol="0" anchor="ctr"/>
          <a:lstStyle/>
          <a:p>
            <a:pPr algn="ctr" indent="0" marL="0">
              <a:buNone/>
            </a:pPr>
            <a:r>
              <a:rPr lang="en-US" sz="1300" b="1" dirty="0">
                <a:solidFill>
                  <a:srgbClr val="1428A0"/>
                </a:solidFill>
              </a:rPr>
              <a:t>04</a:t>
            </a:r>
            <a:endParaRPr lang="en-US" sz="1300" dirty="0"/>
          </a:p>
        </p:txBody>
      </p:sp>
      <p:sp>
        <p:nvSpPr>
          <p:cNvPr id="40" name="Text 38"/>
          <p:cNvSpPr/>
          <p:nvPr/>
        </p:nvSpPr>
        <p:spPr>
          <a:xfrm>
            <a:off x="4133088" y="3337560"/>
            <a:ext cx="3310128" cy="256032"/>
          </a:xfrm>
          <a:prstGeom prst="rect">
            <a:avLst/>
          </a:prstGeom>
          <a:noFill/>
          <a:ln/>
        </p:spPr>
        <p:txBody>
          <a:bodyPr wrap="square" lIns="0" tIns="0" rIns="0" bIns="0" rtlCol="0" anchor="ctr"/>
          <a:lstStyle/>
          <a:p>
            <a:pPr indent="0" marL="0">
              <a:buNone/>
            </a:pPr>
            <a:r>
              <a:rPr lang="en-US" sz="1050" b="1" dirty="0">
                <a:solidFill>
                  <a:srgbClr val="1A202C"/>
                </a:solidFill>
              </a:rPr>
              <a:t>Procure &amp; provision Samsung Cloud GPU resources</a:t>
            </a:r>
            <a:endParaRPr lang="en-US" sz="1050" dirty="0"/>
          </a:p>
        </p:txBody>
      </p:sp>
      <p:sp>
        <p:nvSpPr>
          <p:cNvPr id="41" name="Text 39"/>
          <p:cNvSpPr/>
          <p:nvPr/>
        </p:nvSpPr>
        <p:spPr>
          <a:xfrm>
            <a:off x="4133088" y="3630168"/>
            <a:ext cx="3310128" cy="219456"/>
          </a:xfrm>
          <a:prstGeom prst="rect">
            <a:avLst/>
          </a:prstGeom>
          <a:noFill/>
          <a:ln/>
        </p:spPr>
        <p:txBody>
          <a:bodyPr wrap="square" lIns="0" tIns="0" rIns="0" bIns="0" rtlCol="0" anchor="ctr"/>
          <a:lstStyle/>
          <a:p>
            <a:pPr indent="0" marL="0">
              <a:buNone/>
            </a:pPr>
            <a:r>
              <a:rPr lang="en-US" sz="850" dirty="0">
                <a:solidFill>
                  <a:srgbClr val="8A94A8"/>
                </a:solidFill>
              </a:rPr>
              <a:t>IT Infrastructure  ·  Week 3</a:t>
            </a:r>
            <a:endParaRPr lang="en-US" sz="850" dirty="0"/>
          </a:p>
        </p:txBody>
      </p:sp>
      <p:sp>
        <p:nvSpPr>
          <p:cNvPr id="42" name="Text 40"/>
          <p:cNvSpPr/>
          <p:nvPr/>
        </p:nvSpPr>
        <p:spPr>
          <a:xfrm>
            <a:off x="7516368" y="3355848"/>
            <a:ext cx="1234440" cy="256032"/>
          </a:xfrm>
          <a:prstGeom prst="rect">
            <a:avLst/>
          </a:prstGeom>
          <a:noFill/>
          <a:ln/>
        </p:spPr>
        <p:txBody>
          <a:bodyPr wrap="square" lIns="0" tIns="0" rIns="0" bIns="0" rtlCol="0" anchor="ctr"/>
          <a:lstStyle/>
          <a:p>
            <a:pPr algn="r" indent="0" marL="0">
              <a:buNone/>
            </a:pPr>
            <a:r>
              <a:rPr lang="en-US" sz="900" b="1" dirty="0">
                <a:solidFill>
                  <a:srgbClr val="1428A0"/>
                </a:solidFill>
              </a:rPr>
              <a:t>Week 3</a:t>
            </a:r>
            <a:endParaRPr lang="en-US" sz="900" dirty="0"/>
          </a:p>
        </p:txBody>
      </p:sp>
      <p:sp>
        <p:nvSpPr>
          <p:cNvPr id="43" name="Shape 41"/>
          <p:cNvSpPr/>
          <p:nvPr/>
        </p:nvSpPr>
        <p:spPr>
          <a:xfrm>
            <a:off x="3520440" y="4041648"/>
            <a:ext cx="5303520" cy="658368"/>
          </a:xfrm>
          <a:prstGeom prst="rect">
            <a:avLst/>
          </a:prstGeom>
          <a:solidFill>
            <a:srgbClr val="FFFFFF"/>
          </a:solidFill>
          <a:ln w="12700">
            <a:solidFill>
              <a:srgbClr val="D1D9E6"/>
            </a:solidFill>
            <a:prstDash val="solid"/>
          </a:ln>
          <a:effectLst>
            <a:outerShdw sx="100000" sy="100000" kx="0" ky="0" algn="bl" rotWithShape="0" blurRad="76200" dist="25400" dir="8100000">
              <a:srgbClr val="000000">
                <a:alpha val="8000"/>
              </a:srgbClr>
            </a:outerShdw>
          </a:effectLst>
        </p:spPr>
      </p:sp>
      <p:sp>
        <p:nvSpPr>
          <p:cNvPr id="44" name="Shape 42"/>
          <p:cNvSpPr/>
          <p:nvPr/>
        </p:nvSpPr>
        <p:spPr>
          <a:xfrm>
            <a:off x="3520440" y="4041648"/>
            <a:ext cx="54864" cy="658368"/>
          </a:xfrm>
          <a:prstGeom prst="rect">
            <a:avLst/>
          </a:prstGeom>
          <a:solidFill>
            <a:srgbClr val="1428A0"/>
          </a:solidFill>
          <a:ln w="12700">
            <a:solidFill>
              <a:srgbClr val="1428A0"/>
            </a:solidFill>
            <a:prstDash val="solid"/>
          </a:ln>
        </p:spPr>
      </p:sp>
      <p:sp>
        <p:nvSpPr>
          <p:cNvPr id="45" name="Shape 43"/>
          <p:cNvSpPr/>
          <p:nvPr/>
        </p:nvSpPr>
        <p:spPr>
          <a:xfrm>
            <a:off x="3575304" y="4041648"/>
            <a:ext cx="475488" cy="658368"/>
          </a:xfrm>
          <a:prstGeom prst="rect">
            <a:avLst/>
          </a:prstGeom>
          <a:solidFill>
            <a:srgbClr val="E8EBFA"/>
          </a:solidFill>
          <a:ln w="12700">
            <a:solidFill>
              <a:srgbClr val="E8EBFA"/>
            </a:solidFill>
            <a:prstDash val="solid"/>
          </a:ln>
        </p:spPr>
      </p:sp>
      <p:sp>
        <p:nvSpPr>
          <p:cNvPr id="46" name="Text 44"/>
          <p:cNvSpPr/>
          <p:nvPr/>
        </p:nvSpPr>
        <p:spPr>
          <a:xfrm>
            <a:off x="3575304" y="4041648"/>
            <a:ext cx="475488" cy="658368"/>
          </a:xfrm>
          <a:prstGeom prst="rect">
            <a:avLst/>
          </a:prstGeom>
          <a:noFill/>
          <a:ln/>
        </p:spPr>
        <p:txBody>
          <a:bodyPr wrap="square" lIns="0" tIns="0" rIns="0" bIns="0" rtlCol="0" anchor="ctr"/>
          <a:lstStyle/>
          <a:p>
            <a:pPr algn="ctr" indent="0" marL="0">
              <a:buNone/>
            </a:pPr>
            <a:r>
              <a:rPr lang="en-US" sz="1300" b="1" dirty="0">
                <a:solidFill>
                  <a:srgbClr val="1428A0"/>
                </a:solidFill>
              </a:rPr>
              <a:t>05</a:t>
            </a:r>
            <a:endParaRPr lang="en-US" sz="1300" dirty="0"/>
          </a:p>
        </p:txBody>
      </p:sp>
      <p:sp>
        <p:nvSpPr>
          <p:cNvPr id="47" name="Text 45"/>
          <p:cNvSpPr/>
          <p:nvPr/>
        </p:nvSpPr>
        <p:spPr>
          <a:xfrm>
            <a:off x="4133088" y="4114800"/>
            <a:ext cx="3310128" cy="256032"/>
          </a:xfrm>
          <a:prstGeom prst="rect">
            <a:avLst/>
          </a:prstGeom>
          <a:noFill/>
          <a:ln/>
        </p:spPr>
        <p:txBody>
          <a:bodyPr wrap="square" lIns="0" tIns="0" rIns="0" bIns="0" rtlCol="0" anchor="ctr"/>
          <a:lstStyle/>
          <a:p>
            <a:pPr indent="0" marL="0">
              <a:buNone/>
            </a:pPr>
            <a:r>
              <a:rPr lang="en-US" sz="1050" b="1" dirty="0">
                <a:solidFill>
                  <a:srgbClr val="1A202C"/>
                </a:solidFill>
              </a:rPr>
              <a:t>Launch Phase 1 — OCR model development sprint</a:t>
            </a:r>
            <a:endParaRPr lang="en-US" sz="1050" dirty="0"/>
          </a:p>
        </p:txBody>
      </p:sp>
      <p:sp>
        <p:nvSpPr>
          <p:cNvPr id="48" name="Text 46"/>
          <p:cNvSpPr/>
          <p:nvPr/>
        </p:nvSpPr>
        <p:spPr>
          <a:xfrm>
            <a:off x="4133088" y="4407408"/>
            <a:ext cx="3310128" cy="219456"/>
          </a:xfrm>
          <a:prstGeom prst="rect">
            <a:avLst/>
          </a:prstGeom>
          <a:noFill/>
          <a:ln/>
        </p:spPr>
        <p:txBody>
          <a:bodyPr wrap="square" lIns="0" tIns="0" rIns="0" bIns="0" rtlCol="0" anchor="ctr"/>
          <a:lstStyle/>
          <a:p>
            <a:pPr indent="0" marL="0">
              <a:buNone/>
            </a:pPr>
            <a:r>
              <a:rPr lang="en-US" sz="850" dirty="0">
                <a:solidFill>
                  <a:srgbClr val="8A94A8"/>
                </a:solidFill>
              </a:rPr>
              <a:t>AI/ML Team  ·  Month 1</a:t>
            </a:r>
            <a:endParaRPr lang="en-US" sz="850" dirty="0"/>
          </a:p>
        </p:txBody>
      </p:sp>
      <p:sp>
        <p:nvSpPr>
          <p:cNvPr id="49" name="Text 47"/>
          <p:cNvSpPr/>
          <p:nvPr/>
        </p:nvSpPr>
        <p:spPr>
          <a:xfrm>
            <a:off x="7516368" y="4133088"/>
            <a:ext cx="1234440" cy="256032"/>
          </a:xfrm>
          <a:prstGeom prst="rect">
            <a:avLst/>
          </a:prstGeom>
          <a:noFill/>
          <a:ln/>
        </p:spPr>
        <p:txBody>
          <a:bodyPr wrap="square" lIns="0" tIns="0" rIns="0" bIns="0" rtlCol="0" anchor="ctr"/>
          <a:lstStyle/>
          <a:p>
            <a:pPr algn="r" indent="0" marL="0">
              <a:buNone/>
            </a:pPr>
            <a:r>
              <a:rPr lang="en-US" sz="900" b="1" dirty="0">
                <a:solidFill>
                  <a:srgbClr val="1428A0"/>
                </a:solidFill>
              </a:rPr>
              <a:t>Month 1</a:t>
            </a:r>
            <a:endParaRPr lang="en-US" sz="900" dirty="0"/>
          </a:p>
        </p:txBody>
      </p:sp>
      <p:sp>
        <p:nvSpPr>
          <p:cNvPr id="50" name="Shape 48"/>
          <p:cNvSpPr/>
          <p:nvPr/>
        </p:nvSpPr>
        <p:spPr>
          <a:xfrm>
            <a:off x="3520440" y="4846320"/>
            <a:ext cx="5303520" cy="201168"/>
          </a:xfrm>
          <a:prstGeom prst="rect">
            <a:avLst/>
          </a:prstGeom>
          <a:solidFill>
            <a:srgbClr val="E8EBFA"/>
          </a:solidFill>
          <a:ln w="12700">
            <a:solidFill>
              <a:srgbClr val="1428A0"/>
            </a:solidFill>
            <a:prstDash val="solid"/>
          </a:ln>
        </p:spPr>
      </p:sp>
      <p:sp>
        <p:nvSpPr>
          <p:cNvPr id="51" name="Text 49"/>
          <p:cNvSpPr/>
          <p:nvPr/>
        </p:nvSpPr>
        <p:spPr>
          <a:xfrm>
            <a:off x="3520440" y="4846320"/>
            <a:ext cx="5303520" cy="201168"/>
          </a:xfrm>
          <a:prstGeom prst="rect">
            <a:avLst/>
          </a:prstGeom>
          <a:noFill/>
          <a:ln/>
        </p:spPr>
        <p:txBody>
          <a:bodyPr wrap="square" lIns="0" tIns="0" rIns="0" bIns="0" rtlCol="0" anchor="ctr"/>
          <a:lstStyle/>
          <a:p>
            <a:pPr algn="ctr" indent="0" marL="0">
              <a:buNone/>
            </a:pPr>
            <a:r>
              <a:rPr lang="en-US" sz="850" b="1" dirty="0">
                <a:solidFill>
                  <a:srgbClr val="1428A0"/>
                </a:solidFill>
              </a:rPr>
              <a:t>Project CLARITY — Automating Warranty Excellence for Samsung India</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CLARITY — AI OCR &amp; Warranty Automation</dc:title>
  <dc:subject>PptxGenJS Presentation</dc:subject>
  <dc:creator>Samsung India — Technology Office</dc:creator>
  <cp:lastModifiedBy>Samsung India — Technology Office</cp:lastModifiedBy>
  <cp:revision>1</cp:revision>
  <dcterms:created xsi:type="dcterms:W3CDTF">2026-05-01T09:56:03Z</dcterms:created>
  <dcterms:modified xsi:type="dcterms:W3CDTF">2026-05-01T09:56:03Z</dcterms:modified>
</cp:coreProperties>
</file>