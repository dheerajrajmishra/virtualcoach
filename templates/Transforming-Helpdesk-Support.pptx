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4630400" cy="8229600"/>
  <p:notesSz cx="8229600" cy="14630400"/>
  <p:embeddedFontLst>
    <p:embeddedFont>
      <p:font typeface="Inter"/>
      <p:regular r:id="rId13"/>
    </p:embeddedFont>
    <p:embeddedFont>
      <p:font typeface="Inter"/>
      <p:regular r:id="rId14"/>
    </p:embeddedFont>
    <p:embeddedFont>
      <p:font typeface="Inter"/>
      <p:regular r:id="rId15"/>
    </p:embeddedFont>
    <p:embeddedFont>
      <p:font typeface="Inter"/>
      <p:regular r:id="rId16"/>
    </p:embeddedFont>
    <p:embeddedFont>
      <p:font typeface="Inter"/>
      <p:regular r:id="rId17"/>
    </p:embeddedFont>
    <p:embeddedFont>
      <p:font typeface="Inter"/>
      <p:regular r:id="rId18"/>
    </p:embeddedFont>
    <p:embeddedFont>
      <p:font typeface="Inter"/>
      <p:regular r:id="rId19"/>
    </p:embeddedFont>
    <p:embeddedFont>
      <p:font typeface="Inter"/>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font" Target="fonts/font1.fntdata"/><Relationship Id="rId14" Type="http://schemas.openxmlformats.org/officeDocument/2006/relationships/font" Target="fonts/font2.fntdata"/><Relationship Id="rId15" Type="http://schemas.openxmlformats.org/officeDocument/2006/relationships/font" Target="fonts/font3.fntdata"/><Relationship Id="rId16" Type="http://schemas.openxmlformats.org/officeDocument/2006/relationships/font" Target="fonts/font4.fntdata"/><Relationship Id="rId17" Type="http://schemas.openxmlformats.org/officeDocument/2006/relationships/font" Target="fonts/font5.fntdata"/><Relationship Id="rId18" Type="http://schemas.openxmlformats.org/officeDocument/2006/relationships/font" Target="fonts/font6.fntdata"/><Relationship Id="rId19" Type="http://schemas.openxmlformats.org/officeDocument/2006/relationships/font" Target="fonts/font7.fntdata"/><Relationship Id="rId20" Type="http://schemas.openxmlformats.org/officeDocument/2006/relationships/font" Target="fonts/font8.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6F4F4"/>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svg"/><Relationship Id="rId4" Type="http://schemas.openxmlformats.org/officeDocument/2006/relationships/image" Target="../media/image-4-4.png"/><Relationship Id="rId5" Type="http://schemas.openxmlformats.org/officeDocument/2006/relationships/image" Target="../media/image-4-5.svg"/><Relationship Id="rId6" Type="http://schemas.openxmlformats.org/officeDocument/2006/relationships/image" Target="../media/image-4-6.png"/><Relationship Id="rId7" Type="http://schemas.openxmlformats.org/officeDocument/2006/relationships/image" Target="../media/image-4-7.svg"/><Relationship Id="rId8" Type="http://schemas.openxmlformats.org/officeDocument/2006/relationships/image" Target="../media/image-4-8.png"/><Relationship Id="rId9" Type="http://schemas.openxmlformats.org/officeDocument/2006/relationships/image" Target="../media/image-4-9.svg"/><Relationship Id="rId10" Type="http://schemas.openxmlformats.org/officeDocument/2006/relationships/slideLayout" Target="../slideLayouts/slideLayout5.xml"/><Relationship Id="rId11"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image" Target="../media/image-5-7.png"/><Relationship Id="rId8" Type="http://schemas.openxmlformats.org/officeDocument/2006/relationships/image" Target="../media/image-5-8.svg"/><Relationship Id="rId9" Type="http://schemas.openxmlformats.org/officeDocument/2006/relationships/slideLayout" Target="../slideLayouts/slideLayout6.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32009"/>
            <a:ext cx="7556421" cy="1417558"/>
          </a:xfrm>
          <a:prstGeom prst="rect">
            <a:avLst/>
          </a:prstGeom>
          <a:noFill/>
          <a:ln/>
        </p:spPr>
        <p:txBody>
          <a:bodyPr wrap="squar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Agentic AI Voice Bot Transition</a:t>
            </a:r>
            <a:endParaRPr lang="en-US" sz="4450" dirty="0"/>
          </a:p>
        </p:txBody>
      </p:sp>
      <p:sp>
        <p:nvSpPr>
          <p:cNvPr id="4" name="Text 1"/>
          <p:cNvSpPr/>
          <p:nvPr/>
        </p:nvSpPr>
        <p:spPr>
          <a:xfrm>
            <a:off x="793790" y="2589728"/>
            <a:ext cx="7556421" cy="1956435"/>
          </a:xfrm>
          <a:prstGeom prst="rect">
            <a:avLst/>
          </a:prstGeom>
          <a:noFill/>
          <a:ln/>
        </p:spPr>
        <p:txBody>
          <a:bodyPr wrap="square" lIns="0" tIns="0" rIns="0" bIns="0" rtlCol="0" anchor="t"/>
          <a:lstStyle/>
          <a:p>
            <a:pPr algn="l" indent="0" marL="0">
              <a:lnSpc>
                <a:spcPts val="7700"/>
              </a:lnSpc>
              <a:buNone/>
            </a:pPr>
            <a:r>
              <a:rPr lang="en-US" sz="6150" b="1" dirty="0">
                <a:solidFill>
                  <a:srgbClr val="000000"/>
                </a:solidFill>
                <a:latin typeface="Inter Bold" pitchFamily="34" charset="0"/>
                <a:ea typeface="Inter Bold" pitchFamily="34" charset="-122"/>
                <a:cs typeface="Inter Bold" pitchFamily="34" charset="-120"/>
              </a:rPr>
              <a:t>Transforming Helpdesk Support</a:t>
            </a:r>
            <a:endParaRPr lang="en-US" sz="6150" dirty="0"/>
          </a:p>
        </p:txBody>
      </p:sp>
      <p:sp>
        <p:nvSpPr>
          <p:cNvPr id="5" name="Text 2"/>
          <p:cNvSpPr/>
          <p:nvPr/>
        </p:nvSpPr>
        <p:spPr>
          <a:xfrm>
            <a:off x="793790" y="4886325"/>
            <a:ext cx="7556421" cy="1814513"/>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Our objective is to replace the traditional legacy IVR with an Agentic AI solution that autonomously understands caller intent, acts via API integrations, and resolves customer issues with minimal human intervention — delivering autonomous, scalable, and efficient ticket resolution.</a:t>
            </a:r>
            <a:endParaRPr lang="en-US" sz="1750" dirty="0"/>
          </a:p>
        </p:txBody>
      </p:sp>
      <p:sp>
        <p:nvSpPr>
          <p:cNvPr id="6" name="Shape 3"/>
          <p:cNvSpPr/>
          <p:nvPr/>
        </p:nvSpPr>
        <p:spPr>
          <a:xfrm>
            <a:off x="793790" y="6963608"/>
            <a:ext cx="2301835" cy="426244"/>
          </a:xfrm>
          <a:prstGeom prst="roundRect">
            <a:avLst>
              <a:gd name="adj" fmla="val 17880"/>
            </a:avLst>
          </a:prstGeom>
          <a:solidFill>
            <a:srgbClr val="DADBF1"/>
          </a:solidFill>
          <a:ln/>
        </p:spPr>
      </p:sp>
      <p:sp>
        <p:nvSpPr>
          <p:cNvPr id="7" name="Text 4"/>
          <p:cNvSpPr/>
          <p:nvPr/>
        </p:nvSpPr>
        <p:spPr>
          <a:xfrm>
            <a:off x="929878" y="7031593"/>
            <a:ext cx="2029658" cy="290274"/>
          </a:xfrm>
          <a:prstGeom prst="rect">
            <a:avLst/>
          </a:prstGeom>
          <a:noFill/>
          <a:ln/>
        </p:spPr>
        <p:txBody>
          <a:bodyPr wrap="none" lIns="0" tIns="0" rIns="0" bIns="0" rtlCol="0" anchor="t"/>
          <a:lstStyle/>
          <a:p>
            <a:pPr algn="l" indent="0" marL="0">
              <a:lnSpc>
                <a:spcPts val="2250"/>
              </a:lnSpc>
              <a:buNone/>
            </a:pPr>
            <a:r>
              <a:rPr lang="en-US" sz="1400" dirty="0">
                <a:solidFill>
                  <a:srgbClr val="272525"/>
                </a:solidFill>
                <a:latin typeface="Inter" pitchFamily="34" charset="0"/>
                <a:ea typeface="Inter" pitchFamily="34" charset="-122"/>
                <a:cs typeface="Inter" pitchFamily="34" charset="-120"/>
              </a:rPr>
              <a:t>EXECUTIVE PROPOSAL</a:t>
            </a:r>
            <a:endParaRPr lang="en-US" sz="1400" dirty="0"/>
          </a:p>
        </p:txBody>
      </p:sp>
      <p:sp>
        <p:nvSpPr>
          <p:cNvPr id="8" name="Shape 5"/>
          <p:cNvSpPr/>
          <p:nvPr/>
        </p:nvSpPr>
        <p:spPr>
          <a:xfrm>
            <a:off x="3208973" y="6955988"/>
            <a:ext cx="2973586" cy="441484"/>
          </a:xfrm>
          <a:prstGeom prst="roundRect">
            <a:avLst>
              <a:gd name="adj" fmla="val 17263"/>
            </a:avLst>
          </a:prstGeom>
          <a:noFill/>
          <a:ln w="7620">
            <a:solidFill>
              <a:srgbClr val="4950BC"/>
            </a:solidFill>
            <a:prstDash val="solid"/>
          </a:ln>
        </p:spPr>
      </p:sp>
      <p:sp>
        <p:nvSpPr>
          <p:cNvPr id="9" name="Text 6"/>
          <p:cNvSpPr/>
          <p:nvPr/>
        </p:nvSpPr>
        <p:spPr>
          <a:xfrm>
            <a:off x="3352681" y="7031593"/>
            <a:ext cx="2686169" cy="290274"/>
          </a:xfrm>
          <a:prstGeom prst="rect">
            <a:avLst/>
          </a:prstGeom>
          <a:noFill/>
          <a:ln/>
        </p:spPr>
        <p:txBody>
          <a:bodyPr wrap="none" lIns="0" tIns="0" rIns="0" bIns="0" rtlCol="0" anchor="t"/>
          <a:lstStyle/>
          <a:p>
            <a:pPr algn="l" indent="0" marL="0">
              <a:lnSpc>
                <a:spcPts val="2250"/>
              </a:lnSpc>
              <a:buNone/>
            </a:pPr>
            <a:r>
              <a:rPr lang="en-US" sz="1400" dirty="0">
                <a:solidFill>
                  <a:srgbClr val="4950BC"/>
                </a:solidFill>
                <a:latin typeface="Inter" pitchFamily="34" charset="0"/>
                <a:ea typeface="Inter" pitchFamily="34" charset="-122"/>
                <a:cs typeface="Inter" pitchFamily="34" charset="-120"/>
              </a:rPr>
              <a:t>IT MODERNIZATION INITIATIVE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43042" y="633532"/>
            <a:ext cx="7552253" cy="675680"/>
          </a:xfrm>
          <a:prstGeom prst="rect">
            <a:avLst/>
          </a:prstGeom>
          <a:noFill/>
          <a:ln/>
        </p:spPr>
        <p:txBody>
          <a:bodyPr wrap="none" lIns="0" tIns="0" rIns="0" bIns="0" rtlCol="0" anchor="t"/>
          <a:lstStyle/>
          <a:p>
            <a:pPr algn="l" indent="0" marL="0">
              <a:lnSpc>
                <a:spcPts val="5300"/>
              </a:lnSpc>
              <a:buNone/>
            </a:pPr>
            <a:r>
              <a:rPr lang="en-US" sz="4250" b="1" dirty="0">
                <a:solidFill>
                  <a:srgbClr val="000000"/>
                </a:solidFill>
                <a:latin typeface="Inter Bold" pitchFamily="34" charset="0"/>
                <a:ea typeface="Inter Bold" pitchFamily="34" charset="-122"/>
                <a:cs typeface="Inter Bold" pitchFamily="34" charset="-120"/>
              </a:rPr>
              <a:t>Current Support Bottlenecks</a:t>
            </a:r>
            <a:endParaRPr lang="en-US" sz="4250" dirty="0"/>
          </a:p>
        </p:txBody>
      </p:sp>
      <p:sp>
        <p:nvSpPr>
          <p:cNvPr id="4" name="Shape 1"/>
          <p:cNvSpPr/>
          <p:nvPr/>
        </p:nvSpPr>
        <p:spPr>
          <a:xfrm>
            <a:off x="6243042" y="1618298"/>
            <a:ext cx="7630716" cy="1967865"/>
          </a:xfrm>
          <a:prstGeom prst="roundRect">
            <a:avLst>
              <a:gd name="adj" fmla="val 7435"/>
            </a:avLst>
          </a:prstGeom>
          <a:solidFill>
            <a:srgbClr val="FFFFFF"/>
          </a:solidFill>
          <a:ln w="30480">
            <a:solidFill>
              <a:srgbClr val="C0C1D7"/>
            </a:solidFill>
            <a:prstDash val="solid"/>
          </a:ln>
        </p:spPr>
      </p:sp>
      <p:sp>
        <p:nvSpPr>
          <p:cNvPr id="5" name="Shape 2"/>
          <p:cNvSpPr/>
          <p:nvPr/>
        </p:nvSpPr>
        <p:spPr>
          <a:xfrm>
            <a:off x="6212562" y="1618298"/>
            <a:ext cx="121920" cy="1967865"/>
          </a:xfrm>
          <a:prstGeom prst="roundRect">
            <a:avLst>
              <a:gd name="adj" fmla="val 74477"/>
            </a:avLst>
          </a:prstGeom>
          <a:solidFill>
            <a:srgbClr val="4950BC"/>
          </a:solidFill>
          <a:ln/>
        </p:spPr>
      </p:sp>
      <p:sp>
        <p:nvSpPr>
          <p:cNvPr id="6" name="Text 3"/>
          <p:cNvSpPr/>
          <p:nvPr/>
        </p:nvSpPr>
        <p:spPr>
          <a:xfrm>
            <a:off x="6581061" y="1864876"/>
            <a:ext cx="2901077" cy="337780"/>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Fragmented Channels</a:t>
            </a:r>
            <a:endParaRPr lang="en-US" sz="2100" dirty="0"/>
          </a:p>
        </p:txBody>
      </p:sp>
      <p:sp>
        <p:nvSpPr>
          <p:cNvPr id="7" name="Text 4"/>
          <p:cNvSpPr/>
          <p:nvPr/>
        </p:nvSpPr>
        <p:spPr>
          <a:xfrm>
            <a:off x="6581061" y="2326243"/>
            <a:ext cx="7046119" cy="1013341"/>
          </a:xfrm>
          <a:prstGeom prst="rect">
            <a:avLst/>
          </a:prstGeom>
          <a:noFill/>
          <a:ln/>
        </p:spPr>
        <p:txBody>
          <a:bodyPr wrap="square" lIns="0" tIns="0" rIns="0" bIns="0" rtlCol="0" anchor="t"/>
          <a:lstStyle/>
          <a:p>
            <a:pPr algn="l" indent="0" marL="0">
              <a:lnSpc>
                <a:spcPts val="2650"/>
              </a:lnSpc>
              <a:buNone/>
            </a:pPr>
            <a:r>
              <a:rPr lang="en-US" sz="1700" dirty="0">
                <a:solidFill>
                  <a:srgbClr val="272525"/>
                </a:solidFill>
                <a:latin typeface="Inter" pitchFamily="34" charset="0"/>
                <a:ea typeface="Inter" pitchFamily="34" charset="-122"/>
                <a:cs typeface="Inter" pitchFamily="34" charset="-120"/>
              </a:rPr>
              <a:t>Partners raise queries via IVR, Email, and WhatsApp — but </a:t>
            </a:r>
            <a:pPr algn="l" indent="0" marL="0">
              <a:lnSpc>
                <a:spcPts val="2650"/>
              </a:lnSpc>
              <a:buNone/>
            </a:pPr>
            <a:r>
              <a:rPr lang="en-US" sz="1700" b="1" dirty="0">
                <a:solidFill>
                  <a:srgbClr val="272525"/>
                </a:solidFill>
                <a:latin typeface="Inter" pitchFamily="34" charset="0"/>
                <a:ea typeface="Inter" pitchFamily="34" charset="-122"/>
                <a:cs typeface="Inter" pitchFamily="34" charset="-120"/>
              </a:rPr>
              <a:t>all require manual agent intervention</a:t>
            </a:r>
            <a:pPr algn="l" indent="0" marL="0">
              <a:lnSpc>
                <a:spcPts val="2650"/>
              </a:lnSpc>
              <a:buNone/>
            </a:pPr>
            <a:r>
              <a:rPr lang="en-US" sz="1700" dirty="0">
                <a:solidFill>
                  <a:srgbClr val="272525"/>
                </a:solidFill>
                <a:latin typeface="Inter" pitchFamily="34" charset="0"/>
                <a:ea typeface="Inter" pitchFamily="34" charset="-122"/>
                <a:cs typeface="Inter" pitchFamily="34" charset="-120"/>
              </a:rPr>
              <a:t> for ticket creation in the Service Management Tool (SMT).</a:t>
            </a:r>
            <a:endParaRPr lang="en-US" sz="1700" dirty="0"/>
          </a:p>
        </p:txBody>
      </p:sp>
      <p:sp>
        <p:nvSpPr>
          <p:cNvPr id="8" name="Shape 5"/>
          <p:cNvSpPr/>
          <p:nvPr/>
        </p:nvSpPr>
        <p:spPr>
          <a:xfrm>
            <a:off x="6243042" y="3792141"/>
            <a:ext cx="7630716" cy="1630085"/>
          </a:xfrm>
          <a:prstGeom prst="roundRect">
            <a:avLst>
              <a:gd name="adj" fmla="val 8975"/>
            </a:avLst>
          </a:prstGeom>
          <a:solidFill>
            <a:srgbClr val="FFFFFF"/>
          </a:solidFill>
          <a:ln w="30480">
            <a:solidFill>
              <a:srgbClr val="C0C1D7"/>
            </a:solidFill>
            <a:prstDash val="solid"/>
          </a:ln>
        </p:spPr>
      </p:sp>
      <p:sp>
        <p:nvSpPr>
          <p:cNvPr id="9" name="Shape 6"/>
          <p:cNvSpPr/>
          <p:nvPr/>
        </p:nvSpPr>
        <p:spPr>
          <a:xfrm>
            <a:off x="6212562" y="3792141"/>
            <a:ext cx="121920" cy="1630085"/>
          </a:xfrm>
          <a:prstGeom prst="roundRect">
            <a:avLst>
              <a:gd name="adj" fmla="val 74477"/>
            </a:avLst>
          </a:prstGeom>
          <a:solidFill>
            <a:srgbClr val="4950BC"/>
          </a:solidFill>
          <a:ln/>
        </p:spPr>
      </p:sp>
      <p:sp>
        <p:nvSpPr>
          <p:cNvPr id="10" name="Text 7"/>
          <p:cNvSpPr/>
          <p:nvPr/>
        </p:nvSpPr>
        <p:spPr>
          <a:xfrm>
            <a:off x="6581061" y="4038719"/>
            <a:ext cx="2702362" cy="337780"/>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Manual Routing</a:t>
            </a:r>
            <a:endParaRPr lang="en-US" sz="2100" dirty="0"/>
          </a:p>
        </p:txBody>
      </p:sp>
      <p:sp>
        <p:nvSpPr>
          <p:cNvPr id="11" name="Text 8"/>
          <p:cNvSpPr/>
          <p:nvPr/>
        </p:nvSpPr>
        <p:spPr>
          <a:xfrm>
            <a:off x="6581061" y="4500086"/>
            <a:ext cx="7046119" cy="675561"/>
          </a:xfrm>
          <a:prstGeom prst="rect">
            <a:avLst/>
          </a:prstGeom>
          <a:noFill/>
          <a:ln/>
        </p:spPr>
        <p:txBody>
          <a:bodyPr wrap="square" lIns="0" tIns="0" rIns="0" bIns="0" rtlCol="0" anchor="t"/>
          <a:lstStyle/>
          <a:p>
            <a:pPr algn="l" indent="0" marL="0">
              <a:lnSpc>
                <a:spcPts val="2650"/>
              </a:lnSpc>
              <a:buNone/>
            </a:pPr>
            <a:r>
              <a:rPr lang="en-US" sz="1700" dirty="0">
                <a:solidFill>
                  <a:srgbClr val="272525"/>
                </a:solidFill>
                <a:latin typeface="Inter" pitchFamily="34" charset="0"/>
                <a:ea typeface="Inter" pitchFamily="34" charset="-122"/>
                <a:cs typeface="Inter" pitchFamily="34" charset="-120"/>
              </a:rPr>
              <a:t>Calls land directly on agents who must manually diagnose, resolve, and log tickets — creating delays and inconsistent handling.</a:t>
            </a:r>
            <a:endParaRPr lang="en-US" sz="1700" dirty="0"/>
          </a:p>
        </p:txBody>
      </p:sp>
      <p:sp>
        <p:nvSpPr>
          <p:cNvPr id="12" name="Shape 9"/>
          <p:cNvSpPr/>
          <p:nvPr/>
        </p:nvSpPr>
        <p:spPr>
          <a:xfrm>
            <a:off x="6243042" y="5628203"/>
            <a:ext cx="7630716" cy="1967865"/>
          </a:xfrm>
          <a:prstGeom prst="roundRect">
            <a:avLst>
              <a:gd name="adj" fmla="val 7435"/>
            </a:avLst>
          </a:prstGeom>
          <a:solidFill>
            <a:srgbClr val="FFFFFF"/>
          </a:solidFill>
          <a:ln w="30480">
            <a:solidFill>
              <a:srgbClr val="C0C1D7"/>
            </a:solidFill>
            <a:prstDash val="solid"/>
          </a:ln>
        </p:spPr>
      </p:sp>
      <p:sp>
        <p:nvSpPr>
          <p:cNvPr id="13" name="Shape 10"/>
          <p:cNvSpPr/>
          <p:nvPr/>
        </p:nvSpPr>
        <p:spPr>
          <a:xfrm>
            <a:off x="6212562" y="5628203"/>
            <a:ext cx="121920" cy="1967865"/>
          </a:xfrm>
          <a:prstGeom prst="roundRect">
            <a:avLst>
              <a:gd name="adj" fmla="val 74477"/>
            </a:avLst>
          </a:prstGeom>
          <a:solidFill>
            <a:srgbClr val="4950BC"/>
          </a:solidFill>
          <a:ln/>
        </p:spPr>
      </p:sp>
      <p:sp>
        <p:nvSpPr>
          <p:cNvPr id="14" name="Text 11"/>
          <p:cNvSpPr/>
          <p:nvPr/>
        </p:nvSpPr>
        <p:spPr>
          <a:xfrm>
            <a:off x="6581061" y="5874782"/>
            <a:ext cx="2702362" cy="337780"/>
          </a:xfrm>
          <a:prstGeom prst="rect">
            <a:avLst/>
          </a:prstGeom>
          <a:noFill/>
          <a:ln/>
        </p:spPr>
        <p:txBody>
          <a:bodyPr wrap="none" lIns="0" tIns="0" rIns="0" bIns="0" rtlCol="0" anchor="t"/>
          <a:lstStyle/>
          <a:p>
            <a:pPr algn="l"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Siloed Knowledge</a:t>
            </a:r>
            <a:endParaRPr lang="en-US" sz="2100" dirty="0"/>
          </a:p>
        </p:txBody>
      </p:sp>
      <p:sp>
        <p:nvSpPr>
          <p:cNvPr id="15" name="Text 12"/>
          <p:cNvSpPr/>
          <p:nvPr/>
        </p:nvSpPr>
        <p:spPr>
          <a:xfrm>
            <a:off x="6581061" y="6336149"/>
            <a:ext cx="7046119" cy="1013341"/>
          </a:xfrm>
          <a:prstGeom prst="rect">
            <a:avLst/>
          </a:prstGeom>
          <a:noFill/>
          <a:ln/>
        </p:spPr>
        <p:txBody>
          <a:bodyPr wrap="square" lIns="0" tIns="0" rIns="0" bIns="0" rtlCol="0" anchor="t"/>
          <a:lstStyle/>
          <a:p>
            <a:pPr algn="l" indent="0" marL="0">
              <a:lnSpc>
                <a:spcPts val="2650"/>
              </a:lnSpc>
              <a:buNone/>
            </a:pPr>
            <a:r>
              <a:rPr lang="en-US" sz="1700" dirty="0">
                <a:solidFill>
                  <a:srgbClr val="272525"/>
                </a:solidFill>
                <a:latin typeface="Inter" pitchFamily="34" charset="0"/>
                <a:ea typeface="Inter" pitchFamily="34" charset="-122"/>
                <a:cs typeface="Inter" pitchFamily="34" charset="-120"/>
              </a:rPr>
              <a:t>No centralized Knowledge Base. Agents rely on </a:t>
            </a:r>
            <a:pPr algn="l" indent="0" marL="0">
              <a:lnSpc>
                <a:spcPts val="2650"/>
              </a:lnSpc>
              <a:buNone/>
            </a:pPr>
            <a:r>
              <a:rPr lang="en-US" sz="1700" b="1" dirty="0">
                <a:solidFill>
                  <a:srgbClr val="272525"/>
                </a:solidFill>
                <a:latin typeface="Inter" pitchFamily="34" charset="0"/>
                <a:ea typeface="Inter" pitchFamily="34" charset="-122"/>
                <a:cs typeface="Inter" pitchFamily="34" charset="-120"/>
              </a:rPr>
              <a:t>static, scattered Excel sheets, Word docs, and one-pagers</a:t>
            </a:r>
            <a:pPr algn="l" indent="0" marL="0">
              <a:lnSpc>
                <a:spcPts val="2650"/>
              </a:lnSpc>
              <a:buNone/>
            </a:pPr>
            <a:r>
              <a:rPr lang="en-US" sz="1700" dirty="0">
                <a:solidFill>
                  <a:srgbClr val="272525"/>
                </a:solidFill>
                <a:latin typeface="Inter" pitchFamily="34" charset="0"/>
                <a:ea typeface="Inter" pitchFamily="34" charset="-122"/>
                <a:cs typeface="Inter" pitchFamily="34" charset="-120"/>
              </a:rPr>
              <a:t> — increasing resolution time and error rates.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323737" y="502682"/>
            <a:ext cx="8591788" cy="542687"/>
          </a:xfrm>
          <a:prstGeom prst="rect">
            <a:avLst/>
          </a:prstGeom>
          <a:noFill/>
          <a:ln/>
        </p:spPr>
        <p:txBody>
          <a:bodyPr wrap="none" lIns="0" tIns="0" rIns="0" bIns="0" rtlCol="0" anchor="t"/>
          <a:lstStyle/>
          <a:p>
            <a:pPr algn="l" indent="0" marL="0">
              <a:lnSpc>
                <a:spcPts val="4250"/>
              </a:lnSpc>
              <a:buNone/>
            </a:pPr>
            <a:r>
              <a:rPr lang="en-US" sz="3400" b="1" dirty="0">
                <a:solidFill>
                  <a:srgbClr val="000000"/>
                </a:solidFill>
                <a:latin typeface="Inter Bold" pitchFamily="34" charset="0"/>
                <a:ea typeface="Inter Bold" pitchFamily="34" charset="-122"/>
                <a:cs typeface="Inter Bold" pitchFamily="34" charset="-120"/>
              </a:rPr>
              <a:t>Unified Channel-to-Ticketing Integration</a:t>
            </a:r>
            <a:endParaRPr lang="en-US" sz="3400" dirty="0"/>
          </a:p>
        </p:txBody>
      </p:sp>
      <p:pic>
        <p:nvPicPr>
          <p:cNvPr id="3" name="Image 0" descr="preencoded.png">    </p:cNvPr>
          <p:cNvPicPr>
            <a:picLocks noChangeAspect="1"/>
          </p:cNvPicPr>
          <p:nvPr/>
        </p:nvPicPr>
        <p:blipFill>
          <a:blip r:embed="rId1"/>
          <a:stretch>
            <a:fillRect/>
          </a:stretch>
        </p:blipFill>
        <p:spPr>
          <a:xfrm>
            <a:off x="1323737" y="1394341"/>
            <a:ext cx="7640479" cy="4584263"/>
          </a:xfrm>
          <a:prstGeom prst="rect">
            <a:avLst/>
          </a:prstGeom>
        </p:spPr>
      </p:pic>
      <p:sp>
        <p:nvSpPr>
          <p:cNvPr id="4" name="Text 1"/>
          <p:cNvSpPr/>
          <p:nvPr/>
        </p:nvSpPr>
        <p:spPr>
          <a:xfrm>
            <a:off x="9395460" y="3000494"/>
            <a:ext cx="2453045" cy="271224"/>
          </a:xfrm>
          <a:prstGeom prst="rect">
            <a:avLst/>
          </a:prstGeom>
          <a:noFill/>
          <a:ln/>
        </p:spPr>
        <p:txBody>
          <a:bodyPr wrap="none" lIns="0" tIns="0" rIns="0" bIns="0" rtlCol="0" anchor="t"/>
          <a:lstStyle/>
          <a:p>
            <a:pPr algn="l" indent="0" marL="0">
              <a:lnSpc>
                <a:spcPts val="2100"/>
              </a:lnSpc>
              <a:buNone/>
            </a:pPr>
            <a:r>
              <a:rPr lang="en-US" sz="1700" b="1" dirty="0">
                <a:solidFill>
                  <a:srgbClr val="000000"/>
                </a:solidFill>
                <a:latin typeface="Inter Bold" pitchFamily="34" charset="0"/>
                <a:ea typeface="Inter Bold" pitchFamily="34" charset="-122"/>
                <a:cs typeface="Inter Bold" pitchFamily="34" charset="-120"/>
              </a:rPr>
              <a:t>Central Orchestrator AI</a:t>
            </a:r>
            <a:endParaRPr lang="en-US" sz="1700" dirty="0"/>
          </a:p>
        </p:txBody>
      </p:sp>
      <p:sp>
        <p:nvSpPr>
          <p:cNvPr id="5" name="Text 2"/>
          <p:cNvSpPr/>
          <p:nvPr/>
        </p:nvSpPr>
        <p:spPr>
          <a:xfrm>
            <a:off x="9395460" y="3404592"/>
            <a:ext cx="3918585" cy="981075"/>
          </a:xfrm>
          <a:prstGeom prst="rect">
            <a:avLst/>
          </a:prstGeom>
          <a:noFill/>
          <a:ln/>
        </p:spPr>
        <p:txBody>
          <a:bodyPr wrap="square" lIns="0" tIns="0" rIns="0" bIns="0" rtlCol="0" anchor="t"/>
          <a:lstStyle/>
          <a:p>
            <a:pPr algn="l" indent="0" marL="0">
              <a:lnSpc>
                <a:spcPts val="1900"/>
              </a:lnSpc>
              <a:buNone/>
            </a:pPr>
            <a:r>
              <a:rPr lang="en-US" sz="1350" dirty="0">
                <a:solidFill>
                  <a:srgbClr val="272525"/>
                </a:solidFill>
                <a:latin typeface="Inter" pitchFamily="34" charset="0"/>
                <a:ea typeface="Inter" pitchFamily="34" charset="-122"/>
                <a:cs typeface="Inter" pitchFamily="34" charset="-120"/>
              </a:rPr>
              <a:t>A single intelligent orchestrator coordinates three specialized AI agents, integrating the Voice channel directly with the SMT for auto-ticket creation and automated responses.</a:t>
            </a:r>
            <a:endParaRPr lang="en-US" sz="1350" dirty="0"/>
          </a:p>
        </p:txBody>
      </p:sp>
      <p:sp>
        <p:nvSpPr>
          <p:cNvPr id="6" name="Shape 3"/>
          <p:cNvSpPr/>
          <p:nvPr/>
        </p:nvSpPr>
        <p:spPr>
          <a:xfrm>
            <a:off x="1323737" y="6277689"/>
            <a:ext cx="3905607" cy="1449229"/>
          </a:xfrm>
          <a:prstGeom prst="roundRect">
            <a:avLst>
              <a:gd name="adj" fmla="val 5033"/>
            </a:avLst>
          </a:prstGeom>
          <a:solidFill>
            <a:srgbClr val="DADBF1"/>
          </a:solidFill>
          <a:ln w="7620">
            <a:solidFill>
              <a:srgbClr val="C0C1D7"/>
            </a:solidFill>
            <a:prstDash val="solid"/>
          </a:ln>
        </p:spPr>
      </p:sp>
      <p:sp>
        <p:nvSpPr>
          <p:cNvPr id="7" name="Text 4"/>
          <p:cNvSpPr/>
          <p:nvPr/>
        </p:nvSpPr>
        <p:spPr>
          <a:xfrm>
            <a:off x="1504950" y="6458903"/>
            <a:ext cx="2170748" cy="271224"/>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Inter Bold" pitchFamily="34" charset="0"/>
                <a:ea typeface="Inter Bold" pitchFamily="34" charset="-122"/>
                <a:cs typeface="Inter Bold" pitchFamily="34" charset="-120"/>
              </a:rPr>
              <a:t>AI Voice Agent</a:t>
            </a:r>
            <a:endParaRPr lang="en-US" sz="1700" dirty="0"/>
          </a:p>
        </p:txBody>
      </p:sp>
      <p:sp>
        <p:nvSpPr>
          <p:cNvPr id="8" name="Text 5"/>
          <p:cNvSpPr/>
          <p:nvPr/>
        </p:nvSpPr>
        <p:spPr>
          <a:xfrm>
            <a:off x="1504950" y="6809899"/>
            <a:ext cx="3543181" cy="735806"/>
          </a:xfrm>
          <a:prstGeom prst="rect">
            <a:avLst/>
          </a:prstGeom>
          <a:noFill/>
          <a:ln/>
        </p:spPr>
        <p:txBody>
          <a:bodyPr wrap="square" lIns="0" tIns="0" rIns="0" bIns="0" rtlCol="0" anchor="t"/>
          <a:lstStyle/>
          <a:p>
            <a:pPr algn="l" indent="0" marL="0">
              <a:lnSpc>
                <a:spcPts val="1900"/>
              </a:lnSpc>
              <a:buNone/>
            </a:pPr>
            <a:r>
              <a:rPr lang="en-US" sz="1350" dirty="0">
                <a:solidFill>
                  <a:srgbClr val="272525"/>
                </a:solidFill>
                <a:latin typeface="Inter" pitchFamily="34" charset="0"/>
                <a:ea typeface="Inter" pitchFamily="34" charset="-122"/>
                <a:cs typeface="Inter" pitchFamily="34" charset="-120"/>
              </a:rPr>
              <a:t>Uses Speech-to-Text and NLU to capture caller intent and determine domain and language.</a:t>
            </a:r>
            <a:endParaRPr lang="en-US" sz="1350" dirty="0"/>
          </a:p>
        </p:txBody>
      </p:sp>
      <p:sp>
        <p:nvSpPr>
          <p:cNvPr id="9" name="Shape 6"/>
          <p:cNvSpPr/>
          <p:nvPr/>
        </p:nvSpPr>
        <p:spPr>
          <a:xfrm>
            <a:off x="5362218" y="6277689"/>
            <a:ext cx="3905726" cy="1449229"/>
          </a:xfrm>
          <a:prstGeom prst="roundRect">
            <a:avLst>
              <a:gd name="adj" fmla="val 5033"/>
            </a:avLst>
          </a:prstGeom>
          <a:solidFill>
            <a:srgbClr val="DADBF1"/>
          </a:solidFill>
          <a:ln w="7620">
            <a:solidFill>
              <a:srgbClr val="C0C1D7"/>
            </a:solidFill>
            <a:prstDash val="solid"/>
          </a:ln>
        </p:spPr>
      </p:sp>
      <p:sp>
        <p:nvSpPr>
          <p:cNvPr id="10" name="Text 7"/>
          <p:cNvSpPr/>
          <p:nvPr/>
        </p:nvSpPr>
        <p:spPr>
          <a:xfrm>
            <a:off x="5543431" y="6458903"/>
            <a:ext cx="2170748" cy="271224"/>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Inter Bold" pitchFamily="34" charset="0"/>
                <a:ea typeface="Inter Bold" pitchFamily="34" charset="-122"/>
                <a:cs typeface="Inter Bold" pitchFamily="34" charset="-120"/>
              </a:rPr>
              <a:t>AI Ticketing Agent</a:t>
            </a:r>
            <a:endParaRPr lang="en-US" sz="1700" dirty="0"/>
          </a:p>
        </p:txBody>
      </p:sp>
      <p:sp>
        <p:nvSpPr>
          <p:cNvPr id="11" name="Text 8"/>
          <p:cNvSpPr/>
          <p:nvPr/>
        </p:nvSpPr>
        <p:spPr>
          <a:xfrm>
            <a:off x="5543431" y="6809899"/>
            <a:ext cx="3543300" cy="490538"/>
          </a:xfrm>
          <a:prstGeom prst="rect">
            <a:avLst/>
          </a:prstGeom>
          <a:noFill/>
          <a:ln/>
        </p:spPr>
        <p:txBody>
          <a:bodyPr wrap="square" lIns="0" tIns="0" rIns="0" bIns="0" rtlCol="0" anchor="t"/>
          <a:lstStyle/>
          <a:p>
            <a:pPr algn="l" indent="0" marL="0">
              <a:lnSpc>
                <a:spcPts val="1900"/>
              </a:lnSpc>
              <a:buNone/>
            </a:pPr>
            <a:r>
              <a:rPr lang="en-US" sz="1350" dirty="0">
                <a:solidFill>
                  <a:srgbClr val="272525"/>
                </a:solidFill>
                <a:latin typeface="Inter" pitchFamily="34" charset="0"/>
                <a:ea typeface="Inter" pitchFamily="34" charset="-122"/>
                <a:cs typeface="Inter" pitchFamily="34" charset="-120"/>
              </a:rPr>
              <a:t>Automatically creates and categorizes SMT tickets via API integrations.</a:t>
            </a:r>
            <a:endParaRPr lang="en-US" sz="1350" dirty="0"/>
          </a:p>
        </p:txBody>
      </p:sp>
      <p:sp>
        <p:nvSpPr>
          <p:cNvPr id="12" name="Shape 9"/>
          <p:cNvSpPr/>
          <p:nvPr/>
        </p:nvSpPr>
        <p:spPr>
          <a:xfrm>
            <a:off x="9400818" y="6277689"/>
            <a:ext cx="3905726" cy="1449229"/>
          </a:xfrm>
          <a:prstGeom prst="roundRect">
            <a:avLst>
              <a:gd name="adj" fmla="val 5033"/>
            </a:avLst>
          </a:prstGeom>
          <a:solidFill>
            <a:srgbClr val="DADBF1"/>
          </a:solidFill>
          <a:ln w="7620">
            <a:solidFill>
              <a:srgbClr val="C0C1D7"/>
            </a:solidFill>
            <a:prstDash val="solid"/>
          </a:ln>
        </p:spPr>
      </p:sp>
      <p:sp>
        <p:nvSpPr>
          <p:cNvPr id="13" name="Text 10"/>
          <p:cNvSpPr/>
          <p:nvPr/>
        </p:nvSpPr>
        <p:spPr>
          <a:xfrm>
            <a:off x="9582031" y="6458903"/>
            <a:ext cx="2170748" cy="271224"/>
          </a:xfrm>
          <a:prstGeom prst="rect">
            <a:avLst/>
          </a:prstGeom>
          <a:noFill/>
          <a:ln/>
        </p:spPr>
        <p:txBody>
          <a:bodyPr wrap="none" lIns="0" tIns="0" rIns="0" bIns="0" rtlCol="0" anchor="t"/>
          <a:lstStyle/>
          <a:p>
            <a:pPr algn="l" indent="0" marL="0">
              <a:lnSpc>
                <a:spcPts val="2100"/>
              </a:lnSpc>
              <a:buNone/>
            </a:pPr>
            <a:r>
              <a:rPr lang="en-US" sz="1700" b="1" dirty="0">
                <a:solidFill>
                  <a:srgbClr val="272525"/>
                </a:solidFill>
                <a:latin typeface="Inter Bold" pitchFamily="34" charset="0"/>
                <a:ea typeface="Inter Bold" pitchFamily="34" charset="-122"/>
                <a:cs typeface="Inter Bold" pitchFamily="34" charset="-120"/>
              </a:rPr>
              <a:t>AI Resolution Agent</a:t>
            </a:r>
            <a:endParaRPr lang="en-US" sz="1700" dirty="0"/>
          </a:p>
        </p:txBody>
      </p:sp>
      <p:sp>
        <p:nvSpPr>
          <p:cNvPr id="14" name="Text 11"/>
          <p:cNvSpPr/>
          <p:nvPr/>
        </p:nvSpPr>
        <p:spPr>
          <a:xfrm>
            <a:off x="9582031" y="6809899"/>
            <a:ext cx="3543300" cy="490538"/>
          </a:xfrm>
          <a:prstGeom prst="rect">
            <a:avLst/>
          </a:prstGeom>
          <a:noFill/>
          <a:ln/>
        </p:spPr>
        <p:txBody>
          <a:bodyPr wrap="square" lIns="0" tIns="0" rIns="0" bIns="0" rtlCol="0" anchor="t"/>
          <a:lstStyle/>
          <a:p>
            <a:pPr algn="l" indent="0" marL="0">
              <a:lnSpc>
                <a:spcPts val="1900"/>
              </a:lnSpc>
              <a:buNone/>
            </a:pPr>
            <a:r>
              <a:rPr lang="en-US" sz="1350" dirty="0">
                <a:solidFill>
                  <a:srgbClr val="272525"/>
                </a:solidFill>
                <a:latin typeface="Inter" pitchFamily="34" charset="0"/>
                <a:ea typeface="Inter" pitchFamily="34" charset="-122"/>
                <a:cs typeface="Inter" pitchFamily="34" charset="-120"/>
              </a:rPr>
              <a:t>Searches a centralized Knowledge Base to deliver immediate, accurate solutions.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323737" y="563999"/>
            <a:ext cx="7654766" cy="542687"/>
          </a:xfrm>
          <a:prstGeom prst="rect">
            <a:avLst/>
          </a:prstGeom>
          <a:noFill/>
          <a:ln/>
        </p:spPr>
        <p:txBody>
          <a:bodyPr wrap="none" lIns="0" tIns="0" rIns="0" bIns="0" rtlCol="0" anchor="t"/>
          <a:lstStyle/>
          <a:p>
            <a:pPr algn="l" indent="0" marL="0">
              <a:lnSpc>
                <a:spcPts val="4250"/>
              </a:lnSpc>
              <a:buNone/>
            </a:pPr>
            <a:r>
              <a:rPr lang="en-US" sz="3400" b="1" dirty="0">
                <a:solidFill>
                  <a:srgbClr val="000000"/>
                </a:solidFill>
                <a:latin typeface="Inter Bold" pitchFamily="34" charset="0"/>
                <a:ea typeface="Inter Bold" pitchFamily="34" charset="-122"/>
                <a:cs typeface="Inter Bold" pitchFamily="34" charset="-120"/>
              </a:rPr>
              <a:t>End-to-End Automated Architecture</a:t>
            </a:r>
            <a:endParaRPr lang="en-US" sz="3400" dirty="0"/>
          </a:p>
        </p:txBody>
      </p:sp>
      <p:pic>
        <p:nvPicPr>
          <p:cNvPr id="3" name="Image 0" descr="preencoded.png">    </p:cNvPr>
          <p:cNvPicPr>
            <a:picLocks noChangeAspect="1"/>
          </p:cNvPicPr>
          <p:nvPr/>
        </p:nvPicPr>
        <p:blipFill>
          <a:blip r:embed="rId1"/>
          <a:stretch>
            <a:fillRect/>
          </a:stretch>
        </p:blipFill>
        <p:spPr>
          <a:xfrm>
            <a:off x="1532692" y="1372553"/>
            <a:ext cx="11564779" cy="5652849"/>
          </a:xfrm>
          <a:prstGeom prst="rect">
            <a:avLst/>
          </a:prstGeom>
        </p:spPr>
      </p:pic>
      <p:pic>
        <p:nvPicPr>
          <p:cNvPr id="4"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72188" y="2701156"/>
            <a:ext cx="419389" cy="419389"/>
          </a:xfrm>
          <a:prstGeom prst="rect">
            <a:avLst/>
          </a:prstGeom>
        </p:spPr>
      </p:pic>
      <p:sp>
        <p:nvSpPr>
          <p:cNvPr id="5" name="Text 1"/>
          <p:cNvSpPr/>
          <p:nvPr/>
        </p:nvSpPr>
        <p:spPr>
          <a:xfrm>
            <a:off x="2408255" y="3317508"/>
            <a:ext cx="2696071" cy="337009"/>
          </a:xfrm>
          <a:prstGeom prst="rect">
            <a:avLst/>
          </a:prstGeom>
          <a:noFill/>
          <a:ln/>
        </p:spPr>
        <p:txBody>
          <a:bodyPr wrap="none" lIns="0" tIns="0" rIns="0" bIns="0" rtlCol="0" anchor="t"/>
          <a:lstStyle/>
          <a:p>
            <a:pPr algn="ctr"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Call Intake</a:t>
            </a:r>
            <a:endParaRPr lang="en-US" sz="2100" dirty="0"/>
          </a:p>
        </p:txBody>
      </p:sp>
      <p:pic>
        <p:nvPicPr>
          <p:cNvPr id="6"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17498" y="3539934"/>
            <a:ext cx="419389" cy="419389"/>
          </a:xfrm>
          <a:prstGeom prst="rect">
            <a:avLst/>
          </a:prstGeom>
        </p:spPr>
      </p:pic>
      <p:sp>
        <p:nvSpPr>
          <p:cNvPr id="7" name="Text 2"/>
          <p:cNvSpPr/>
          <p:nvPr/>
        </p:nvSpPr>
        <p:spPr>
          <a:xfrm>
            <a:off x="8195822" y="2023394"/>
            <a:ext cx="2696071" cy="337009"/>
          </a:xfrm>
          <a:prstGeom prst="rect">
            <a:avLst/>
          </a:prstGeom>
          <a:noFill/>
          <a:ln/>
        </p:spPr>
        <p:txBody>
          <a:bodyPr wrap="none" lIns="0" tIns="0" rIns="0" bIns="0" rtlCol="0" anchor="t"/>
          <a:lstStyle/>
          <a:p>
            <a:pPr algn="ctr"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Auto Ticketing</a:t>
            </a:r>
            <a:endParaRPr lang="en-US" sz="2100" dirty="0"/>
          </a:p>
        </p:txBody>
      </p:sp>
      <p:pic>
        <p:nvPicPr>
          <p:cNvPr id="8"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626464" y="5301367"/>
            <a:ext cx="419389" cy="419389"/>
          </a:xfrm>
          <a:prstGeom prst="rect">
            <a:avLst/>
          </a:prstGeom>
        </p:spPr>
      </p:pic>
      <p:sp>
        <p:nvSpPr>
          <p:cNvPr id="9" name="Text 3"/>
          <p:cNvSpPr/>
          <p:nvPr/>
        </p:nvSpPr>
        <p:spPr>
          <a:xfrm>
            <a:off x="9525696" y="4683518"/>
            <a:ext cx="2696072" cy="337008"/>
          </a:xfrm>
          <a:prstGeom prst="rect">
            <a:avLst/>
          </a:prstGeom>
          <a:noFill/>
          <a:ln/>
        </p:spPr>
        <p:txBody>
          <a:bodyPr wrap="none" lIns="0" tIns="0" rIns="0" bIns="0" rtlCol="0" anchor="t"/>
          <a:lstStyle/>
          <a:p>
            <a:pPr algn="ctr"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Resolution</a:t>
            </a:r>
            <a:endParaRPr lang="en-US" sz="2100" dirty="0"/>
          </a:p>
        </p:txBody>
      </p:sp>
      <p:pic>
        <p:nvPicPr>
          <p:cNvPr id="10"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781340" y="4510520"/>
            <a:ext cx="419389" cy="419389"/>
          </a:xfrm>
          <a:prstGeom prst="rect">
            <a:avLst/>
          </a:prstGeom>
        </p:spPr>
      </p:pic>
      <p:sp>
        <p:nvSpPr>
          <p:cNvPr id="11" name="Text 4"/>
          <p:cNvSpPr/>
          <p:nvPr/>
        </p:nvSpPr>
        <p:spPr>
          <a:xfrm>
            <a:off x="3726334" y="6001597"/>
            <a:ext cx="2696071" cy="337009"/>
          </a:xfrm>
          <a:prstGeom prst="rect">
            <a:avLst/>
          </a:prstGeom>
          <a:noFill/>
          <a:ln/>
        </p:spPr>
        <p:txBody>
          <a:bodyPr wrap="none" lIns="0" tIns="0" rIns="0" bIns="0" rtlCol="0" anchor="t"/>
          <a:lstStyle/>
          <a:p>
            <a:pPr algn="ctr" indent="0" marL="0">
              <a:lnSpc>
                <a:spcPts val="2650"/>
              </a:lnSpc>
              <a:buNone/>
            </a:pPr>
            <a:r>
              <a:rPr lang="en-US" sz="2100" b="1" dirty="0">
                <a:solidFill>
                  <a:srgbClr val="272525"/>
                </a:solidFill>
                <a:latin typeface="Inter Bold" pitchFamily="34" charset="0"/>
                <a:ea typeface="Inter Bold" pitchFamily="34" charset="-122"/>
                <a:cs typeface="Inter Bold" pitchFamily="34" charset="-120"/>
              </a:rPr>
              <a:t>Human Handoff</a:t>
            </a:r>
            <a:endParaRPr lang="en-US" sz="2100" dirty="0"/>
          </a:p>
        </p:txBody>
      </p:sp>
      <p:sp>
        <p:nvSpPr>
          <p:cNvPr id="12" name="Text 5"/>
          <p:cNvSpPr/>
          <p:nvPr/>
        </p:nvSpPr>
        <p:spPr>
          <a:xfrm>
            <a:off x="1323737" y="7174944"/>
            <a:ext cx="11982807" cy="490538"/>
          </a:xfrm>
          <a:prstGeom prst="rect">
            <a:avLst/>
          </a:prstGeom>
          <a:noFill/>
          <a:ln/>
        </p:spPr>
        <p:txBody>
          <a:bodyPr wrap="square" lIns="0" tIns="0" rIns="0" bIns="0" rtlCol="0" anchor="t"/>
          <a:lstStyle/>
          <a:p>
            <a:pPr algn="l" indent="0" marL="0">
              <a:lnSpc>
                <a:spcPts val="1900"/>
              </a:lnSpc>
              <a:buNone/>
            </a:pPr>
            <a:r>
              <a:rPr lang="en-US" sz="1350" dirty="0">
                <a:solidFill>
                  <a:srgbClr val="272525"/>
                </a:solidFill>
                <a:latin typeface="Inter" pitchFamily="34" charset="0"/>
                <a:ea typeface="Inter" pitchFamily="34" charset="-122"/>
                <a:cs typeface="Inter" pitchFamily="34" charset="-120"/>
              </a:rPr>
              <a:t>Every caller interaction flows through an intelligent, automated pipeline — resolving issues instantly when possible and escalating with full context when human expertise is needed. This architecture ensures zero wait times, consistent handling, and complete audit trails for every ticket.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49617"/>
            <a:ext cx="7296507" cy="708779"/>
          </a:xfrm>
          <a:prstGeom prst="rect">
            <a:avLst/>
          </a:prstGeom>
          <a:noFill/>
          <a:ln/>
        </p:spPr>
        <p:txBody>
          <a:bodyPr wrap="none" lIns="0" tIns="0" rIns="0" bIns="0" rtlCol="0" anchor="t"/>
          <a:lstStyle/>
          <a:p>
            <a:pPr algn="l" indent="0" marL="0">
              <a:lnSpc>
                <a:spcPts val="5550"/>
              </a:lnSpc>
              <a:buNone/>
            </a:pPr>
            <a:r>
              <a:rPr lang="en-US" sz="4450" b="1" dirty="0">
                <a:solidFill>
                  <a:srgbClr val="000000"/>
                </a:solidFill>
                <a:latin typeface="Inter Bold" pitchFamily="34" charset="0"/>
                <a:ea typeface="Inter Bold" pitchFamily="34" charset="-122"/>
                <a:cs typeface="Inter Bold" pitchFamily="34" charset="-120"/>
              </a:rPr>
              <a:t>Where the AI Takes Action</a:t>
            </a:r>
            <a:endParaRPr lang="en-US" sz="4450" dirty="0"/>
          </a:p>
        </p:txBody>
      </p:sp>
      <p:sp>
        <p:nvSpPr>
          <p:cNvPr id="3" name="Text 1"/>
          <p:cNvSpPr/>
          <p:nvPr/>
        </p:nvSpPr>
        <p:spPr>
          <a:xfrm>
            <a:off x="793790" y="1912025"/>
            <a:ext cx="13042821"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The AI automates high-volume, repetitive tasks across all supported applications — freeing agents for complex escalations.</a:t>
            </a:r>
            <a:endParaRPr lang="en-US" sz="175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93790" y="2892981"/>
            <a:ext cx="566976" cy="566976"/>
          </a:xfrm>
          <a:prstGeom prst="rect">
            <a:avLst/>
          </a:prstGeom>
        </p:spPr>
      </p:pic>
      <p:sp>
        <p:nvSpPr>
          <p:cNvPr id="5" name="Text 2"/>
          <p:cNvSpPr/>
          <p:nvPr/>
        </p:nvSpPr>
        <p:spPr>
          <a:xfrm>
            <a:off x="793790" y="3743444"/>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General Tasks</a:t>
            </a:r>
            <a:endParaRPr lang="en-US" sz="2200" dirty="0"/>
          </a:p>
        </p:txBody>
      </p:sp>
      <p:sp>
        <p:nvSpPr>
          <p:cNvPr id="6" name="Text 3"/>
          <p:cNvSpPr/>
          <p:nvPr/>
        </p:nvSpPr>
        <p:spPr>
          <a:xfrm>
            <a:off x="793790" y="4233863"/>
            <a:ext cx="6379607"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Automates mobile/email updates, password resets, and ticket status inquiries.</a:t>
            </a:r>
            <a:endParaRPr lang="en-US" sz="17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456884" y="2892981"/>
            <a:ext cx="566976" cy="566976"/>
          </a:xfrm>
          <a:prstGeom prst="rect">
            <a:avLst/>
          </a:prstGeom>
        </p:spPr>
      </p:pic>
      <p:sp>
        <p:nvSpPr>
          <p:cNvPr id="8" name="Text 4"/>
          <p:cNvSpPr/>
          <p:nvPr/>
        </p:nvSpPr>
        <p:spPr>
          <a:xfrm>
            <a:off x="7456884" y="3743444"/>
            <a:ext cx="3400187"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Non-Tagging Elimination</a:t>
            </a:r>
            <a:endParaRPr lang="en-US" sz="2200" dirty="0"/>
          </a:p>
        </p:txBody>
      </p:sp>
      <p:sp>
        <p:nvSpPr>
          <p:cNvPr id="9" name="Text 5"/>
          <p:cNvSpPr/>
          <p:nvPr/>
        </p:nvSpPr>
        <p:spPr>
          <a:xfrm>
            <a:off x="7456884" y="4233863"/>
            <a:ext cx="637972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Automatically filters and redirects misrouted calls, eliminating </a:t>
            </a:r>
            <a:pPr algn="l" indent="0" marL="0">
              <a:lnSpc>
                <a:spcPts val="2850"/>
              </a:lnSpc>
              <a:buNone/>
            </a:pPr>
            <a:r>
              <a:rPr lang="en-US" sz="1750" b="1" dirty="0">
                <a:solidFill>
                  <a:srgbClr val="272525"/>
                </a:solidFill>
                <a:latin typeface="Inter" pitchFamily="34" charset="0"/>
                <a:ea typeface="Inter" pitchFamily="34" charset="-122"/>
                <a:cs typeface="Inter" pitchFamily="34" charset="-120"/>
              </a:rPr>
              <a:t>10% of manual volume</a:t>
            </a:r>
            <a:pPr algn="l" indent="0" marL="0">
              <a:lnSpc>
                <a:spcPts val="2850"/>
              </a:lnSpc>
              <a:buNone/>
            </a:pPr>
            <a:r>
              <a:rPr lang="en-US" sz="1750" dirty="0">
                <a:solidFill>
                  <a:srgbClr val="272525"/>
                </a:solidFill>
                <a:latin typeface="Inter" pitchFamily="34" charset="0"/>
                <a:ea typeface="Inter" pitchFamily="34" charset="-122"/>
                <a:cs typeface="Inter" pitchFamily="34" charset="-120"/>
              </a:rPr>
              <a:t>.</a:t>
            </a:r>
            <a:endParaRPr lang="en-US" sz="1750" dirty="0"/>
          </a:p>
        </p:txBody>
      </p:sp>
      <p:pic>
        <p:nvPicPr>
          <p:cNvPr id="1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3790" y="5413296"/>
            <a:ext cx="566976" cy="566976"/>
          </a:xfrm>
          <a:prstGeom prst="rect">
            <a:avLst/>
          </a:prstGeom>
        </p:spPr>
      </p:pic>
      <p:sp>
        <p:nvSpPr>
          <p:cNvPr id="11" name="Text 6"/>
          <p:cNvSpPr/>
          <p:nvPr/>
        </p:nvSpPr>
        <p:spPr>
          <a:xfrm>
            <a:off x="793790" y="6263759"/>
            <a:ext cx="2835235"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GMCS &amp; SmartDOST</a:t>
            </a:r>
            <a:endParaRPr lang="en-US" sz="2200" dirty="0"/>
          </a:p>
        </p:txBody>
      </p:sp>
      <p:sp>
        <p:nvSpPr>
          <p:cNvPr id="12" name="Text 7"/>
          <p:cNvSpPr/>
          <p:nvPr/>
        </p:nvSpPr>
        <p:spPr>
          <a:xfrm>
            <a:off x="793790" y="6754177"/>
            <a:ext cx="6379607"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Auto-emails APK links for version upgrades and guides users through configuration steps.</a:t>
            </a:r>
            <a:endParaRPr lang="en-US" sz="1750" dirty="0"/>
          </a:p>
        </p:txBody>
      </p:sp>
      <p:pic>
        <p:nvPicPr>
          <p:cNvPr id="13"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56884" y="5413296"/>
            <a:ext cx="566976" cy="566976"/>
          </a:xfrm>
          <a:prstGeom prst="rect">
            <a:avLst/>
          </a:prstGeom>
        </p:spPr>
      </p:pic>
      <p:sp>
        <p:nvSpPr>
          <p:cNvPr id="14" name="Text 8"/>
          <p:cNvSpPr/>
          <p:nvPr/>
        </p:nvSpPr>
        <p:spPr>
          <a:xfrm>
            <a:off x="7456884" y="6263759"/>
            <a:ext cx="2981087" cy="354330"/>
          </a:xfrm>
          <a:prstGeom prst="rect">
            <a:avLst/>
          </a:prstGeom>
          <a:noFill/>
          <a:ln/>
        </p:spPr>
        <p:txBody>
          <a:bodyPr wrap="none" lIns="0" tIns="0" rIns="0" bIns="0" rtlCol="0" anchor="t"/>
          <a:lstStyle/>
          <a:p>
            <a:pPr algn="l" indent="0" marL="0">
              <a:lnSpc>
                <a:spcPts val="2750"/>
              </a:lnSpc>
              <a:buNone/>
            </a:pPr>
            <a:r>
              <a:rPr lang="en-US" sz="2200" b="1" dirty="0">
                <a:solidFill>
                  <a:srgbClr val="272525"/>
                </a:solidFill>
                <a:latin typeface="Inter Bold" pitchFamily="34" charset="0"/>
                <a:ea typeface="Inter Bold" pitchFamily="34" charset="-122"/>
                <a:cs typeface="Inter Bold" pitchFamily="34" charset="-120"/>
              </a:rPr>
              <a:t>EPOS &amp; DMS Connect</a:t>
            </a:r>
            <a:endParaRPr lang="en-US" sz="2200" dirty="0"/>
          </a:p>
        </p:txBody>
      </p:sp>
      <p:sp>
        <p:nvSpPr>
          <p:cNvPr id="15" name="Text 9"/>
          <p:cNvSpPr/>
          <p:nvPr/>
        </p:nvSpPr>
        <p:spPr>
          <a:xfrm>
            <a:off x="7456884" y="6754177"/>
            <a:ext cx="6379726" cy="725805"/>
          </a:xfrm>
          <a:prstGeom prst="rect">
            <a:avLst/>
          </a:prstGeom>
          <a:noFill/>
          <a:ln/>
        </p:spPr>
        <p:txBody>
          <a:bodyPr wrap="square" lIns="0" tIns="0" rIns="0" bIns="0" rtlCol="0" anchor="t"/>
          <a:lstStyle/>
          <a:p>
            <a:pPr algn="l" indent="0" marL="0">
              <a:lnSpc>
                <a:spcPts val="2850"/>
              </a:lnSpc>
              <a:buNone/>
            </a:pPr>
            <a:r>
              <a:rPr lang="en-US" sz="1750" dirty="0">
                <a:solidFill>
                  <a:srgbClr val="272525"/>
                </a:solidFill>
                <a:latin typeface="Inter" pitchFamily="34" charset="0"/>
                <a:ea typeface="Inter" pitchFamily="34" charset="-122"/>
                <a:cs typeface="Inter" pitchFamily="34" charset="-120"/>
              </a:rPr>
              <a:t>Verifies DB numbers, guides cache clearing for OTP issues, and supports beat plan workflow submissions.</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1079183" y="584716"/>
            <a:ext cx="6457117" cy="564713"/>
          </a:xfrm>
          <a:prstGeom prst="rect">
            <a:avLst/>
          </a:prstGeom>
          <a:noFill/>
          <a:ln/>
        </p:spPr>
        <p:txBody>
          <a:bodyPr wrap="none" lIns="0" tIns="0" rIns="0" bIns="0" rtlCol="0" anchor="t"/>
          <a:lstStyle/>
          <a:p>
            <a:pPr algn="l" indent="0" marL="0">
              <a:lnSpc>
                <a:spcPts val="4400"/>
              </a:lnSpc>
              <a:buNone/>
            </a:pPr>
            <a:r>
              <a:rPr lang="en-US" sz="3550" b="1" dirty="0">
                <a:solidFill>
                  <a:srgbClr val="000000"/>
                </a:solidFill>
                <a:latin typeface="Inter Bold" pitchFamily="34" charset="0"/>
                <a:ea typeface="Inter Bold" pitchFamily="34" charset="-122"/>
                <a:cs typeface="Inter Bold" pitchFamily="34" charset="-120"/>
              </a:rPr>
              <a:t>Quantifiable Business Impact</a:t>
            </a:r>
            <a:endParaRPr lang="en-US" sz="3550" dirty="0"/>
          </a:p>
        </p:txBody>
      </p:sp>
      <p:sp>
        <p:nvSpPr>
          <p:cNvPr id="3" name="Text 1"/>
          <p:cNvSpPr/>
          <p:nvPr/>
        </p:nvSpPr>
        <p:spPr>
          <a:xfrm>
            <a:off x="1079183" y="1527810"/>
            <a:ext cx="6145887" cy="596384"/>
          </a:xfrm>
          <a:prstGeom prst="rect">
            <a:avLst/>
          </a:prstGeom>
          <a:noFill/>
          <a:ln/>
        </p:spPr>
        <p:txBody>
          <a:bodyPr wrap="none" lIns="0" tIns="0" rIns="0" bIns="0" rtlCol="0" anchor="t"/>
          <a:lstStyle/>
          <a:p>
            <a:pPr algn="ctr" indent="0" marL="0">
              <a:lnSpc>
                <a:spcPts val="4650"/>
              </a:lnSpc>
              <a:buNone/>
            </a:pPr>
            <a:r>
              <a:rPr lang="en-US" sz="4650" b="1" dirty="0">
                <a:solidFill>
                  <a:srgbClr val="272525"/>
                </a:solidFill>
                <a:latin typeface="Inter Bold" pitchFamily="34" charset="0"/>
                <a:ea typeface="Inter Bold" pitchFamily="34" charset="-122"/>
                <a:cs typeface="Inter Bold" pitchFamily="34" charset="-120"/>
              </a:rPr>
              <a:t>30%</a:t>
            </a:r>
            <a:endParaRPr lang="en-US" sz="4650" dirty="0"/>
          </a:p>
        </p:txBody>
      </p:sp>
      <p:sp>
        <p:nvSpPr>
          <p:cNvPr id="4" name="Text 2"/>
          <p:cNvSpPr/>
          <p:nvPr/>
        </p:nvSpPr>
        <p:spPr>
          <a:xfrm>
            <a:off x="3022402" y="2322552"/>
            <a:ext cx="2259330" cy="282416"/>
          </a:xfrm>
          <a:prstGeom prst="rect">
            <a:avLst/>
          </a:prstGeom>
          <a:noFill/>
          <a:ln/>
        </p:spPr>
        <p:txBody>
          <a:bodyPr wrap="none" lIns="0" tIns="0" rIns="0" bIns="0" rtlCol="0" anchor="t"/>
          <a:lstStyle/>
          <a:p>
            <a:pPr algn="ctr"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Call Deflection</a:t>
            </a:r>
            <a:endParaRPr lang="en-US" sz="1750" dirty="0"/>
          </a:p>
        </p:txBody>
      </p:sp>
      <p:sp>
        <p:nvSpPr>
          <p:cNvPr id="5" name="Text 3"/>
          <p:cNvSpPr/>
          <p:nvPr/>
        </p:nvSpPr>
        <p:spPr>
          <a:xfrm>
            <a:off x="1079183" y="2691289"/>
            <a:ext cx="6145887" cy="259794"/>
          </a:xfrm>
          <a:prstGeom prst="rect">
            <a:avLst/>
          </a:prstGeom>
          <a:noFill/>
          <a:ln/>
        </p:spPr>
        <p:txBody>
          <a:bodyPr wrap="none" lIns="0" tIns="0" rIns="0" bIns="0" rtlCol="0" anchor="t"/>
          <a:lstStyle/>
          <a:p>
            <a:pPr algn="ctr" indent="0" marL="0">
              <a:lnSpc>
                <a:spcPts val="2000"/>
              </a:lnSpc>
              <a:buNone/>
            </a:pPr>
            <a:r>
              <a:rPr lang="en-US" sz="1400" dirty="0">
                <a:solidFill>
                  <a:srgbClr val="272525"/>
                </a:solidFill>
                <a:latin typeface="Inter" pitchFamily="34" charset="0"/>
                <a:ea typeface="Inter" pitchFamily="34" charset="-122"/>
                <a:cs typeface="Inter" pitchFamily="34" charset="-120"/>
              </a:rPr>
              <a:t>18% of historical issues handled by AI + 10% non-tagging elimination</a:t>
            </a:r>
            <a:endParaRPr lang="en-US" sz="1400" dirty="0"/>
          </a:p>
        </p:txBody>
      </p:sp>
      <p:sp>
        <p:nvSpPr>
          <p:cNvPr id="6" name="Text 4"/>
          <p:cNvSpPr/>
          <p:nvPr/>
        </p:nvSpPr>
        <p:spPr>
          <a:xfrm>
            <a:off x="7405092" y="1527810"/>
            <a:ext cx="6146006" cy="596384"/>
          </a:xfrm>
          <a:prstGeom prst="rect">
            <a:avLst/>
          </a:prstGeom>
          <a:noFill/>
          <a:ln/>
        </p:spPr>
        <p:txBody>
          <a:bodyPr wrap="none" lIns="0" tIns="0" rIns="0" bIns="0" rtlCol="0" anchor="t"/>
          <a:lstStyle/>
          <a:p>
            <a:pPr algn="ctr" indent="0" marL="0">
              <a:lnSpc>
                <a:spcPts val="4650"/>
              </a:lnSpc>
              <a:buNone/>
            </a:pPr>
            <a:r>
              <a:rPr lang="en-US" sz="4650" b="1" dirty="0">
                <a:solidFill>
                  <a:srgbClr val="272525"/>
                </a:solidFill>
                <a:latin typeface="Inter Bold" pitchFamily="34" charset="0"/>
                <a:ea typeface="Inter Bold" pitchFamily="34" charset="-122"/>
                <a:cs typeface="Inter Bold" pitchFamily="34" charset="-120"/>
              </a:rPr>
              <a:t>7%</a:t>
            </a:r>
            <a:endParaRPr lang="en-US" sz="4650" dirty="0"/>
          </a:p>
        </p:txBody>
      </p:sp>
      <p:sp>
        <p:nvSpPr>
          <p:cNvPr id="7" name="Text 5"/>
          <p:cNvSpPr/>
          <p:nvPr/>
        </p:nvSpPr>
        <p:spPr>
          <a:xfrm>
            <a:off x="9348430" y="2322552"/>
            <a:ext cx="2259330" cy="282416"/>
          </a:xfrm>
          <a:prstGeom prst="rect">
            <a:avLst/>
          </a:prstGeom>
          <a:noFill/>
          <a:ln/>
        </p:spPr>
        <p:txBody>
          <a:bodyPr wrap="none" lIns="0" tIns="0" rIns="0" bIns="0" rtlCol="0" anchor="t"/>
          <a:lstStyle/>
          <a:p>
            <a:pPr algn="ctr"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Annual Savings</a:t>
            </a:r>
            <a:endParaRPr lang="en-US" sz="1750" dirty="0"/>
          </a:p>
        </p:txBody>
      </p:sp>
      <p:sp>
        <p:nvSpPr>
          <p:cNvPr id="8" name="Text 6"/>
          <p:cNvSpPr/>
          <p:nvPr/>
        </p:nvSpPr>
        <p:spPr>
          <a:xfrm>
            <a:off x="7405092" y="2691289"/>
            <a:ext cx="6146006" cy="259794"/>
          </a:xfrm>
          <a:prstGeom prst="rect">
            <a:avLst/>
          </a:prstGeom>
          <a:noFill/>
          <a:ln/>
        </p:spPr>
        <p:txBody>
          <a:bodyPr wrap="none" lIns="0" tIns="0" rIns="0" bIns="0" rtlCol="0" anchor="t"/>
          <a:lstStyle/>
          <a:p>
            <a:pPr algn="ctr" indent="0" marL="0">
              <a:lnSpc>
                <a:spcPts val="2000"/>
              </a:lnSpc>
              <a:buNone/>
            </a:pPr>
            <a:r>
              <a:rPr lang="en-US" sz="1400" dirty="0">
                <a:solidFill>
                  <a:srgbClr val="272525"/>
                </a:solidFill>
                <a:latin typeface="Inter" pitchFamily="34" charset="0"/>
                <a:ea typeface="Inter" pitchFamily="34" charset="-122"/>
                <a:cs typeface="Inter" pitchFamily="34" charset="-120"/>
              </a:rPr>
              <a:t>Direct operational cost reduction from decreased manual call volume</a:t>
            </a:r>
            <a:endParaRPr lang="en-US" sz="1400" dirty="0"/>
          </a:p>
        </p:txBody>
      </p:sp>
      <p:sp>
        <p:nvSpPr>
          <p:cNvPr id="9" name="Text 7"/>
          <p:cNvSpPr/>
          <p:nvPr/>
        </p:nvSpPr>
        <p:spPr>
          <a:xfrm>
            <a:off x="1079183" y="3329464"/>
            <a:ext cx="6145887" cy="596384"/>
          </a:xfrm>
          <a:prstGeom prst="rect">
            <a:avLst/>
          </a:prstGeom>
          <a:noFill/>
          <a:ln/>
        </p:spPr>
        <p:txBody>
          <a:bodyPr wrap="none" lIns="0" tIns="0" rIns="0" bIns="0" rtlCol="0" anchor="t"/>
          <a:lstStyle/>
          <a:p>
            <a:pPr algn="ctr" indent="0" marL="0">
              <a:lnSpc>
                <a:spcPts val="4650"/>
              </a:lnSpc>
              <a:buNone/>
            </a:pPr>
            <a:r>
              <a:rPr lang="en-US" sz="4650" b="1" dirty="0">
                <a:solidFill>
                  <a:srgbClr val="272525"/>
                </a:solidFill>
                <a:latin typeface="Inter Bold" pitchFamily="34" charset="0"/>
                <a:ea typeface="Inter Bold" pitchFamily="34" charset="-122"/>
                <a:cs typeface="Inter Bold" pitchFamily="34" charset="-120"/>
              </a:rPr>
              <a:t>+16%</a:t>
            </a:r>
            <a:endParaRPr lang="en-US" sz="4650" dirty="0"/>
          </a:p>
        </p:txBody>
      </p:sp>
      <p:sp>
        <p:nvSpPr>
          <p:cNvPr id="10" name="Text 8"/>
          <p:cNvSpPr/>
          <p:nvPr/>
        </p:nvSpPr>
        <p:spPr>
          <a:xfrm>
            <a:off x="3022402" y="4124206"/>
            <a:ext cx="2259330" cy="282416"/>
          </a:xfrm>
          <a:prstGeom prst="rect">
            <a:avLst/>
          </a:prstGeom>
          <a:noFill/>
          <a:ln/>
        </p:spPr>
        <p:txBody>
          <a:bodyPr wrap="none" lIns="0" tIns="0" rIns="0" bIns="0" rtlCol="0" anchor="t"/>
          <a:lstStyle/>
          <a:p>
            <a:pPr algn="ctr"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First Call Resolution</a:t>
            </a:r>
            <a:endParaRPr lang="en-US" sz="1750" dirty="0"/>
          </a:p>
        </p:txBody>
      </p:sp>
      <p:sp>
        <p:nvSpPr>
          <p:cNvPr id="11" name="Text 9"/>
          <p:cNvSpPr/>
          <p:nvPr/>
        </p:nvSpPr>
        <p:spPr>
          <a:xfrm>
            <a:off x="1079183" y="4492942"/>
            <a:ext cx="6145887" cy="259794"/>
          </a:xfrm>
          <a:prstGeom prst="rect">
            <a:avLst/>
          </a:prstGeom>
          <a:noFill/>
          <a:ln/>
        </p:spPr>
        <p:txBody>
          <a:bodyPr wrap="none" lIns="0" tIns="0" rIns="0" bIns="0" rtlCol="0" anchor="t"/>
          <a:lstStyle/>
          <a:p>
            <a:pPr algn="ctr" indent="0" marL="0">
              <a:lnSpc>
                <a:spcPts val="2000"/>
              </a:lnSpc>
              <a:buNone/>
            </a:pPr>
            <a:r>
              <a:rPr lang="en-US" sz="1400" dirty="0">
                <a:solidFill>
                  <a:srgbClr val="272525"/>
                </a:solidFill>
                <a:latin typeface="Inter" pitchFamily="34" charset="0"/>
                <a:ea typeface="Inter" pitchFamily="34" charset="-122"/>
                <a:cs typeface="Inter" pitchFamily="34" charset="-120"/>
              </a:rPr>
              <a:t>FCR increase via immediate AI Knowledge Base lookup</a:t>
            </a:r>
            <a:endParaRPr lang="en-US" sz="1400" dirty="0"/>
          </a:p>
        </p:txBody>
      </p:sp>
      <p:sp>
        <p:nvSpPr>
          <p:cNvPr id="12" name="Text 10"/>
          <p:cNvSpPr/>
          <p:nvPr/>
        </p:nvSpPr>
        <p:spPr>
          <a:xfrm>
            <a:off x="7405092" y="3329464"/>
            <a:ext cx="6146006" cy="596384"/>
          </a:xfrm>
          <a:prstGeom prst="rect">
            <a:avLst/>
          </a:prstGeom>
          <a:noFill/>
          <a:ln/>
        </p:spPr>
        <p:txBody>
          <a:bodyPr wrap="none" lIns="0" tIns="0" rIns="0" bIns="0" rtlCol="0" anchor="t"/>
          <a:lstStyle/>
          <a:p>
            <a:pPr algn="ctr" indent="0" marL="0">
              <a:lnSpc>
                <a:spcPts val="4650"/>
              </a:lnSpc>
              <a:buNone/>
            </a:pPr>
            <a:r>
              <a:rPr lang="en-US" sz="4650" b="1" dirty="0">
                <a:solidFill>
                  <a:srgbClr val="272525"/>
                </a:solidFill>
                <a:latin typeface="Inter Bold" pitchFamily="34" charset="0"/>
                <a:ea typeface="Inter Bold" pitchFamily="34" charset="-122"/>
                <a:cs typeface="Inter Bold" pitchFamily="34" charset="-120"/>
              </a:rPr>
              <a:t>-1 Min</a:t>
            </a:r>
            <a:endParaRPr lang="en-US" sz="4650" dirty="0"/>
          </a:p>
        </p:txBody>
      </p:sp>
      <p:sp>
        <p:nvSpPr>
          <p:cNvPr id="13" name="Text 11"/>
          <p:cNvSpPr/>
          <p:nvPr/>
        </p:nvSpPr>
        <p:spPr>
          <a:xfrm>
            <a:off x="9300686" y="4124206"/>
            <a:ext cx="2354699" cy="282416"/>
          </a:xfrm>
          <a:prstGeom prst="rect">
            <a:avLst/>
          </a:prstGeom>
          <a:noFill/>
          <a:ln/>
        </p:spPr>
        <p:txBody>
          <a:bodyPr wrap="none" lIns="0" tIns="0" rIns="0" bIns="0" rtlCol="0" anchor="t"/>
          <a:lstStyle/>
          <a:p>
            <a:pPr algn="ctr"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Average Handle Time</a:t>
            </a:r>
            <a:endParaRPr lang="en-US" sz="1750" dirty="0"/>
          </a:p>
        </p:txBody>
      </p:sp>
      <p:sp>
        <p:nvSpPr>
          <p:cNvPr id="14" name="Text 12"/>
          <p:cNvSpPr/>
          <p:nvPr/>
        </p:nvSpPr>
        <p:spPr>
          <a:xfrm>
            <a:off x="7405092" y="4492942"/>
            <a:ext cx="6146006" cy="259794"/>
          </a:xfrm>
          <a:prstGeom prst="rect">
            <a:avLst/>
          </a:prstGeom>
          <a:noFill/>
          <a:ln/>
        </p:spPr>
        <p:txBody>
          <a:bodyPr wrap="none" lIns="0" tIns="0" rIns="0" bIns="0" rtlCol="0" anchor="t"/>
          <a:lstStyle/>
          <a:p>
            <a:pPr algn="ctr" indent="0" marL="0">
              <a:lnSpc>
                <a:spcPts val="2000"/>
              </a:lnSpc>
              <a:buNone/>
            </a:pPr>
            <a:r>
              <a:rPr lang="en-US" sz="1400" dirty="0">
                <a:solidFill>
                  <a:srgbClr val="272525"/>
                </a:solidFill>
                <a:latin typeface="Inter" pitchFamily="34" charset="0"/>
                <a:ea typeface="Inter" pitchFamily="34" charset="-122"/>
                <a:cs typeface="Inter" pitchFamily="34" charset="-120"/>
              </a:rPr>
              <a:t>Reduced by a full minute for auto-created tickets</a:t>
            </a:r>
            <a:endParaRPr lang="en-US" sz="1400" dirty="0"/>
          </a:p>
        </p:txBody>
      </p:sp>
      <p:sp>
        <p:nvSpPr>
          <p:cNvPr id="15" name="Text 13"/>
          <p:cNvSpPr/>
          <p:nvPr/>
        </p:nvSpPr>
        <p:spPr>
          <a:xfrm>
            <a:off x="1079183" y="5131118"/>
            <a:ext cx="6145887" cy="596384"/>
          </a:xfrm>
          <a:prstGeom prst="rect">
            <a:avLst/>
          </a:prstGeom>
          <a:noFill/>
          <a:ln/>
        </p:spPr>
        <p:txBody>
          <a:bodyPr wrap="none" lIns="0" tIns="0" rIns="0" bIns="0" rtlCol="0" anchor="t"/>
          <a:lstStyle/>
          <a:p>
            <a:pPr algn="ctr" indent="0" marL="0">
              <a:lnSpc>
                <a:spcPts val="4650"/>
              </a:lnSpc>
              <a:buNone/>
            </a:pPr>
            <a:r>
              <a:rPr lang="en-US" sz="4650" b="1" dirty="0">
                <a:solidFill>
                  <a:srgbClr val="272525"/>
                </a:solidFill>
                <a:latin typeface="Inter Bold" pitchFamily="34" charset="0"/>
                <a:ea typeface="Inter Bold" pitchFamily="34" charset="-122"/>
                <a:cs typeface="Inter Bold" pitchFamily="34" charset="-120"/>
              </a:rPr>
              <a:t>+10%</a:t>
            </a:r>
            <a:endParaRPr lang="en-US" sz="4650" dirty="0"/>
          </a:p>
        </p:txBody>
      </p:sp>
      <p:sp>
        <p:nvSpPr>
          <p:cNvPr id="16" name="Text 14"/>
          <p:cNvSpPr/>
          <p:nvPr/>
        </p:nvSpPr>
        <p:spPr>
          <a:xfrm>
            <a:off x="3022402" y="5925860"/>
            <a:ext cx="2259330" cy="282416"/>
          </a:xfrm>
          <a:prstGeom prst="rect">
            <a:avLst/>
          </a:prstGeom>
          <a:noFill/>
          <a:ln/>
        </p:spPr>
        <p:txBody>
          <a:bodyPr wrap="none" lIns="0" tIns="0" rIns="0" bIns="0" rtlCol="0" anchor="t"/>
          <a:lstStyle/>
          <a:p>
            <a:pPr algn="ctr"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NPS Score</a:t>
            </a:r>
            <a:endParaRPr lang="en-US" sz="1750" dirty="0"/>
          </a:p>
        </p:txBody>
      </p:sp>
      <p:sp>
        <p:nvSpPr>
          <p:cNvPr id="17" name="Text 15"/>
          <p:cNvSpPr/>
          <p:nvPr/>
        </p:nvSpPr>
        <p:spPr>
          <a:xfrm>
            <a:off x="1079183" y="6294596"/>
            <a:ext cx="6145887" cy="259794"/>
          </a:xfrm>
          <a:prstGeom prst="rect">
            <a:avLst/>
          </a:prstGeom>
          <a:noFill/>
          <a:ln/>
        </p:spPr>
        <p:txBody>
          <a:bodyPr wrap="none" lIns="0" tIns="0" rIns="0" bIns="0" rtlCol="0" anchor="t"/>
          <a:lstStyle/>
          <a:p>
            <a:pPr algn="ctr" indent="0" marL="0">
              <a:lnSpc>
                <a:spcPts val="2000"/>
              </a:lnSpc>
              <a:buNone/>
            </a:pPr>
            <a:r>
              <a:rPr lang="en-US" sz="1400" dirty="0">
                <a:solidFill>
                  <a:srgbClr val="272525"/>
                </a:solidFill>
                <a:latin typeface="Inter" pitchFamily="34" charset="0"/>
                <a:ea typeface="Inter" pitchFamily="34" charset="-122"/>
                <a:cs typeface="Inter" pitchFamily="34" charset="-120"/>
              </a:rPr>
              <a:t>Driven by multi-language support and zero wait times</a:t>
            </a:r>
            <a:endParaRPr lang="en-US" sz="1400" dirty="0"/>
          </a:p>
        </p:txBody>
      </p:sp>
      <p:sp>
        <p:nvSpPr>
          <p:cNvPr id="18" name="Text 16"/>
          <p:cNvSpPr/>
          <p:nvPr/>
        </p:nvSpPr>
        <p:spPr>
          <a:xfrm>
            <a:off x="7405092" y="5131118"/>
            <a:ext cx="6146006" cy="596384"/>
          </a:xfrm>
          <a:prstGeom prst="rect">
            <a:avLst/>
          </a:prstGeom>
          <a:noFill/>
          <a:ln/>
        </p:spPr>
        <p:txBody>
          <a:bodyPr wrap="none" lIns="0" tIns="0" rIns="0" bIns="0" rtlCol="0" anchor="t"/>
          <a:lstStyle/>
          <a:p>
            <a:pPr algn="ctr" indent="0" marL="0">
              <a:lnSpc>
                <a:spcPts val="4650"/>
              </a:lnSpc>
              <a:buNone/>
            </a:pPr>
            <a:r>
              <a:rPr lang="en-US" sz="4650" b="1" dirty="0">
                <a:solidFill>
                  <a:srgbClr val="272525"/>
                </a:solidFill>
                <a:latin typeface="Inter Bold" pitchFamily="34" charset="0"/>
                <a:ea typeface="Inter Bold" pitchFamily="34" charset="-122"/>
                <a:cs typeface="Inter Bold" pitchFamily="34" charset="-120"/>
              </a:rPr>
              <a:t>&lt;5%</a:t>
            </a:r>
            <a:endParaRPr lang="en-US" sz="4650" dirty="0"/>
          </a:p>
        </p:txBody>
      </p:sp>
      <p:sp>
        <p:nvSpPr>
          <p:cNvPr id="19" name="Text 17"/>
          <p:cNvSpPr/>
          <p:nvPr/>
        </p:nvSpPr>
        <p:spPr>
          <a:xfrm>
            <a:off x="9348430" y="5925860"/>
            <a:ext cx="2259330" cy="282416"/>
          </a:xfrm>
          <a:prstGeom prst="rect">
            <a:avLst/>
          </a:prstGeom>
          <a:noFill/>
          <a:ln/>
        </p:spPr>
        <p:txBody>
          <a:bodyPr wrap="none" lIns="0" tIns="0" rIns="0" bIns="0" rtlCol="0" anchor="t"/>
          <a:lstStyle/>
          <a:p>
            <a:pPr algn="ctr" indent="0" marL="0">
              <a:lnSpc>
                <a:spcPts val="2200"/>
              </a:lnSpc>
              <a:buNone/>
            </a:pPr>
            <a:r>
              <a:rPr lang="en-US" sz="1750" b="1" dirty="0">
                <a:solidFill>
                  <a:srgbClr val="272525"/>
                </a:solidFill>
                <a:latin typeface="Inter Bold" pitchFamily="34" charset="0"/>
                <a:ea typeface="Inter Bold" pitchFamily="34" charset="-122"/>
                <a:cs typeface="Inter Bold" pitchFamily="34" charset="-120"/>
              </a:rPr>
              <a:t>Error Rate</a:t>
            </a:r>
            <a:endParaRPr lang="en-US" sz="1750" dirty="0"/>
          </a:p>
        </p:txBody>
      </p:sp>
      <p:sp>
        <p:nvSpPr>
          <p:cNvPr id="20" name="Text 18"/>
          <p:cNvSpPr/>
          <p:nvPr/>
        </p:nvSpPr>
        <p:spPr>
          <a:xfrm>
            <a:off x="7405092" y="6294596"/>
            <a:ext cx="6146006" cy="259794"/>
          </a:xfrm>
          <a:prstGeom prst="rect">
            <a:avLst/>
          </a:prstGeom>
          <a:noFill/>
          <a:ln/>
        </p:spPr>
        <p:txBody>
          <a:bodyPr wrap="none" lIns="0" tIns="0" rIns="0" bIns="0" rtlCol="0" anchor="t"/>
          <a:lstStyle/>
          <a:p>
            <a:pPr algn="ctr" indent="0" marL="0">
              <a:lnSpc>
                <a:spcPts val="2000"/>
              </a:lnSpc>
              <a:buNone/>
            </a:pPr>
            <a:r>
              <a:rPr lang="en-US" sz="1400" dirty="0">
                <a:solidFill>
                  <a:srgbClr val="272525"/>
                </a:solidFill>
                <a:latin typeface="Inter" pitchFamily="34" charset="0"/>
                <a:ea typeface="Inter" pitchFamily="34" charset="-122"/>
                <a:cs typeface="Inter" pitchFamily="34" charset="-120"/>
              </a:rPr>
              <a:t>Minimal manual intervention leads to near-zero ticketing errors</a:t>
            </a:r>
            <a:endParaRPr lang="en-US" sz="1400" dirty="0"/>
          </a:p>
        </p:txBody>
      </p:sp>
      <p:sp>
        <p:nvSpPr>
          <p:cNvPr id="21" name="Shape 19"/>
          <p:cNvSpPr/>
          <p:nvPr/>
        </p:nvSpPr>
        <p:spPr>
          <a:xfrm>
            <a:off x="1079183" y="6716316"/>
            <a:ext cx="12471916" cy="928568"/>
          </a:xfrm>
          <a:prstGeom prst="roundRect">
            <a:avLst>
              <a:gd name="adj" fmla="val 8176"/>
            </a:avLst>
          </a:prstGeom>
          <a:solidFill>
            <a:srgbClr val="B6FCB8"/>
          </a:solidFill>
          <a:ln/>
        </p:spPr>
      </p:sp>
      <p:pic>
        <p:nvPicPr>
          <p:cNvPr id="22" name="Image 0" descr="preencoded.png">    </p:cNvPr>
          <p:cNvPicPr>
            <a:picLocks noChangeAspect="1"/>
          </p:cNvPicPr>
          <p:nvPr/>
        </p:nvPicPr>
        <p:blipFill>
          <a:blip r:embed="rId1"/>
          <a:stretch>
            <a:fillRect/>
          </a:stretch>
        </p:blipFill>
        <p:spPr>
          <a:xfrm>
            <a:off x="1259919" y="6974443"/>
            <a:ext cx="225862" cy="180737"/>
          </a:xfrm>
          <a:prstGeom prst="rect">
            <a:avLst/>
          </a:prstGeom>
        </p:spPr>
      </p:pic>
      <p:sp>
        <p:nvSpPr>
          <p:cNvPr id="23" name="Text 20"/>
          <p:cNvSpPr/>
          <p:nvPr/>
        </p:nvSpPr>
        <p:spPr>
          <a:xfrm>
            <a:off x="1666518" y="6905387"/>
            <a:ext cx="11703844" cy="519589"/>
          </a:xfrm>
          <a:prstGeom prst="rect">
            <a:avLst/>
          </a:prstGeom>
          <a:noFill/>
          <a:ln/>
        </p:spPr>
        <p:txBody>
          <a:bodyPr wrap="square" lIns="0" tIns="0" rIns="0" bIns="0" rtlCol="0" anchor="t"/>
          <a:lstStyle/>
          <a:p>
            <a:pPr algn="l" indent="0" marL="0">
              <a:lnSpc>
                <a:spcPts val="2000"/>
              </a:lnSpc>
              <a:buNone/>
            </a:pPr>
            <a:r>
              <a:rPr lang="en-US" sz="1400" b="1" dirty="0">
                <a:solidFill>
                  <a:srgbClr val="000000"/>
                </a:solidFill>
                <a:latin typeface="Inter" pitchFamily="34" charset="0"/>
                <a:ea typeface="Inter" pitchFamily="34" charset="-122"/>
                <a:cs typeface="Inter" pitchFamily="34" charset="-120"/>
              </a:rPr>
              <a:t>Strategic Recommendation:</a:t>
            </a:r>
            <a:pPr algn="l" indent="0" marL="0">
              <a:lnSpc>
                <a:spcPts val="2000"/>
              </a:lnSpc>
              <a:buNone/>
            </a:pPr>
            <a:r>
              <a:rPr lang="en-US" sz="1400" dirty="0">
                <a:solidFill>
                  <a:srgbClr val="000000"/>
                </a:solidFill>
                <a:latin typeface="Inter" pitchFamily="34" charset="0"/>
                <a:ea typeface="Inter" pitchFamily="34" charset="-122"/>
                <a:cs typeface="Inter" pitchFamily="34" charset="-120"/>
              </a:rPr>
              <a:t> Approve the Agentic AI Voice Bot initiative to modernize helpdesk operations, reduce costs, and significantly improve partner experience — with measurable ROI within the first year.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2026-04-22T08:39:41Z</dcterms:created>
  <dcterms:modified xsi:type="dcterms:W3CDTF">2026-04-22T08:39:41Z</dcterms:modified>
</cp:coreProperties>
</file>